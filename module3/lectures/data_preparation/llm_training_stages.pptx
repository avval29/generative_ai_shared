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c0c47dd-a844-1693-94c8-77d00dd50395}">
          <p14:sldIdLst>
            <p14:sldId id="256"/>
            <p14:sldId id="257"/>
          </p14:sldIdLst>
        </p14:section>
        <p14:section name="Training stages" id="{b4cde54e-8817-3022-d98f-ff20cf534bfa}">
          <p14:sldIdLst>
            <p14:sldId id="258"/>
            <p14:sldId id="259"/>
            <p14:sldId id="260"/>
          </p14:sldIdLst>
        </p14:section>
        <p14:section name="Chat templates" id="{94f68382-90e8-bf2d-93e0-d14ff573ae81}">
          <p14:sldIdLst>
            <p14:sldId id="261"/>
            <p14:sldId id="262"/>
            <p14:sldId id="263"/>
          </p14:sldIdLst>
        </p14:section>
        <p14:section name="Wrap-up" id="{e19e9e8f-f417-9a30-1a43-a2c9acec937a}">
          <p14:sldIdLst>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precursor (about 15 minutes) to the data-preparation lecture, taught immediately before it. There is no notebook and nothing to run: everything comes from the companion notes. Suggested pacing: stages, instruction tuning vs task fine-tuning and Qwen2.5's data 6 min (three slides), chat templates, where the template lives and training/inference match 6 min (three slides; the template-string slide can be shortened to its table), summary and questions 3 min. The example ticket ('my biryani arrived cold') and the base/instruct continuations are illustrative, not recorded model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data-preparation lecture that follows prepares data for stage 4, task fine-tuning, of a model that has already been through stages 1 to 3. Its formatting step uses the chat template introduced here. Prerequisites: next-token prediction and cross-entropy (Module 2); labels and -100 from the GPT-2 fine-tuning lecture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§1. The chat models we fine-tune have already been through several rounds of training. Stage 1, pretraining: next-token prediction on trillions of tokens of raw text gives a base model such as Qwen2.5-0.5B. Stage 2, instruction tuning (supervised fine-tuning, SFT): many (instruction, response) pairs across many tasks, written in the chat template; for Qwen2.5, over 1 million examples (next slides). Stage 3 is optional: RLHF (reinforcement learning from human feedback: a reward model trained on human rankings, then reinforcement learning against it; Ouyang et al., 2022) or DPO (direct preference optimization: learns from the same ranked pairs without a separate reward model or RL loop; Rafailov et al., 2023). Stage 4 is what the next lecture prepares data for. Stages 1 to 3 are usually done by the model's developer; what you download is their result. Qwen2.5-0.5B-Instruct is the result of stages 2 and 3: supervised fine-tuning, then DPO (about 150,000 pairs), then online RL with GRPO against a reward model (Qwen2.5 technical report, Qwen Team 2024). The report describes post-training for the Qwen2.5 series and does not break it down by model size. Ask the class: which stage taught Qwen what &lt;|im_start|&gt; and &lt;|im_end|&gt; mean? (Stage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§2–3. Left: what instruction tuning changes. A base model only continues text, so it may read the prompt as the start of a document (a list of exercises) and write another instruction. After instruction tuning on many request-answer-end-of-turn examples, it answers and stops. Both continuations are illustrative of typical behaviour, not recorded outputs. The key ingredient is variety: FLAN instruction-tuned a 137B-parameter model on more than 60 tasks phrased as instructions, and it became much better at task types it had not been trained on (Wei et al., 2021). Right: both are fine-tuning, training an already-trained model further; they differ in purpose and data. Catastrophic forgetting: a narrowly fine-tuned model can get worse at things outside its task. Bottom line: the training code is the same, so the data decides what the model becomes, which is why data preparation gets a whole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§2, 'What the data looks like: Qwen2.5'. Qwen has not released its instruction-tuning data; the numbers and areas come from the Qwen2.5 technical report (Qwen Team, 2024). Over 1 million SFT examples, two epochs, sequence length 32,768. Much of the data was generated or filtered by other models: code answers were kept only if they passed unit tests in a sandbox, instruction-following data came with verification code, and a final filter kept only responses that every scoring model rated flawless. This is FLAN's variety at a much larger scale. The conversation below is an illustration of one coding example, not a record from Qwen's data. Every example is stored as a conversation and rendered in the chat template; the tokens are explained on the next slides. The system message sets the behaviour, the user message is the instruction, the assistant message is the response. Only the response and its end-of-turn token are trained on; system and user get the label -100. Ask the class: why would Qwen want hundreds of different system prompts in this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§4. A language model reads one flat sequence of tokens, but a conversation has structure. A chat template is the rule that flattens a list of messages, marking where each message starts, who is speaking, and where it ends. Qwen2.5 uses ChatML. The special tokens are single tokens in Qwen's vocabulary, and Qwen's instruction tuning (stage 2) taught the model to treat them as turn boundaries. Other model families use other templates and other special tokens: the idea is the same, the exact text is not. The ticket is illustrative. Ask the class: where does the model's reply start, and how does it know when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§4, 'Where the template lives' and 'The template string'. ChatML is not part of the Hugging Face library: Qwen ships it with the model. The special tokens are in the tokenizer's vocabulary (IDs 151644 and 151645), and the rule that writes messages as ChatML is a short Jinja program stored as chat_template in tokenizer_config.json. apply_chat_template in transformers is generic: it runs whatever template the tokenizer carries, so the same call on a Llama 3 tokenizer gives Llama 3's format. Qwen's generation_config.json lists &lt;|im_end|&gt; (151645) as an end-of-sequence token, which is why generation stops there. Reading the template: {% %} is a statement, {{ }} writes text, and the dash strips whitespace so the indentation does not reach the output. Part 1 always writes a system message, inserting Qwen's default 'You are Qwen, created by Alibaba Cloud. You are a helpful assistant.' when none is given: this is the default system message from the next slide. Part 2 writes each turn; the real loop also skips a leading system message (already written) and has branches for tool calls, omitted on the slide. Part 3 is what add_generation_prompt=True adds. The slide's excerpt is shortened; the notes give the verbatim lines, taken from Qwen/Qwen2.5-0.5B-Instruct at Hub revision 7ae5576 (fetched 2026-10-31). Rendered with Jinja2, the template gives exactly the ChatML text of the previous slide. Students can print the full template with print(tok.chat_template). Ask the class: if you call apply_chat_template on a different model's tokenizer, what changes and what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§5. At inference the application renders the conversation only up to the assistant's turn (add_generation_prompt=True adds the &lt;|im_start|&gt;assistant line). The model continues the text: it writes a reply and emits &lt;|im_end|&gt;, and generation stops. It does this because training showed it the pattern many times. If you fine-tune in a home-made format such as 'Customer: … Agent: …', the model learns a pattern it never sees when deployed, which also works against its instruction tuning, and it never learns to end a reply with &lt;|im_end|&gt;, so it may keep writing, for example by inventing the customer's next message. Use the tokenizer's own template: small details (newlines, the end-of-turn token, Qwen2.5's default system message when none is given) are easy to get wrong by hand. Loss masking: the template decides what the model sees, the labels decide what it is graded on. The data-preparation lecture (§5) builds such examples, and the QLoRA lab (Exercise 2) does it with apply_chat_template.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§6. Misconception 1: instruction tuning and task fine-tuning use the same loss, the same -100 masking and the same end-of-turn label; only the data differs. Misconception 2: the model was instruction-tuned in its own template, so a home-made format works against it and breaks stopping. Misconception 3: an Instruct model can already follow instructions; task fine-tuning narrows it to one job and can cost general skills (catastrophic forgetting), so compare against the base model under the same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1–6 of the notes, §7. Answers. (1) Instruction tuning (stage 2) is missing. A base model only continues text: it reads the prompt as the start of a document, such as a list of exercises, and continues the pattern. (2) The data: broad, varied instructions versus many examples of one narrow task; also the starting point (base model versus an instruction-tuned model). (3) Variety teaches the general skill of following an instruction, which transfers to task types not seen in training (FLAN); many examples of one task teach mainly that task. (4) The fine-tuned behaviour is tied to a format the model never sees at inference, and it works against the ChatML format of the model's instruction tuning; and the model never learned to emit &lt;|im_end|&gt; after an 'Agent:' reply, so it may not stop, writing a 'Customer:' line or more. It may also prefix replies with 'Agent:'. (5) The model must produce &lt;|im_end|&gt; itself to stop, so it has to be trained on it; the &lt;|im_start|&gt;assistant line is supplied by the application at inference (add_generation_prompt=True), so the model never has to predict it. (6) Catastrophic forgetting. It partly undid the general instruction-following of instruction tuning (stage 2), and possibly general skills from pretraining.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data-preparation lecture, which prepares data for stage 4 and formats it with the chat template (its §5). arXiv entries checked on arXiv on 2026-10-31; the venues are from the published proceedings. The Hugging Face chat-templates guide shows apply_chat_template, add_generation_prompt and the training-time use of templates. The Qwen2.5 technical report (arXiv preprint, v1 19 Dec 2024; post-training section read in v2) is the source of the SFT and preference-tuning description. The last Qwen entry is the model repository whose chat template and token IDs appear on the template slide (Hub revision 7ae5576, fetched 2026-10-31).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rtlCol="0"/>
          <a:lstStyle>
            <a:lvl1pPr indent="0" marL="0">
              <a:buNone/>
              <a:defRPr lang="en-US" sz="2400" dirty="0">
                <a:solidFill>
                  <a:schemeClr val="accent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LLM training stages · Generative AI, Module 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7160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rPr>
              <a:t>LLM training stages and chat templates</a:t>
            </a:r>
            <a:endParaRPr lang="en-US" sz="4400" dirty="0"/>
          </a:p>
        </p:txBody>
      </p:sp>
      <p:sp>
        <p:nvSpPr>
          <p:cNvPr id="3" name="Text 0"/>
          <p:cNvSpPr/>
          <p:nvPr>
            <p:ph idx="101" type="body" hasCustomPrompt="1"/>
          </p:nvPr>
        </p:nvSpPr>
        <p:spPr>
          <a:xfrm>
            <a:off x="731520" y="3246120"/>
            <a:ext cx="10698480" cy="731520"/>
          </a:xfrm>
          <a:prstGeom prst="rect">
            <a:avLst/>
          </a:prstGeom>
          <a:noFill/>
          <a:ln/>
        </p:spPr>
        <p:txBody>
          <a:bodyPr wrap="square" lIns="0" tIns="0" rIns="0" bIns="0" rtlCol="0" anchor="t"/>
          <a:lstStyle/>
          <a:p>
            <a:pPr indent="0" marL="0">
              <a:buNone/>
            </a:pPr>
            <a:r>
              <a:rPr lang="en-US" sz="2400" dirty="0">
                <a:solidFill>
                  <a:schemeClr val="accent2"/>
                </a:solidFill>
              </a:rPr>
              <a:t>What a chat model learned before you fine-tune it, and the format it learned in</a:t>
            </a:r>
            <a:endParaRPr lang="en-US" sz="2400" dirty="0"/>
          </a:p>
        </p:txBody>
      </p:sp>
      <p:sp>
        <p:nvSpPr>
          <p:cNvPr id="4" name="Text 2"/>
          <p:cNvSpPr txBox="1"/>
          <p:nvPr/>
        </p:nvSpPr>
        <p:spPr>
          <a:xfrm>
            <a:off x="731520" y="5120640"/>
            <a:ext cx="10698480" cy="365760"/>
          </a:xfrm>
          <a:prstGeom prst="rect">
            <a:avLst/>
          </a:prstGeom>
          <a:noFill/>
          <a:ln/>
        </p:spPr>
        <p:txBody>
          <a:bodyPr wrap="square" lIns="0" tIns="0" rIns="0" bIns="0" rtlCol="0" anchor="t"/>
          <a:lstStyle/>
          <a:p>
            <a:pPr indent="0" marL="0">
              <a:buNone/>
            </a:pPr>
            <a:r>
              <a:rPr lang="en-US" sz="1600" dirty="0">
                <a:solidFill>
                  <a:schemeClr val="bg1"/>
                </a:solidFill>
              </a:rPr>
              <a:t>Generative AI (ABAI3009L) · Module 3: Training and Fine-tuning LLMs</a:t>
            </a:r>
            <a:endParaRPr lang="en-US" sz="1600" dirty="0"/>
          </a:p>
        </p:txBody>
      </p:sp>
      <p:sp>
        <p:nvSpPr>
          <p:cNvPr id="5" name="Text 3"/>
          <p:cNvSpPr txBox="1"/>
          <p:nvPr/>
        </p:nvSpPr>
        <p:spPr>
          <a:xfrm>
            <a:off x="731520" y="5532120"/>
            <a:ext cx="10698480" cy="365760"/>
          </a:xfrm>
          <a:prstGeom prst="rect">
            <a:avLst/>
          </a:prstGeom>
          <a:noFill/>
          <a:ln/>
        </p:spPr>
        <p:txBody>
          <a:bodyPr wrap="square" lIns="0" tIns="0" rIns="0" bIns="0" rtlCol="0" anchor="t"/>
          <a:lstStyle/>
          <a:p>
            <a:pPr indent="0" marL="0">
              <a:buNone/>
            </a:pPr>
            <a:r>
              <a:rPr lang="en-US" sz="1400" dirty="0">
                <a:solidFill>
                  <a:srgbClr val="C9CFDA"/>
                </a:solidFill>
              </a:rPr>
              <a:t>Companion notes: module3/lectures/data_preparation/llm_training_stages.md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you will learn</a:t>
            </a:r>
            <a:endParaRPr lang="en-US" sz="3200" dirty="0"/>
          </a:p>
        </p:txBody>
      </p:sp>
      <p:sp>
        <p:nvSpPr>
          <p:cNvPr id="4" name="objective 1"/>
          <p:cNvSpPr/>
          <p:nvPr/>
        </p:nvSpPr>
        <p:spPr>
          <a:xfrm>
            <a:off x="548640" y="1325880"/>
            <a:ext cx="3474720" cy="2468880"/>
          </a:xfrm>
          <a:prstGeom prst="roundRect">
            <a:avLst>
              <a:gd name="adj" fmla="val 4444"/>
            </a:avLst>
          </a:prstGeom>
          <a:solidFill>
            <a:schemeClr val="bg2"/>
          </a:solidFill>
          <a:ln w="12700">
            <a:solidFill>
              <a:schemeClr val="bg2"/>
            </a:solidFill>
            <a:prstDash val="solid"/>
          </a:ln>
        </p:spPr>
      </p:sp>
      <p:sp>
        <p:nvSpPr>
          <p:cNvPr id="5" name="Shape 2"/>
          <p:cNvSpPr/>
          <p:nvPr/>
        </p:nvSpPr>
        <p:spPr>
          <a:xfrm>
            <a:off x="822960" y="1600200"/>
            <a:ext cx="548640" cy="548640"/>
          </a:xfrm>
          <a:prstGeom prst="ellipse">
            <a:avLst/>
          </a:prstGeom>
          <a:solidFill>
            <a:schemeClr val="accent1"/>
          </a:solidFill>
          <a:ln w="12700">
            <a:solidFill>
              <a:schemeClr val="accent1"/>
            </a:solidFill>
            <a:prstDash val="solid"/>
          </a:ln>
        </p:spPr>
      </p:sp>
      <p:sp>
        <p:nvSpPr>
          <p:cNvPr id="6" name="Text 3"/>
          <p:cNvSpPr txBox="1"/>
          <p:nvPr/>
        </p:nvSpPr>
        <p:spPr>
          <a:xfrm>
            <a:off x="822960"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508760" y="1508760"/>
            <a:ext cx="2331720" cy="731520"/>
          </a:xfrm>
          <a:prstGeom prst="rect">
            <a:avLst/>
          </a:prstGeom>
          <a:noFill/>
          <a:ln/>
        </p:spPr>
        <p:txBody>
          <a:bodyPr wrap="square" lIns="0" tIns="0" rIns="0" bIns="0" rtlCol="0" anchor="ctr"/>
          <a:lstStyle/>
          <a:p>
            <a:pPr indent="0" marL="0">
              <a:buNone/>
            </a:pPr>
            <a:r>
              <a:rPr lang="en-US" sz="1800" b="1" dirty="0">
                <a:solidFill>
                  <a:schemeClr val="tx1"/>
                </a:solidFill>
              </a:rPr>
              <a:t>Four stages of training</a:t>
            </a:r>
            <a:endParaRPr lang="en-US" sz="1800" dirty="0"/>
          </a:p>
        </p:txBody>
      </p:sp>
      <p:sp>
        <p:nvSpPr>
          <p:cNvPr id="8" name="Text 5"/>
          <p:cNvSpPr txBox="1"/>
          <p:nvPr/>
        </p:nvSpPr>
        <p:spPr>
          <a:xfrm>
            <a:off x="822960" y="2423160"/>
            <a:ext cx="2971800" cy="1234440"/>
          </a:xfrm>
          <a:prstGeom prst="rect">
            <a:avLst/>
          </a:prstGeom>
          <a:noFill/>
          <a:ln/>
        </p:spPr>
        <p:txBody>
          <a:bodyPr wrap="square" lIns="0" tIns="0" rIns="0" bIns="0" rtlCol="0" anchor="t"/>
          <a:lstStyle/>
          <a:p>
            <a:pPr indent="0" marL="0">
              <a:buNone/>
            </a:pPr>
            <a:r>
              <a:rPr lang="en-US" sz="1600" dirty="0">
                <a:solidFill>
                  <a:schemeClr val="tx2"/>
                </a:solidFill>
              </a:rPr>
              <a:t>Pretraining, instruction tuning, preference tuning, task fine-tuning, and which one you do</a:t>
            </a:r>
            <a:endParaRPr lang="en-US" sz="1600" dirty="0"/>
          </a:p>
        </p:txBody>
      </p:sp>
      <p:sp>
        <p:nvSpPr>
          <p:cNvPr id="9" name="objective 2"/>
          <p:cNvSpPr/>
          <p:nvPr/>
        </p:nvSpPr>
        <p:spPr>
          <a:xfrm>
            <a:off x="4297680" y="1325880"/>
            <a:ext cx="3474720" cy="2468880"/>
          </a:xfrm>
          <a:prstGeom prst="roundRect">
            <a:avLst>
              <a:gd name="adj" fmla="val 4444"/>
            </a:avLst>
          </a:prstGeom>
          <a:solidFill>
            <a:schemeClr val="bg2"/>
          </a:solidFill>
          <a:ln w="12700">
            <a:solidFill>
              <a:schemeClr val="bg2"/>
            </a:solidFill>
            <a:prstDash val="solid"/>
          </a:ln>
        </p:spPr>
      </p:sp>
      <p:sp>
        <p:nvSpPr>
          <p:cNvPr id="10" name="Shape 7"/>
          <p:cNvSpPr/>
          <p:nvPr/>
        </p:nvSpPr>
        <p:spPr>
          <a:xfrm>
            <a:off x="4572000" y="1600200"/>
            <a:ext cx="548640" cy="548640"/>
          </a:xfrm>
          <a:prstGeom prst="ellipse">
            <a:avLst/>
          </a:prstGeom>
          <a:solidFill>
            <a:schemeClr val="accent4"/>
          </a:solidFill>
          <a:ln w="12700">
            <a:solidFill>
              <a:schemeClr val="accent4"/>
            </a:solidFill>
            <a:prstDash val="solid"/>
          </a:ln>
        </p:spPr>
      </p:sp>
      <p:sp>
        <p:nvSpPr>
          <p:cNvPr id="11" name="Text 8"/>
          <p:cNvSpPr txBox="1"/>
          <p:nvPr/>
        </p:nvSpPr>
        <p:spPr>
          <a:xfrm>
            <a:off x="4572000"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5257800" y="1508760"/>
            <a:ext cx="2331720" cy="731520"/>
          </a:xfrm>
          <a:prstGeom prst="rect">
            <a:avLst/>
          </a:prstGeom>
          <a:noFill/>
          <a:ln/>
        </p:spPr>
        <p:txBody>
          <a:bodyPr wrap="square" lIns="0" tIns="0" rIns="0" bIns="0" rtlCol="0" anchor="ctr"/>
          <a:lstStyle/>
          <a:p>
            <a:pPr indent="0" marL="0">
              <a:buNone/>
            </a:pPr>
            <a:r>
              <a:rPr lang="en-US" sz="1800" b="1" dirty="0">
                <a:solidFill>
                  <a:schemeClr val="tx1"/>
                </a:solidFill>
              </a:rPr>
              <a:t>Instruction tuning vs task fine-tuning</a:t>
            </a:r>
            <a:endParaRPr lang="en-US" sz="1800" dirty="0"/>
          </a:p>
        </p:txBody>
      </p:sp>
      <p:sp>
        <p:nvSpPr>
          <p:cNvPr id="13" name="Text 10"/>
          <p:cNvSpPr txBox="1"/>
          <p:nvPr/>
        </p:nvSpPr>
        <p:spPr>
          <a:xfrm>
            <a:off x="4572000" y="2423160"/>
            <a:ext cx="2971800" cy="1234440"/>
          </a:xfrm>
          <a:prstGeom prst="rect">
            <a:avLst/>
          </a:prstGeom>
          <a:noFill/>
          <a:ln/>
        </p:spPr>
        <p:txBody>
          <a:bodyPr wrap="square" lIns="0" tIns="0" rIns="0" bIns="0" rtlCol="0" anchor="t"/>
          <a:lstStyle/>
          <a:p>
            <a:pPr indent="0" marL="0">
              <a:buNone/>
            </a:pPr>
            <a:r>
              <a:rPr lang="en-US" sz="1600" dirty="0">
                <a:solidFill>
                  <a:schemeClr val="tx2"/>
                </a:solidFill>
              </a:rPr>
              <a:t>Same loss and masking; different purpose, data and starting point</a:t>
            </a:r>
            <a:endParaRPr lang="en-US" sz="1600" dirty="0"/>
          </a:p>
        </p:txBody>
      </p:sp>
      <p:sp>
        <p:nvSpPr>
          <p:cNvPr id="14" name="objective 3"/>
          <p:cNvSpPr/>
          <p:nvPr/>
        </p:nvSpPr>
        <p:spPr>
          <a:xfrm>
            <a:off x="8046720" y="1325880"/>
            <a:ext cx="3474720" cy="2468880"/>
          </a:xfrm>
          <a:prstGeom prst="roundRect">
            <a:avLst>
              <a:gd name="adj" fmla="val 4444"/>
            </a:avLst>
          </a:prstGeom>
          <a:solidFill>
            <a:schemeClr val="bg2"/>
          </a:solidFill>
          <a:ln w="12700">
            <a:solidFill>
              <a:schemeClr val="bg2"/>
            </a:solidFill>
            <a:prstDash val="solid"/>
          </a:ln>
        </p:spPr>
      </p:sp>
      <p:sp>
        <p:nvSpPr>
          <p:cNvPr id="15" name="Shape 12"/>
          <p:cNvSpPr/>
          <p:nvPr/>
        </p:nvSpPr>
        <p:spPr>
          <a:xfrm>
            <a:off x="8321040" y="1600200"/>
            <a:ext cx="548640" cy="548640"/>
          </a:xfrm>
          <a:prstGeom prst="ellipse">
            <a:avLst/>
          </a:prstGeom>
          <a:solidFill>
            <a:schemeClr val="accent1"/>
          </a:solidFill>
          <a:ln w="12700">
            <a:solidFill>
              <a:schemeClr val="accent1"/>
            </a:solidFill>
            <a:prstDash val="solid"/>
          </a:ln>
        </p:spPr>
      </p:sp>
      <p:sp>
        <p:nvSpPr>
          <p:cNvPr id="16" name="Text 13"/>
          <p:cNvSpPr txBox="1"/>
          <p:nvPr/>
        </p:nvSpPr>
        <p:spPr>
          <a:xfrm>
            <a:off x="8321040" y="16002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7" name="Text 14"/>
          <p:cNvSpPr txBox="1"/>
          <p:nvPr/>
        </p:nvSpPr>
        <p:spPr>
          <a:xfrm>
            <a:off x="9006840" y="1508760"/>
            <a:ext cx="2331720" cy="731520"/>
          </a:xfrm>
          <a:prstGeom prst="rect">
            <a:avLst/>
          </a:prstGeom>
          <a:noFill/>
          <a:ln/>
        </p:spPr>
        <p:txBody>
          <a:bodyPr wrap="square" lIns="0" tIns="0" rIns="0" bIns="0" rtlCol="0" anchor="ctr"/>
          <a:lstStyle/>
          <a:p>
            <a:pPr indent="0" marL="0">
              <a:buNone/>
            </a:pPr>
            <a:r>
              <a:rPr lang="en-US" sz="1800" b="1" dirty="0">
                <a:solidFill>
                  <a:schemeClr val="tx1"/>
                </a:solidFill>
              </a:rPr>
              <a:t>Chat templates</a:t>
            </a:r>
            <a:endParaRPr lang="en-US" sz="1800" dirty="0"/>
          </a:p>
        </p:txBody>
      </p:sp>
      <p:sp>
        <p:nvSpPr>
          <p:cNvPr id="18" name="Text 15"/>
          <p:cNvSpPr txBox="1"/>
          <p:nvPr/>
        </p:nvSpPr>
        <p:spPr>
          <a:xfrm>
            <a:off x="8321040" y="2423160"/>
            <a:ext cx="2971800" cy="1234440"/>
          </a:xfrm>
          <a:prstGeom prst="rect">
            <a:avLst/>
          </a:prstGeom>
          <a:noFill/>
          <a:ln/>
        </p:spPr>
        <p:txBody>
          <a:bodyPr wrap="square" lIns="0" tIns="0" rIns="0" bIns="0" rtlCol="0" anchor="t"/>
          <a:lstStyle/>
          <a:p>
            <a:pPr indent="0" marL="0">
              <a:buNone/>
            </a:pPr>
            <a:r>
              <a:rPr lang="en-US" sz="1600" dirty="0">
                <a:solidFill>
                  <a:schemeClr val="tx2"/>
                </a:solidFill>
              </a:rPr>
              <a:t>How a conversation becomes one token sequence, and why training must match inference</a:t>
            </a:r>
            <a:endParaRPr lang="en-US" sz="1600" dirty="0"/>
          </a:p>
        </p:txBody>
      </p:sp>
      <p:sp>
        <p:nvSpPr>
          <p:cNvPr id="19" name="why now"/>
          <p:cNvSpPr/>
          <p:nvPr/>
        </p:nvSpPr>
        <p:spPr>
          <a:xfrm>
            <a:off x="548640" y="4069080"/>
            <a:ext cx="11064240" cy="822960"/>
          </a:xfrm>
          <a:prstGeom prst="roundRect">
            <a:avLst>
              <a:gd name="adj" fmla="val 13333"/>
            </a:avLst>
          </a:prstGeom>
          <a:solidFill>
            <a:schemeClr val="accent5"/>
          </a:solidFill>
          <a:ln w="12700">
            <a:solidFill>
              <a:schemeClr val="accent5"/>
            </a:solidFill>
            <a:prstDash val="solid"/>
          </a:ln>
        </p:spPr>
      </p:sp>
      <p:sp>
        <p:nvSpPr>
          <p:cNvPr id="20" name="Text 17"/>
          <p:cNvSpPr txBox="1"/>
          <p:nvPr/>
        </p:nvSpPr>
        <p:spPr>
          <a:xfrm>
            <a:off x="777240" y="4069080"/>
            <a:ext cx="10607040" cy="822960"/>
          </a:xfrm>
          <a:prstGeom prst="rect">
            <a:avLst/>
          </a:prstGeom>
          <a:noFill/>
          <a:ln/>
        </p:spPr>
        <p:txBody>
          <a:bodyPr wrap="square" lIns="0" tIns="0" rIns="0" bIns="0" rtlCol="0" anchor="ctr"/>
          <a:lstStyle/>
          <a:p>
            <a:pPr indent="0" marL="0">
              <a:buNone/>
            </a:pPr>
            <a:r>
              <a:rPr lang="en-US" sz="1600" b="1" dirty="0">
                <a:solidFill>
                  <a:schemeClr val="tx1"/>
                </a:solidFill>
              </a:rPr>
              <a:t>Why now: </a:t>
            </a:r>
            <a:r>
              <a:rPr lang="en-US" sz="1600" dirty="0">
                <a:solidFill>
                  <a:schemeClr val="tx1"/>
                </a:solidFill>
              </a:rPr>
              <a:t>the next lecture prepares data for fine-tuning a chat model. That data must fit what the model already learned, in the format it learned it.</a:t>
            </a:r>
            <a:endParaRPr lang="en-US" sz="1600" dirty="0"/>
          </a:p>
        </p:txBody>
      </p:sp>
      <p:sp>
        <p:nvSpPr>
          <p:cNvPr id="21" name="Text 18"/>
          <p:cNvSpPr txBox="1"/>
          <p:nvPr/>
        </p:nvSpPr>
        <p:spPr>
          <a:xfrm>
            <a:off x="548640" y="5166360"/>
            <a:ext cx="11064240" cy="548640"/>
          </a:xfrm>
          <a:prstGeom prst="rect">
            <a:avLst/>
          </a:prstGeom>
          <a:noFill/>
          <a:ln/>
        </p:spPr>
        <p:txBody>
          <a:bodyPr wrap="square" lIns="0" tIns="0" rIns="0" bIns="0" rtlCol="0" anchor="t"/>
          <a:lstStyle/>
          <a:p>
            <a:pPr indent="0" marL="0">
              <a:buNone/>
            </a:pPr>
            <a:r>
              <a:rPr lang="en-US" sz="1500" b="1" dirty="0">
                <a:solidFill>
                  <a:schemeClr val="tx2"/>
                </a:solidFill>
              </a:rPr>
              <a:t>Prerequisites: </a:t>
            </a:r>
            <a:r>
              <a:rPr lang="en-US" sz="1500" dirty="0">
                <a:solidFill>
                  <a:schemeClr val="tx2"/>
                </a:solidFill>
              </a:rPr>
              <a:t>next-token prediction and the cross-entropy loss (Module 2); labels and </a:t>
            </a:r>
            <a:r>
              <a:rPr lang="en-US" sz="1500" dirty="0">
                <a:solidFill>
                  <a:schemeClr val="tx2"/>
                </a:solidFill>
                <a:latin typeface="Courier New" pitchFamily="34" charset="0"/>
                <a:ea typeface="Courier New" pitchFamily="34" charset="-122"/>
                <a:cs typeface="Courier New" pitchFamily="34" charset="-120"/>
              </a:rPr>
              <a:t>-100</a:t>
            </a:r>
            <a:r>
              <a:rPr lang="en-US" sz="1500" dirty="0">
                <a:solidFill>
                  <a:schemeClr val="tx2"/>
                </a:solidFill>
              </a:rPr>
              <a:t> from the GPT-2 fine-tuning lecture (Section 3).</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Where fine-tuning fits: four stages of training</a:t>
            </a:r>
            <a:endParaRPr lang="en-US" sz="3200" dirty="0"/>
          </a:p>
        </p:txBody>
      </p:sp>
      <p:sp>
        <p:nvSpPr>
          <p:cNvPr id="4" name="Shape 1"/>
          <p:cNvSpPr/>
          <p:nvPr/>
        </p:nvSpPr>
        <p:spPr>
          <a:xfrm>
            <a:off x="548640" y="1234440"/>
            <a:ext cx="2697480" cy="640080"/>
          </a:xfrm>
          <a:prstGeom prst="homePlate">
            <a:avLst/>
          </a:prstGeom>
          <a:solidFill>
            <a:schemeClr val="tx1"/>
          </a:solidFill>
          <a:ln w="12700">
            <a:solidFill>
              <a:schemeClr val="tx1"/>
            </a:solidFill>
            <a:prstDash val="solid"/>
          </a:ln>
        </p:spPr>
      </p:sp>
      <p:sp>
        <p:nvSpPr>
          <p:cNvPr id="5" name="Text 2"/>
          <p:cNvSpPr txBox="1"/>
          <p:nvPr/>
        </p:nvSpPr>
        <p:spPr>
          <a:xfrm>
            <a:off x="777240" y="1234440"/>
            <a:ext cx="2286000" cy="640080"/>
          </a:xfrm>
          <a:prstGeom prst="rect">
            <a:avLst/>
          </a:prstGeom>
          <a:noFill/>
          <a:ln/>
        </p:spPr>
        <p:txBody>
          <a:bodyPr wrap="square" lIns="0" tIns="0" rIns="0" bIns="0" rtlCol="0" anchor="ctr"/>
          <a:lstStyle/>
          <a:p>
            <a:pPr algn="ctr" indent="0" marL="0">
              <a:buNone/>
            </a:pPr>
            <a:r>
              <a:rPr lang="en-US" sz="1600" b="1" dirty="0">
                <a:solidFill>
                  <a:schemeClr val="bg1"/>
                </a:solidFill>
              </a:rPr>
              <a:t>Pretraining</a:t>
            </a:r>
            <a:endParaRPr lang="en-US" sz="1600" dirty="0"/>
          </a:p>
        </p:txBody>
      </p:sp>
      <p:sp>
        <p:nvSpPr>
          <p:cNvPr id="6" name="Shape 3"/>
          <p:cNvSpPr/>
          <p:nvPr/>
        </p:nvSpPr>
        <p:spPr>
          <a:xfrm>
            <a:off x="3319272" y="1234440"/>
            <a:ext cx="2697480" cy="640080"/>
          </a:xfrm>
          <a:prstGeom prst="chevron">
            <a:avLst/>
          </a:prstGeom>
          <a:solidFill>
            <a:schemeClr val="tx1"/>
          </a:solidFill>
          <a:ln w="12700">
            <a:solidFill>
              <a:schemeClr val="tx1"/>
            </a:solidFill>
            <a:prstDash val="solid"/>
          </a:ln>
        </p:spPr>
      </p:sp>
      <p:sp>
        <p:nvSpPr>
          <p:cNvPr id="7" name="Text 4"/>
          <p:cNvSpPr txBox="1"/>
          <p:nvPr/>
        </p:nvSpPr>
        <p:spPr>
          <a:xfrm>
            <a:off x="3547872" y="1234440"/>
            <a:ext cx="2286000" cy="640080"/>
          </a:xfrm>
          <a:prstGeom prst="rect">
            <a:avLst/>
          </a:prstGeom>
          <a:noFill/>
          <a:ln/>
        </p:spPr>
        <p:txBody>
          <a:bodyPr wrap="square" lIns="0" tIns="0" rIns="0" bIns="0" rtlCol="0" anchor="ctr"/>
          <a:lstStyle/>
          <a:p>
            <a:pPr algn="ctr" indent="0" marL="0">
              <a:buNone/>
            </a:pPr>
            <a:r>
              <a:rPr lang="en-US" sz="1600" b="1" dirty="0">
                <a:solidFill>
                  <a:schemeClr val="bg1"/>
                </a:solidFill>
              </a:rPr>
              <a:t>Instruction tuning</a:t>
            </a:r>
            <a:endParaRPr lang="en-US" sz="1600" dirty="0"/>
          </a:p>
        </p:txBody>
      </p:sp>
      <p:sp>
        <p:nvSpPr>
          <p:cNvPr id="8" name="Shape 5"/>
          <p:cNvSpPr/>
          <p:nvPr/>
        </p:nvSpPr>
        <p:spPr>
          <a:xfrm>
            <a:off x="6089904" y="1234440"/>
            <a:ext cx="2697480" cy="640080"/>
          </a:xfrm>
          <a:prstGeom prst="chevron">
            <a:avLst/>
          </a:prstGeom>
          <a:solidFill>
            <a:schemeClr val="tx1"/>
          </a:solidFill>
          <a:ln w="12700">
            <a:solidFill>
              <a:schemeClr val="tx1"/>
            </a:solidFill>
            <a:prstDash val="solid"/>
          </a:ln>
        </p:spPr>
      </p:sp>
      <p:sp>
        <p:nvSpPr>
          <p:cNvPr id="9" name="Text 6"/>
          <p:cNvSpPr txBox="1"/>
          <p:nvPr/>
        </p:nvSpPr>
        <p:spPr>
          <a:xfrm>
            <a:off x="6318504" y="1234440"/>
            <a:ext cx="2286000" cy="640080"/>
          </a:xfrm>
          <a:prstGeom prst="rect">
            <a:avLst/>
          </a:prstGeom>
          <a:noFill/>
          <a:ln/>
        </p:spPr>
        <p:txBody>
          <a:bodyPr wrap="square" lIns="0" tIns="0" rIns="0" bIns="0" rtlCol="0" anchor="ctr"/>
          <a:lstStyle/>
          <a:p>
            <a:pPr algn="ctr" indent="0" marL="0">
              <a:buNone/>
            </a:pPr>
            <a:r>
              <a:rPr lang="en-US" sz="1600" b="1" dirty="0">
                <a:solidFill>
                  <a:schemeClr val="bg1"/>
                </a:solidFill>
              </a:rPr>
              <a:t>Preference tuning</a:t>
            </a:r>
            <a:endParaRPr lang="en-US" sz="1600" dirty="0"/>
          </a:p>
        </p:txBody>
      </p:sp>
      <p:sp>
        <p:nvSpPr>
          <p:cNvPr id="10" name="Shape 7"/>
          <p:cNvSpPr/>
          <p:nvPr/>
        </p:nvSpPr>
        <p:spPr>
          <a:xfrm>
            <a:off x="8860536" y="1234440"/>
            <a:ext cx="2697480" cy="640080"/>
          </a:xfrm>
          <a:prstGeom prst="chevron">
            <a:avLst/>
          </a:prstGeom>
          <a:solidFill>
            <a:schemeClr val="accent4"/>
          </a:solidFill>
          <a:ln w="12700">
            <a:solidFill>
              <a:schemeClr val="accent4"/>
            </a:solidFill>
            <a:prstDash val="solid"/>
          </a:ln>
        </p:spPr>
      </p:sp>
      <p:sp>
        <p:nvSpPr>
          <p:cNvPr id="11" name="Text 8"/>
          <p:cNvSpPr txBox="1"/>
          <p:nvPr/>
        </p:nvSpPr>
        <p:spPr>
          <a:xfrm>
            <a:off x="9089136" y="1234440"/>
            <a:ext cx="2286000" cy="640080"/>
          </a:xfrm>
          <a:prstGeom prst="rect">
            <a:avLst/>
          </a:prstGeom>
          <a:noFill/>
          <a:ln/>
        </p:spPr>
        <p:txBody>
          <a:bodyPr wrap="square" lIns="0" tIns="0" rIns="0" bIns="0" rtlCol="0" anchor="ctr"/>
          <a:lstStyle/>
          <a:p>
            <a:pPr algn="ctr" indent="0" marL="0">
              <a:buNone/>
            </a:pPr>
            <a:r>
              <a:rPr lang="en-US" sz="1600" b="1" dirty="0">
                <a:solidFill>
                  <a:schemeClr val="bg1"/>
                </a:solidFill>
              </a:rPr>
              <a:t>Task fine-tuning</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64240" cy="914400"/>
        </p:xfrm>
        <a:graphic>
          <a:graphicData uri="http://schemas.openxmlformats.org/drawingml/2006/table">
            <a:tbl>
              <a:tblPr/>
              <a:tblGrid>
                <a:gridCol w="2377440"/>
                <a:gridCol w="3383280"/>
                <a:gridCol w="3017520"/>
                <a:gridCol w="2286000"/>
              </a:tblGrid>
              <a:tr h="411480">
                <a:tc>
                  <a:txBody>
                    <a:bodyPr/>
                    <a:lstStyle/>
                    <a:p>
                      <a:pPr indent="0" marL="0">
                        <a:buNone/>
                      </a:pPr>
                      <a:r>
                        <a:rPr lang="en-US" sz="1400" b="1" dirty="0">
                          <a:solidFill>
                            <a:schemeClr val="bg1"/>
                          </a:solidFill>
                        </a:rPr>
                        <a:t>Stage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Data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the model learns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Example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731520">
                <a:tc>
                  <a:txBody>
                    <a:bodyPr/>
                    <a:lstStyle/>
                    <a:p>
                      <a:pPr indent="0" marL="0">
                        <a:buNone/>
                      </a:pPr>
                      <a:r>
                        <a:rPr lang="en-US" sz="1400" b="1" dirty="0">
                          <a:solidFill>
                            <a:schemeClr val="tx1"/>
                          </a:solidFill>
                        </a:rPr>
                        <a:t>1. Pretraining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Trillions of tokens of raw text: web pages, books, code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Language, facts and patterns, by predicting the next token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Qwen2.5-0.5B</a:t>
                      </a:r>
                      <a:r>
                        <a:rPr lang="en-US" sz="1400" dirty="0">
                          <a:solidFill>
                            <a:schemeClr val="tx1"/>
                          </a:solidFill>
                        </a:rPr>
                        <a:t> (base 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tx1"/>
                          </a:solidFill>
                        </a:rPr>
                        <a:t>2. Instruction tuning (SFT)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Many (instruction, response) pairs covering many tasks, in the chat template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To treat its input as a request, answer it, and then stop</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Qwen2.5: over 1 million SFT examples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731520">
                <a:tc>
                  <a:txBody>
                    <a:bodyPr/>
                    <a:lstStyle/>
                    <a:p>
                      <a:pPr indent="0" marL="0">
                        <a:buNone/>
                      </a:pPr>
                      <a:r>
                        <a:rPr lang="en-US" sz="1400" b="1" dirty="0">
                          <a:solidFill>
                            <a:schemeClr val="tx1"/>
                          </a:solidFill>
                        </a:rPr>
                        <a:t>3. Preference tuning (optional)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Pairs of responses to the same prompt, ranked by people or a reward model (RLHF, DPO)</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Which of several possible answers people prefer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Qwen2.5: DPO, then online RL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731520">
                <a:tc>
                  <a:txBody>
                    <a:bodyPr/>
                    <a:lstStyle/>
                    <a:p>
                      <a:pPr indent="0" marL="0">
                        <a:buNone/>
                      </a:pPr>
                      <a:r>
                        <a:rPr lang="en-US" sz="1400" b="1" dirty="0">
                          <a:solidFill>
                            <a:schemeClr val="accent4"/>
                          </a:solidFill>
                        </a:rPr>
                        <a:t>4. Task or domain fine-tuning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Examples of one task: support tickets and the replies agents wrote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One job, in one style, with one company's conventions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 support assistant (next lecture)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bl>
          </a:graphicData>
        </a:graphic>
      </p:graphicFrame>
      <p:sp>
        <p:nvSpPr>
          <p:cNvPr id="13" name="who does what"/>
          <p:cNvSpPr/>
          <p:nvPr/>
        </p:nvSpPr>
        <p:spPr>
          <a:xfrm>
            <a:off x="548640" y="5532120"/>
            <a:ext cx="11064240" cy="594360"/>
          </a:xfrm>
          <a:prstGeom prst="roundRect">
            <a:avLst>
              <a:gd name="adj" fmla="val 18462"/>
            </a:avLst>
          </a:prstGeom>
          <a:solidFill>
            <a:schemeClr val="accent5"/>
          </a:solidFill>
          <a:ln w="12700">
            <a:solidFill>
              <a:schemeClr val="accent5"/>
            </a:solidFill>
            <a:prstDash val="solid"/>
          </a:ln>
        </p:spPr>
      </p:sp>
      <p:sp>
        <p:nvSpPr>
          <p:cNvPr id="14" name="Text 10"/>
          <p:cNvSpPr txBox="1"/>
          <p:nvPr/>
        </p:nvSpPr>
        <p:spPr>
          <a:xfrm>
            <a:off x="777240" y="5532120"/>
            <a:ext cx="10607040" cy="594360"/>
          </a:xfrm>
          <a:prstGeom prst="rect">
            <a:avLst/>
          </a:prstGeom>
          <a:noFill/>
          <a:ln/>
        </p:spPr>
        <p:txBody>
          <a:bodyPr wrap="square" lIns="0" tIns="0" rIns="0" bIns="0" rtlCol="0" anchor="ctr"/>
          <a:lstStyle/>
          <a:p>
            <a:pPr indent="0" marL="0">
              <a:buNone/>
            </a:pPr>
            <a:r>
              <a:rPr lang="en-US" sz="1600" b="1" dirty="0">
                <a:solidFill>
                  <a:schemeClr val="tx1"/>
                </a:solidFill>
              </a:rPr>
              <a:t>Stages 1–3 are done by the model's developer: </a:t>
            </a:r>
            <a:r>
              <a:rPr lang="en-US" sz="1500" b="1" dirty="0">
                <a:solidFill>
                  <a:schemeClr val="tx1"/>
                </a:solidFill>
                <a:latin typeface="Courier New" pitchFamily="34" charset="0"/>
                <a:ea typeface="Courier New" pitchFamily="34" charset="-122"/>
                <a:cs typeface="Courier New" pitchFamily="34" charset="-120"/>
              </a:rPr>
              <a:t>Qwen2.5-0.5B-Instruct</a:t>
            </a:r>
            <a:r>
              <a:rPr lang="en-US" sz="1600" b="1" dirty="0">
                <a:solidFill>
                  <a:schemeClr val="tx1"/>
                </a:solidFill>
              </a:rPr>
              <a:t> is their result. </a:t>
            </a:r>
            <a:r>
              <a:rPr lang="en-US" sz="1600" b="1" dirty="0">
                <a:solidFill>
                  <a:schemeClr val="accent4"/>
                </a:solidFill>
              </a:rPr>
              <a:t>Stage 4 is the one you do.</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Instruction tuning vs task fine-tuning</a:t>
            </a:r>
            <a:endParaRPr lang="en-US" sz="3200" dirty="0"/>
          </a:p>
        </p:txBody>
      </p:sp>
      <p:sp>
        <p:nvSpPr>
          <p:cNvPr id="4" name="Text 1"/>
          <p:cNvSpPr txBox="1"/>
          <p:nvPr/>
        </p:nvSpPr>
        <p:spPr>
          <a:xfrm>
            <a:off x="548640" y="1188720"/>
            <a:ext cx="502920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What instruction tuning changes</a:t>
            </a:r>
            <a:endParaRPr lang="en-US" sz="1800" dirty="0"/>
          </a:p>
        </p:txBody>
      </p:sp>
      <p:sp>
        <p:nvSpPr>
          <p:cNvPr id="5" name="prompt"/>
          <p:cNvSpPr/>
          <p:nvPr/>
        </p:nvSpPr>
        <p:spPr>
          <a:xfrm>
            <a:off x="548640" y="1645920"/>
            <a:ext cx="5029200" cy="868680"/>
          </a:xfrm>
          <a:prstGeom prst="roundRect">
            <a:avLst>
              <a:gd name="adj" fmla="val 12632"/>
            </a:avLst>
          </a:prstGeom>
          <a:solidFill>
            <a:schemeClr val="bg2"/>
          </a:solidFill>
          <a:ln w="12700">
            <a:solidFill>
              <a:schemeClr val="bg2"/>
            </a:solidFill>
            <a:prstDash val="solid"/>
          </a:ln>
        </p:spPr>
      </p:sp>
      <p:sp>
        <p:nvSpPr>
          <p:cNvPr id="6" name="Text 3"/>
          <p:cNvSpPr txBox="1"/>
          <p:nvPr/>
        </p:nvSpPr>
        <p:spPr>
          <a:xfrm>
            <a:off x="731520" y="1645920"/>
            <a:ext cx="4663440" cy="868680"/>
          </a:xfrm>
          <a:prstGeom prst="rect">
            <a:avLst/>
          </a:prstGeom>
          <a:noFill/>
          <a:ln/>
        </p:spPr>
        <p:txBody>
          <a:bodyPr wrap="square" lIns="0" tIns="0" rIns="0" bIns="0" rtlCol="0" anchor="ctr"/>
          <a:lstStyle/>
          <a:p>
            <a:pPr indent="0" marL="0">
              <a:buNone/>
            </a:pPr>
            <a:r>
              <a:rPr lang="en-US" sz="1300" b="1" dirty="0">
                <a:solidFill>
                  <a:schemeClr val="tx2"/>
                </a:solidFill>
              </a:rPr>
              <a:t>Prompt  </a:t>
            </a:r>
            <a:r>
              <a:rPr lang="en-US" sz="1300" dirty="0">
                <a:solidFill>
                  <a:schemeClr val="tx1"/>
                </a:solidFill>
                <a:latin typeface="Courier New" pitchFamily="34" charset="0"/>
                <a:ea typeface="Courier New" pitchFamily="34" charset="-122"/>
                <a:cs typeface="Courier New" pitchFamily="34" charset="-120"/>
              </a:rPr>
              <a:t>Summarise this complaint: my biryani arrived cold and an hour late.</a:t>
            </a:r>
            <a:endParaRPr lang="en-US" sz="1300" dirty="0"/>
          </a:p>
        </p:txBody>
      </p:sp>
      <p:sp>
        <p:nvSpPr>
          <p:cNvPr id="7" name="base model"/>
          <p:cNvSpPr/>
          <p:nvPr/>
        </p:nvSpPr>
        <p:spPr>
          <a:xfrm>
            <a:off x="548640" y="2651760"/>
            <a:ext cx="5029200" cy="1188720"/>
          </a:xfrm>
          <a:prstGeom prst="roundRect">
            <a:avLst>
              <a:gd name="adj" fmla="val 9231"/>
            </a:avLst>
          </a:prstGeom>
          <a:solidFill>
            <a:schemeClr val="accent6"/>
          </a:solidFill>
          <a:ln w="12700">
            <a:solidFill>
              <a:schemeClr val="accent6"/>
            </a:solidFill>
            <a:prstDash val="solid"/>
          </a:ln>
        </p:spPr>
      </p:sp>
      <p:sp>
        <p:nvSpPr>
          <p:cNvPr id="8" name="Text 5"/>
          <p:cNvSpPr txBox="1"/>
          <p:nvPr/>
        </p:nvSpPr>
        <p:spPr>
          <a:xfrm>
            <a:off x="731520" y="2651760"/>
            <a:ext cx="4663440" cy="1188720"/>
          </a:xfrm>
          <a:prstGeom prst="rect">
            <a:avLst/>
          </a:prstGeom>
          <a:noFill/>
          <a:ln/>
        </p:spPr>
        <p:txBody>
          <a:bodyPr wrap="square" lIns="0" tIns="0" rIns="0" bIns="0" rtlCol="0" anchor="ctr"/>
          <a:lstStyle/>
          <a:p>
            <a:pPr indent="0" marL="0">
              <a:spcAft>
                <a:spcPts val="400"/>
              </a:spcAft>
              <a:buNone/>
            </a:pPr>
            <a:r>
              <a:rPr lang="en-US" sz="1500" b="1" dirty="0">
                <a:solidFill>
                  <a:schemeClr val="accent3"/>
                </a:solidFill>
              </a:rPr>
              <a:t>Base model (stage 1 only)</a:t>
            </a:r>
            <a:endParaRPr lang="en-US" sz="15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Summarise this complaint: the driver was rude.</a:t>
            </a:r>
            <a:endParaRPr lang="en-US" sz="1500" dirty="0"/>
          </a:p>
          <a:p>
            <a:pPr indent="0" marL="0">
              <a:spcAft>
                <a:spcPts val="400"/>
              </a:spcAft>
              <a:buNone/>
            </a:pPr>
            <a:r>
              <a:rPr lang="en-US" sz="1300" i="1" dirty="0">
                <a:solidFill>
                  <a:schemeClr val="tx2"/>
                </a:solidFill>
              </a:rPr>
              <a:t>reads the prompt as the start of a document</a:t>
            </a:r>
            <a:endParaRPr lang="en-US" sz="1500" dirty="0"/>
          </a:p>
        </p:txBody>
      </p:sp>
      <p:sp>
        <p:nvSpPr>
          <p:cNvPr id="9" name="instruct model"/>
          <p:cNvSpPr/>
          <p:nvPr/>
        </p:nvSpPr>
        <p:spPr>
          <a:xfrm>
            <a:off x="548640" y="3977640"/>
            <a:ext cx="5029200" cy="1188720"/>
          </a:xfrm>
          <a:prstGeom prst="roundRect">
            <a:avLst>
              <a:gd name="adj" fmla="val 9231"/>
            </a:avLst>
          </a:prstGeom>
          <a:solidFill>
            <a:schemeClr val="bg2"/>
          </a:solidFill>
          <a:ln w="12700">
            <a:solidFill>
              <a:schemeClr val="bg2"/>
            </a:solidFill>
            <a:prstDash val="solid"/>
          </a:ln>
        </p:spPr>
      </p:sp>
      <p:sp>
        <p:nvSpPr>
          <p:cNvPr id="10" name="Text 7"/>
          <p:cNvSpPr txBox="1"/>
          <p:nvPr/>
        </p:nvSpPr>
        <p:spPr>
          <a:xfrm>
            <a:off x="731520" y="3977640"/>
            <a:ext cx="4663440" cy="1188720"/>
          </a:xfrm>
          <a:prstGeom prst="rect">
            <a:avLst/>
          </a:prstGeom>
          <a:noFill/>
          <a:ln/>
        </p:spPr>
        <p:txBody>
          <a:bodyPr wrap="square" lIns="0" tIns="0" rIns="0" bIns="0" rtlCol="0" anchor="ctr"/>
          <a:lstStyle/>
          <a:p>
            <a:pPr indent="0" marL="0">
              <a:spcAft>
                <a:spcPts val="400"/>
              </a:spcAft>
              <a:buNone/>
            </a:pPr>
            <a:r>
              <a:rPr lang="en-US" sz="1500" b="1" dirty="0">
                <a:solidFill>
                  <a:schemeClr val="accent1"/>
                </a:solidFill>
              </a:rPr>
              <a:t>Instruction-tuned model (stage 2)</a:t>
            </a:r>
            <a:endParaRPr lang="en-US" sz="1500" dirty="0"/>
          </a:p>
          <a:p>
            <a:pPr indent="0" marL="0">
              <a:spcAft>
                <a:spcPts val="400"/>
              </a:spcAft>
              <a:buNone/>
            </a:pPr>
            <a:r>
              <a:rPr lang="en-US" sz="1300" dirty="0">
                <a:solidFill>
                  <a:schemeClr val="tx1"/>
                </a:solidFill>
                <a:latin typeface="Courier New" pitchFamily="34" charset="0"/>
                <a:ea typeface="Courier New" pitchFamily="34" charset="-122"/>
                <a:cs typeface="Courier New" pitchFamily="34" charset="-120"/>
              </a:rPr>
              <a:t>The customer's biryani was delivered cold and an hour late.</a:t>
            </a:r>
            <a:r>
              <a:rPr lang="en-US" sz="1300" b="1" dirty="0">
                <a:solidFill>
                  <a:schemeClr val="accent1"/>
                </a:solidFill>
                <a:latin typeface="Courier New" pitchFamily="34" charset="0"/>
                <a:ea typeface="Courier New" pitchFamily="34" charset="-122"/>
                <a:cs typeface="Courier New" pitchFamily="34" charset="-120"/>
              </a:rPr>
              <a:t>&lt;|im_end|&gt;</a:t>
            </a:r>
            <a:endParaRPr lang="en-US" sz="1500" dirty="0"/>
          </a:p>
          <a:p>
            <a:pPr indent="0" marL="0">
              <a:spcAft>
                <a:spcPts val="400"/>
              </a:spcAft>
              <a:buNone/>
            </a:pPr>
            <a:r>
              <a:rPr lang="en-US" sz="1300" i="1" dirty="0">
                <a:solidFill>
                  <a:schemeClr val="tx2"/>
                </a:solidFill>
              </a:rPr>
              <a:t>answers the request, then stops</a:t>
            </a:r>
            <a:endParaRPr lang="en-US" sz="1500" dirty="0"/>
          </a:p>
        </p:txBody>
      </p:sp>
      <p:sp>
        <p:nvSpPr>
          <p:cNvPr id="11" name="Text 8"/>
          <p:cNvSpPr txBox="1"/>
          <p:nvPr/>
        </p:nvSpPr>
        <p:spPr>
          <a:xfrm>
            <a:off x="548640" y="5212080"/>
            <a:ext cx="5029200" cy="274320"/>
          </a:xfrm>
          <a:prstGeom prst="rect">
            <a:avLst/>
          </a:prstGeom>
          <a:noFill/>
          <a:ln/>
        </p:spPr>
        <p:txBody>
          <a:bodyPr wrap="square" lIns="0" tIns="0" rIns="0" bIns="0" rtlCol="0" anchor="t"/>
          <a:lstStyle/>
          <a:p>
            <a:pPr indent="0" marL="0">
              <a:buNone/>
            </a:pPr>
            <a:r>
              <a:rPr lang="en-US" sz="1200" i="1" dirty="0">
                <a:solidFill>
                  <a:schemeClr val="tx2"/>
                </a:solidFill>
              </a:rPr>
              <a:t>Illustrative outputs, not recorded runs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852160" y="1188720"/>
          <a:ext cx="5760720" cy="914400"/>
        </p:xfrm>
        <a:graphic>
          <a:graphicData uri="http://schemas.openxmlformats.org/drawingml/2006/table">
            <a:tbl>
              <a:tblPr/>
              <a:tblGrid>
                <a:gridCol w="1280160"/>
                <a:gridCol w="2240280"/>
                <a:gridCol w="2240280"/>
              </a:tblGrid>
              <a:tr h="384048">
                <a:tc>
                  <a:txBody>
                    <a:bodyPr/>
                    <a:lstStyle/>
                    <a:p>
                      <a:pPr indent="0" marL="0">
                        <a:buNone/>
                      </a:pP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Instruction 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Task fine-tuning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685800">
                <a:tc>
                  <a:txBody>
                    <a:bodyPr/>
                    <a:lstStyle/>
                    <a:p>
                      <a:pPr indent="0" marL="0">
                        <a:buNone/>
                      </a:pPr>
                      <a:r>
                        <a:rPr lang="en-US" sz="1400" b="1" dirty="0">
                          <a:solidFill>
                            <a:schemeClr val="tx1"/>
                          </a:solidFill>
                        </a:rPr>
                        <a:t>Goal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general assistant that follows any instruction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One task done well, in one domain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Data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Broad: many task types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Narrow: one task, many examples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548640">
                <a:tc>
                  <a:txBody>
                    <a:bodyPr/>
                    <a:lstStyle/>
                    <a:p>
                      <a:pPr indent="0" marL="0">
                        <a:buNone/>
                      </a:pPr>
                      <a:r>
                        <a:rPr lang="en-US" sz="1400" b="1" dirty="0">
                          <a:solidFill>
                            <a:schemeClr val="tx1"/>
                          </a:solidFill>
                        </a:rPr>
                        <a:t>Starts from</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 base 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 instruction-tuned 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Done by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Usually the model's developer</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You</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868680">
                <a:tc>
                  <a:txBody>
                    <a:bodyPr/>
                    <a:lstStyle/>
                    <a:p>
                      <a:pPr indent="0" marL="0">
                        <a:buNone/>
                      </a:pPr>
                      <a:r>
                        <a:rPr lang="en-US" sz="1400" b="1" dirty="0">
                          <a:solidFill>
                            <a:schemeClr val="tx1"/>
                          </a:solidFill>
                        </a:rPr>
                        <a:t>Main risk</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Too little variety: follows only familiar kinds of instruction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3"/>
                          </a:solidFill>
                        </a:rPr>
                        <a:t>Over-specialization: worse outside the task (catastrophic forgetting)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13" name="same mechanics"/>
          <p:cNvSpPr/>
          <p:nvPr/>
        </p:nvSpPr>
        <p:spPr>
          <a:xfrm>
            <a:off x="548640" y="5577840"/>
            <a:ext cx="11064240" cy="548640"/>
          </a:xfrm>
          <a:prstGeom prst="roundRect">
            <a:avLst>
              <a:gd name="adj" fmla="val 20000"/>
            </a:avLst>
          </a:prstGeom>
          <a:solidFill>
            <a:schemeClr val="accent5"/>
          </a:solidFill>
          <a:ln w="12700">
            <a:solidFill>
              <a:schemeClr val="accent5"/>
            </a:solidFill>
            <a:prstDash val="solid"/>
          </a:ln>
        </p:spPr>
      </p:sp>
      <p:sp>
        <p:nvSpPr>
          <p:cNvPr id="14" name="Text 10"/>
          <p:cNvSpPr txBox="1"/>
          <p:nvPr/>
        </p:nvSpPr>
        <p:spPr>
          <a:xfrm>
            <a:off x="777240" y="5577840"/>
            <a:ext cx="10607040" cy="548640"/>
          </a:xfrm>
          <a:prstGeom prst="rect">
            <a:avLst/>
          </a:prstGeom>
          <a:noFill/>
          <a:ln/>
        </p:spPr>
        <p:txBody>
          <a:bodyPr wrap="square" lIns="0" tIns="0" rIns="0" bIns="0" rtlCol="0" anchor="ctr"/>
          <a:lstStyle/>
          <a:p>
            <a:pPr indent="0" marL="0">
              <a:buNone/>
            </a:pPr>
            <a:r>
              <a:rPr lang="en-US" sz="1600" b="1" dirty="0">
                <a:solidFill>
                  <a:schemeClr val="tx1"/>
                </a:solidFill>
              </a:rPr>
              <a:t>Same mechanics: </a:t>
            </a:r>
            <a:r>
              <a:rPr lang="en-US" sz="1600" dirty="0">
                <a:solidFill>
                  <a:schemeClr val="tx1"/>
                </a:solidFill>
              </a:rPr>
              <a:t>next-token loss, prompt labelled </a:t>
            </a:r>
            <a:r>
              <a:rPr lang="en-US" sz="1500" dirty="0">
                <a:solidFill>
                  <a:schemeClr val="tx1"/>
                </a:solidFill>
                <a:latin typeface="Courier New" pitchFamily="34" charset="0"/>
                <a:ea typeface="Courier New" pitchFamily="34" charset="-122"/>
                <a:cs typeface="Courier New" pitchFamily="34" charset="-120"/>
              </a:rPr>
              <a:t>-100</a:t>
            </a:r>
            <a:r>
              <a:rPr lang="en-US" sz="1600" dirty="0">
                <a:solidFill>
                  <a:schemeClr val="tx1"/>
                </a:solidFill>
              </a:rPr>
              <a:t>, end-of-turn token trained. </a:t>
            </a:r>
            <a:r>
              <a:rPr lang="en-US" sz="1600" b="1" dirty="0">
                <a:solidFill>
                  <a:schemeClr val="accent4"/>
                </a:solidFill>
              </a:rPr>
              <a:t>Only the data differs.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What instruction-tuning data looks like</a:t>
            </a:r>
            <a:endParaRPr lang="en-US" sz="3200" dirty="0"/>
          </a:p>
        </p:txBody>
      </p:sp>
      <p:sp>
        <p:nvSpPr>
          <p:cNvPr id="4" name="SFT examples"/>
          <p:cNvSpPr/>
          <p:nvPr/>
        </p:nvSpPr>
        <p:spPr>
          <a:xfrm>
            <a:off x="548640" y="1280160"/>
            <a:ext cx="1737360" cy="1234440"/>
          </a:xfrm>
          <a:prstGeom prst="roundRect">
            <a:avLst>
              <a:gd name="adj" fmla="val 8889"/>
            </a:avLst>
          </a:prstGeom>
          <a:solidFill>
            <a:schemeClr val="bg2"/>
          </a:solidFill>
          <a:ln w="12700">
            <a:solidFill>
              <a:schemeClr val="bg2"/>
            </a:solidFill>
            <a:prstDash val="solid"/>
          </a:ln>
        </p:spPr>
      </p:sp>
      <p:sp>
        <p:nvSpPr>
          <p:cNvPr id="5" name="Text 2"/>
          <p:cNvSpPr txBox="1"/>
          <p:nvPr/>
        </p:nvSpPr>
        <p:spPr>
          <a:xfrm>
            <a:off x="777240" y="1389888"/>
            <a:ext cx="1280160" cy="640080"/>
          </a:xfrm>
          <a:prstGeom prst="rect">
            <a:avLst/>
          </a:prstGeom>
          <a:noFill/>
          <a:ln/>
        </p:spPr>
        <p:txBody>
          <a:bodyPr wrap="square" lIns="0" tIns="0" rIns="0" bIns="0" rtlCol="0" anchor="b"/>
          <a:lstStyle/>
          <a:p>
            <a:pPr indent="0" marL="0">
              <a:buNone/>
            </a:pPr>
            <a:r>
              <a:rPr lang="en-US" sz="2800" b="1" dirty="0">
                <a:solidFill>
                  <a:schemeClr val="accent1"/>
                </a:solidFill>
                <a:latin typeface="Cambria" pitchFamily="34" charset="0"/>
                <a:ea typeface="Cambria" pitchFamily="34" charset="-122"/>
                <a:cs typeface="Cambria" pitchFamily="34" charset="-120"/>
              </a:rPr>
              <a:t>1M+</a:t>
            </a:r>
            <a:endParaRPr lang="en-US" sz="2800" dirty="0"/>
          </a:p>
        </p:txBody>
      </p:sp>
      <p:sp>
        <p:nvSpPr>
          <p:cNvPr id="6" name="Text 3"/>
          <p:cNvSpPr txBox="1"/>
          <p:nvPr/>
        </p:nvSpPr>
        <p:spPr>
          <a:xfrm>
            <a:off x="777240" y="2084832"/>
            <a:ext cx="1280160" cy="338328"/>
          </a:xfrm>
          <a:prstGeom prst="rect">
            <a:avLst/>
          </a:prstGeom>
          <a:noFill/>
          <a:ln/>
        </p:spPr>
        <p:txBody>
          <a:bodyPr wrap="square" lIns="0" tIns="0" rIns="0" bIns="0" rtlCol="0" anchor="t"/>
          <a:lstStyle/>
          <a:p>
            <a:pPr indent="0" marL="0">
              <a:buNone/>
            </a:pPr>
            <a:r>
              <a:rPr lang="en-US" sz="1400" dirty="0">
                <a:solidFill>
                  <a:schemeClr val="tx2"/>
                </a:solidFill>
              </a:rPr>
              <a:t>SFT examples</a:t>
            </a:r>
            <a:endParaRPr lang="en-US" sz="1400" dirty="0"/>
          </a:p>
        </p:txBody>
      </p:sp>
      <p:sp>
        <p:nvSpPr>
          <p:cNvPr id="7" name="epochs"/>
          <p:cNvSpPr/>
          <p:nvPr/>
        </p:nvSpPr>
        <p:spPr>
          <a:xfrm>
            <a:off x="2423160" y="1280160"/>
            <a:ext cx="1737360" cy="1234440"/>
          </a:xfrm>
          <a:prstGeom prst="roundRect">
            <a:avLst>
              <a:gd name="adj" fmla="val 8889"/>
            </a:avLst>
          </a:prstGeom>
          <a:solidFill>
            <a:schemeClr val="bg2"/>
          </a:solidFill>
          <a:ln w="12700">
            <a:solidFill>
              <a:schemeClr val="bg2"/>
            </a:solidFill>
            <a:prstDash val="solid"/>
          </a:ln>
        </p:spPr>
      </p:sp>
      <p:sp>
        <p:nvSpPr>
          <p:cNvPr id="8" name="Text 5"/>
          <p:cNvSpPr txBox="1"/>
          <p:nvPr/>
        </p:nvSpPr>
        <p:spPr>
          <a:xfrm>
            <a:off x="2651760" y="1389888"/>
            <a:ext cx="1280160" cy="640080"/>
          </a:xfrm>
          <a:prstGeom prst="rect">
            <a:avLst/>
          </a:prstGeom>
          <a:noFill/>
          <a:ln/>
        </p:spPr>
        <p:txBody>
          <a:bodyPr wrap="square" lIns="0" tIns="0" rIns="0" bIns="0" rtlCol="0" anchor="b"/>
          <a:lstStyle/>
          <a:p>
            <a:pPr indent="0" marL="0">
              <a:buNone/>
            </a:pPr>
            <a:r>
              <a:rPr lang="en-US" sz="2800" b="1" dirty="0">
                <a:solidFill>
                  <a:schemeClr val="tx1"/>
                </a:solidFill>
                <a:latin typeface="Cambria" pitchFamily="34" charset="0"/>
                <a:ea typeface="Cambria" pitchFamily="34" charset="-122"/>
                <a:cs typeface="Cambria" pitchFamily="34" charset="-120"/>
              </a:rPr>
              <a:t>2</a:t>
            </a:r>
            <a:endParaRPr lang="en-US" sz="2800" dirty="0"/>
          </a:p>
        </p:txBody>
      </p:sp>
      <p:sp>
        <p:nvSpPr>
          <p:cNvPr id="9" name="Text 6"/>
          <p:cNvSpPr txBox="1"/>
          <p:nvPr/>
        </p:nvSpPr>
        <p:spPr>
          <a:xfrm>
            <a:off x="2651760" y="2084832"/>
            <a:ext cx="1280160" cy="338328"/>
          </a:xfrm>
          <a:prstGeom prst="rect">
            <a:avLst/>
          </a:prstGeom>
          <a:noFill/>
          <a:ln/>
        </p:spPr>
        <p:txBody>
          <a:bodyPr wrap="square" lIns="0" tIns="0" rIns="0" bIns="0" rtlCol="0" anchor="t"/>
          <a:lstStyle/>
          <a:p>
            <a:pPr indent="0" marL="0">
              <a:buNone/>
            </a:pPr>
            <a:r>
              <a:rPr lang="en-US" sz="1400" dirty="0">
                <a:solidFill>
                  <a:schemeClr val="tx2"/>
                </a:solidFill>
              </a:rPr>
              <a:t>epochs</a:t>
            </a:r>
            <a:endParaRPr lang="en-US" sz="1400" dirty="0"/>
          </a:p>
        </p:txBody>
      </p:sp>
      <p:sp>
        <p:nvSpPr>
          <p:cNvPr id="10" name="sequence length"/>
          <p:cNvSpPr/>
          <p:nvPr/>
        </p:nvSpPr>
        <p:spPr>
          <a:xfrm>
            <a:off x="4297680" y="1280160"/>
            <a:ext cx="1737360" cy="1234440"/>
          </a:xfrm>
          <a:prstGeom prst="roundRect">
            <a:avLst>
              <a:gd name="adj" fmla="val 8889"/>
            </a:avLst>
          </a:prstGeom>
          <a:solidFill>
            <a:schemeClr val="bg2"/>
          </a:solidFill>
          <a:ln w="12700">
            <a:solidFill>
              <a:schemeClr val="bg2"/>
            </a:solidFill>
            <a:prstDash val="solid"/>
          </a:ln>
        </p:spPr>
      </p:sp>
      <p:sp>
        <p:nvSpPr>
          <p:cNvPr id="11" name="Text 8"/>
          <p:cNvSpPr txBox="1"/>
          <p:nvPr/>
        </p:nvSpPr>
        <p:spPr>
          <a:xfrm>
            <a:off x="4526280" y="1389888"/>
            <a:ext cx="1280160" cy="640080"/>
          </a:xfrm>
          <a:prstGeom prst="rect">
            <a:avLst/>
          </a:prstGeom>
          <a:noFill/>
          <a:ln/>
        </p:spPr>
        <p:txBody>
          <a:bodyPr wrap="square" lIns="0" tIns="0" rIns="0" bIns="0" rtlCol="0" anchor="b"/>
          <a:lstStyle/>
          <a:p>
            <a:pPr indent="0" marL="0">
              <a:buNone/>
            </a:pPr>
            <a:r>
              <a:rPr lang="en-US" sz="2800" b="1" dirty="0">
                <a:solidFill>
                  <a:schemeClr val="tx1"/>
                </a:solidFill>
                <a:latin typeface="Cambria" pitchFamily="34" charset="0"/>
                <a:ea typeface="Cambria" pitchFamily="34" charset="-122"/>
                <a:cs typeface="Cambria" pitchFamily="34" charset="-120"/>
              </a:rPr>
              <a:t>32,768</a:t>
            </a:r>
            <a:endParaRPr lang="en-US" sz="2800" dirty="0"/>
          </a:p>
        </p:txBody>
      </p:sp>
      <p:sp>
        <p:nvSpPr>
          <p:cNvPr id="12" name="Text 9"/>
          <p:cNvSpPr txBox="1"/>
          <p:nvPr/>
        </p:nvSpPr>
        <p:spPr>
          <a:xfrm>
            <a:off x="4526280" y="2084832"/>
            <a:ext cx="1280160" cy="338328"/>
          </a:xfrm>
          <a:prstGeom prst="rect">
            <a:avLst/>
          </a:prstGeom>
          <a:noFill/>
          <a:ln/>
        </p:spPr>
        <p:txBody>
          <a:bodyPr wrap="square" lIns="0" tIns="0" rIns="0" bIns="0" rtlCol="0" anchor="t"/>
          <a:lstStyle/>
          <a:p>
            <a:pPr indent="0" marL="0">
              <a:buNone/>
            </a:pPr>
            <a:r>
              <a:rPr lang="en-US" sz="1400" dirty="0">
                <a:solidFill>
                  <a:schemeClr val="tx2"/>
                </a:solidFill>
              </a:rPr>
              <a:t>sequence length</a:t>
            </a:r>
            <a:endParaRPr lang="en-US" sz="1400" dirty="0"/>
          </a:p>
        </p:txBody>
      </p:sp>
      <p:sp>
        <p:nvSpPr>
          <p:cNvPr id="13" name="areas"/>
          <p:cNvSpPr/>
          <p:nvPr/>
        </p:nvSpPr>
        <p:spPr>
          <a:xfrm>
            <a:off x="6263640" y="1280160"/>
            <a:ext cx="5349240" cy="1234440"/>
          </a:xfrm>
          <a:prstGeom prst="roundRect">
            <a:avLst>
              <a:gd name="adj" fmla="val 8889"/>
            </a:avLst>
          </a:prstGeom>
          <a:solidFill>
            <a:schemeClr val="bg2"/>
          </a:solidFill>
          <a:ln w="12700">
            <a:solidFill>
              <a:schemeClr val="bg2"/>
            </a:solidFill>
            <a:prstDash val="solid"/>
          </a:ln>
        </p:spPr>
      </p:sp>
      <p:sp>
        <p:nvSpPr>
          <p:cNvPr id="14" name="Text 11"/>
          <p:cNvSpPr txBox="1"/>
          <p:nvPr/>
        </p:nvSpPr>
        <p:spPr>
          <a:xfrm>
            <a:off x="6446520" y="1325880"/>
            <a:ext cx="4983480" cy="1143000"/>
          </a:xfrm>
          <a:prstGeom prst="rect">
            <a:avLst/>
          </a:prstGeom>
          <a:noFill/>
          <a:ln/>
        </p:spPr>
        <p:txBody>
          <a:bodyPr wrap="square" lIns="0" tIns="0" rIns="0" bIns="0" rtlCol="0" anchor="ctr"/>
          <a:lstStyle/>
          <a:p>
            <a:pPr indent="0" marL="0">
              <a:buNone/>
            </a:pPr>
            <a:r>
              <a:rPr lang="en-US" sz="1400" b="1" dirty="0">
                <a:solidFill>
                  <a:schemeClr val="tx1"/>
                </a:solidFill>
              </a:rPr>
              <a:t>Many kinds of task: </a:t>
            </a:r>
            <a:r>
              <a:rPr lang="en-US" sz="1400" dirty="0">
                <a:solidFill>
                  <a:schemeClr val="tx1"/>
                </a:solidFill>
              </a:rPr>
              <a:t>long answers · step-by-step maths · code in ~40 languages, kept only if unit tests pass · checkable instructions · tables · logical reasoning · other languages · hundreds of system prompts</a:t>
            </a:r>
            <a:endParaRPr lang="en-US" sz="1400" dirty="0"/>
          </a:p>
        </p:txBody>
      </p:sp>
      <p:sp>
        <p:nvSpPr>
          <p:cNvPr id="15" name="example"/>
          <p:cNvSpPr/>
          <p:nvPr/>
        </p:nvSpPr>
        <p:spPr>
          <a:xfrm>
            <a:off x="548640" y="2743200"/>
            <a:ext cx="11064240" cy="2971800"/>
          </a:xfrm>
          <a:prstGeom prst="roundRect">
            <a:avLst>
              <a:gd name="adj" fmla="val 3692"/>
            </a:avLst>
          </a:prstGeom>
          <a:solidFill>
            <a:schemeClr val="bg1"/>
          </a:solidFill>
          <a:ln w="12700">
            <a:solidFill>
              <a:schemeClr val="bg1"/>
            </a:solidFill>
            <a:prstDash val="solid"/>
          </a:ln>
        </p:spPr>
      </p:sp>
      <p:sp>
        <p:nvSpPr>
          <p:cNvPr id="16" name="Shape 13"/>
          <p:cNvSpPr/>
          <p:nvPr/>
        </p:nvSpPr>
        <p:spPr>
          <a:xfrm>
            <a:off x="548640" y="2743200"/>
            <a:ext cx="11064240" cy="2971800"/>
          </a:xfrm>
          <a:prstGeom prst="roundRect">
            <a:avLst>
              <a:gd name="adj" fmla="val 3692"/>
            </a:avLst>
          </a:prstGeom>
          <a:ln w="12700">
            <a:solidFill>
              <a:srgbClr val="C9CFDA"/>
            </a:solidFill>
            <a:prstDash val="solid"/>
          </a:ln>
        </p:spPr>
      </p:sp>
      <p:sp>
        <p:nvSpPr>
          <p:cNvPr id="17" name="Text 14"/>
          <p:cNvSpPr txBox="1"/>
          <p:nvPr/>
        </p:nvSpPr>
        <p:spPr>
          <a:xfrm>
            <a:off x="731520" y="2834640"/>
            <a:ext cx="7818120" cy="2788920"/>
          </a:xfrm>
          <a:prstGeom prst="rect">
            <a:avLst/>
          </a:prstGeom>
          <a:noFill/>
          <a:ln/>
        </p:spPr>
        <p:txBody>
          <a:bodyPr wrap="square" lIns="0" tIns="0" rIns="0" bIns="0" rtlCol="0" anchor="ctr"/>
          <a:lstStyle/>
          <a:p>
            <a:pPr indent="0" marL="0">
              <a:spcAft>
                <a:spcPts val="400"/>
              </a:spcAft>
              <a:buNone/>
            </a:pPr>
            <a:r>
              <a:rPr lang="en-US" sz="1100" b="1" dirty="0">
                <a:solidFill>
                  <a:schemeClr val="accent1"/>
                </a:solidFill>
                <a:latin typeface="Courier New" pitchFamily="34" charset="0"/>
                <a:ea typeface="Courier New" pitchFamily="34" charset="-122"/>
                <a:cs typeface="Courier New" pitchFamily="34" charset="-120"/>
              </a:rPr>
              <a:t>&lt;|im_start|&gt;</a:t>
            </a:r>
            <a:r>
              <a:rPr lang="en-US" sz="1100" b="1" dirty="0">
                <a:solidFill>
                  <a:schemeClr val="tx1"/>
                </a:solidFill>
                <a:latin typeface="Courier New" pitchFamily="34" charset="0"/>
                <a:ea typeface="Courier New" pitchFamily="34" charset="-122"/>
                <a:cs typeface="Courier New" pitchFamily="34" charset="-120"/>
              </a:rPr>
              <a:t>system</a:t>
            </a:r>
            <a:endParaRPr lang="en-US" sz="1100" dirty="0"/>
          </a:p>
          <a:p>
            <a:pPr indent="0" marL="0">
              <a:spcAft>
                <a:spcPts val="400"/>
              </a:spcAft>
              <a:buNone/>
            </a:pPr>
            <a:r>
              <a:rPr lang="en-US" sz="1100" dirty="0">
                <a:solidFill>
                  <a:schemeClr val="tx2"/>
                </a:solidFill>
                <a:latin typeface="Courier New" pitchFamily="34" charset="0"/>
                <a:ea typeface="Courier New" pitchFamily="34" charset="-122"/>
                <a:cs typeface="Courier New" pitchFamily="34" charset="-120"/>
              </a:rPr>
              <a:t>You are a senior Python reviewer. Answer with code first, then one sentence.</a:t>
            </a:r>
            <a:r>
              <a:rPr lang="en-US" sz="1100" b="1" dirty="0">
                <a:solidFill>
                  <a:schemeClr val="accent1"/>
                </a:solidFill>
                <a:latin typeface="Courier New" pitchFamily="34" charset="0"/>
                <a:ea typeface="Courier New" pitchFamily="34" charset="-122"/>
                <a:cs typeface="Courier New" pitchFamily="34" charset="-120"/>
              </a:rPr>
              <a:t>&lt;|im_end|&gt;</a:t>
            </a:r>
            <a:endParaRPr lang="en-US" sz="1100" dirty="0"/>
          </a:p>
          <a:p>
            <a:pPr indent="0" marL="0">
              <a:spcAft>
                <a:spcPts val="400"/>
              </a:spcAft>
              <a:buNone/>
            </a:pPr>
            <a:r>
              <a:rPr lang="en-US" sz="1100" b="1" dirty="0">
                <a:solidFill>
                  <a:schemeClr val="accent1"/>
                </a:solidFill>
                <a:latin typeface="Courier New" pitchFamily="34" charset="0"/>
                <a:ea typeface="Courier New" pitchFamily="34" charset="-122"/>
                <a:cs typeface="Courier New" pitchFamily="34" charset="-120"/>
              </a:rPr>
              <a:t>&lt;|im_start|&gt;</a:t>
            </a:r>
            <a:r>
              <a:rPr lang="en-US" sz="1100" b="1" dirty="0">
                <a:solidFill>
                  <a:schemeClr val="tx1"/>
                </a:solidFill>
                <a:latin typeface="Courier New" pitchFamily="34" charset="0"/>
                <a:ea typeface="Courier New" pitchFamily="34" charset="-122"/>
                <a:cs typeface="Courier New" pitchFamily="34" charset="-120"/>
              </a:rPr>
              <a:t>user</a:t>
            </a:r>
            <a:endParaRPr lang="en-US" sz="1100" dirty="0"/>
          </a:p>
          <a:p>
            <a:pPr indent="0" marL="0">
              <a:spcAft>
                <a:spcPts val="400"/>
              </a:spcAft>
              <a:buNone/>
            </a:pPr>
            <a:r>
              <a:rPr lang="en-US" sz="1100" dirty="0">
                <a:solidFill>
                  <a:schemeClr val="tx2"/>
                </a:solidFill>
                <a:latin typeface="Courier New" pitchFamily="34" charset="0"/>
                <a:ea typeface="Courier New" pitchFamily="34" charset="-122"/>
                <a:cs typeface="Courier New" pitchFamily="34" charset="-120"/>
              </a:rPr>
              <a:t>Write a function that returns the second-largest distinct number in a list.</a:t>
            </a:r>
            <a:r>
              <a:rPr lang="en-US" sz="1100" b="1" dirty="0">
                <a:solidFill>
                  <a:schemeClr val="accent1"/>
                </a:solidFill>
                <a:latin typeface="Courier New" pitchFamily="34" charset="0"/>
                <a:ea typeface="Courier New" pitchFamily="34" charset="-122"/>
                <a:cs typeface="Courier New" pitchFamily="34" charset="-120"/>
              </a:rPr>
              <a:t>&lt;|im_end|&gt;</a:t>
            </a:r>
            <a:endParaRPr lang="en-US" sz="1100" dirty="0"/>
          </a:p>
          <a:p>
            <a:pPr indent="0" marL="0">
              <a:spcAft>
                <a:spcPts val="400"/>
              </a:spcAft>
              <a:buNone/>
            </a:pPr>
            <a:r>
              <a:rPr lang="en-US" sz="1100" b="1" dirty="0">
                <a:solidFill>
                  <a:schemeClr val="accent1"/>
                </a:solidFill>
                <a:latin typeface="Courier New" pitchFamily="34" charset="0"/>
                <a:ea typeface="Courier New" pitchFamily="34" charset="-122"/>
                <a:cs typeface="Courier New" pitchFamily="34" charset="-120"/>
              </a:rPr>
              <a:t>&lt;|im_start|&gt;</a:t>
            </a:r>
            <a:r>
              <a:rPr lang="en-US" sz="1100" b="1" dirty="0">
                <a:solidFill>
                  <a:schemeClr val="tx1"/>
                </a:solidFill>
                <a:latin typeface="Courier New" pitchFamily="34" charset="0"/>
                <a:ea typeface="Courier New" pitchFamily="34" charset="-122"/>
                <a:cs typeface="Courier New" pitchFamily="34" charset="-120"/>
              </a:rPr>
              <a:t>assistant</a:t>
            </a:r>
            <a:endParaRPr lang="en-US" sz="1100" dirty="0"/>
          </a:p>
          <a:p>
            <a:pPr indent="0" marL="0">
              <a:spcAft>
                <a:spcPts val="400"/>
              </a:spcAft>
              <a:buNone/>
            </a:pPr>
            <a:r>
              <a:rPr lang="en-US" sz="1100" dirty="0">
                <a:solidFill>
                  <a:schemeClr val="accent4"/>
                </a:solidFill>
                <a:latin typeface="Courier New" pitchFamily="34" charset="0"/>
                <a:ea typeface="Courier New" pitchFamily="34" charset="-122"/>
                <a:cs typeface="Courier New" pitchFamily="34" charset="-120"/>
              </a:rPr>
              <a:t>def second_largest(xs):</a:t>
            </a:r>
            <a:endParaRPr lang="en-US" sz="1100" dirty="0"/>
          </a:p>
          <a:p>
            <a:pPr indent="0" marL="0">
              <a:spcAft>
                <a:spcPts val="400"/>
              </a:spcAft>
              <a:buNone/>
            </a:pPr>
            <a:r>
              <a:rPr lang="en-US" sz="1100" dirty="0">
                <a:solidFill>
                  <a:schemeClr val="accent4"/>
                </a:solidFill>
                <a:latin typeface="Courier New" pitchFamily="34" charset="0"/>
                <a:ea typeface="Courier New" pitchFamily="34" charset="-122"/>
                <a:cs typeface="Courier New" pitchFamily="34" charset="-120"/>
              </a:rPr>
              <a:t>    vals = sorted(set(xs))</a:t>
            </a:r>
            <a:endParaRPr lang="en-US" sz="1100" dirty="0"/>
          </a:p>
          <a:p>
            <a:pPr indent="0" marL="0">
              <a:spcAft>
                <a:spcPts val="400"/>
              </a:spcAft>
              <a:buNone/>
            </a:pPr>
            <a:r>
              <a:rPr lang="en-US" sz="1100" dirty="0">
                <a:solidFill>
                  <a:schemeClr val="accent4"/>
                </a:solidFill>
                <a:latin typeface="Courier New" pitchFamily="34" charset="0"/>
                <a:ea typeface="Courier New" pitchFamily="34" charset="-122"/>
                <a:cs typeface="Courier New" pitchFamily="34" charset="-120"/>
              </a:rPr>
              <a:t>    return vals[-2] if len(vals) &gt;= 2 else None</a:t>
            </a:r>
            <a:endParaRPr lang="en-US" sz="1100" dirty="0"/>
          </a:p>
          <a:p>
            <a:pPr indent="0" marL="0">
              <a:spcAft>
                <a:spcPts val="400"/>
              </a:spcAft>
              <a:buNone/>
            </a:pPr>
            <a:r>
              <a:rPr lang="en-US" sz="1100" dirty="0">
                <a:solidFill>
                  <a:schemeClr val="accent4"/>
                </a:solidFill>
                <a:latin typeface="Courier New" pitchFamily="34" charset="0"/>
                <a:ea typeface="Courier New" pitchFamily="34" charset="-122"/>
                <a:cs typeface="Courier New" pitchFamily="34" charset="-120"/>
              </a:rPr>
              <a:t>Duplicates are removed first, so [5, 5, 3] gives 3.</a:t>
            </a:r>
            <a:r>
              <a:rPr lang="en-US" sz="1100" b="1" dirty="0">
                <a:solidFill>
                  <a:schemeClr val="accent4"/>
                </a:solidFill>
                <a:latin typeface="Courier New" pitchFamily="34" charset="0"/>
                <a:ea typeface="Courier New" pitchFamily="34" charset="-122"/>
                <a:cs typeface="Courier New" pitchFamily="34" charset="-120"/>
              </a:rPr>
              <a:t>&lt;|im_end|&gt;</a:t>
            </a:r>
            <a:endParaRPr lang="en-US" sz="1100" dirty="0"/>
          </a:p>
        </p:txBody>
      </p:sp>
      <p:sp>
        <p:nvSpPr>
          <p:cNvPr id="18" name="frozen "/>
          <p:cNvSpPr/>
          <p:nvPr/>
        </p:nvSpPr>
        <p:spPr>
          <a:xfrm>
            <a:off x="8641080" y="3017520"/>
            <a:ext cx="2743200" cy="731520"/>
          </a:xfrm>
          <a:prstGeom prst="rect">
            <a:avLst/>
          </a:prstGeom>
          <a:solidFill>
            <a:schemeClr val="bg2"/>
          </a:solidFill>
          <a:ln w="15875">
            <a:solidFill>
              <a:schemeClr val="tx2"/>
            </a:solidFill>
            <a:prstDash val="solid"/>
          </a:ln>
        </p:spPr>
      </p:sp>
      <p:sp>
        <p:nvSpPr>
          <p:cNvPr id="19" name="Text 16"/>
          <p:cNvSpPr txBox="1"/>
          <p:nvPr/>
        </p:nvSpPr>
        <p:spPr>
          <a:xfrm>
            <a:off x="8641080" y="3017520"/>
            <a:ext cx="2743200" cy="731520"/>
          </a:xfrm>
          <a:prstGeom prst="rect">
            <a:avLst/>
          </a:prstGeom>
          <a:noFill/>
          <a:ln/>
        </p:spPr>
        <p:txBody>
          <a:bodyPr wrap="square" lIns="0" tIns="0" rIns="0" bIns="0" rtlCol="0" anchor="ctr"/>
          <a:lstStyle/>
          <a:p>
            <a:pPr algn="ctr" indent="0" marL="0">
              <a:buNone/>
            </a:pPr>
            <a:endParaRPr lang="en-US" sz="1500" dirty="0"/>
          </a:p>
        </p:txBody>
      </p:sp>
      <p:sp>
        <p:nvSpPr>
          <p:cNvPr id="20" name="Text 17"/>
          <p:cNvSpPr txBox="1"/>
          <p:nvPr/>
        </p:nvSpPr>
        <p:spPr>
          <a:xfrm>
            <a:off x="8778240" y="3017520"/>
            <a:ext cx="2514600" cy="73152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system</a:t>
            </a:r>
            <a:r>
              <a:rPr lang="en-US" sz="1300" dirty="0">
                <a:solidFill>
                  <a:schemeClr val="tx1"/>
                </a:solidFill>
              </a:rPr>
              <a:t>  sets the behaviour</a:t>
            </a:r>
            <a:endParaRPr lang="en-US" sz="1300" dirty="0"/>
          </a:p>
          <a:p>
            <a:pPr indent="0" marL="0">
              <a:buNone/>
            </a:pPr>
            <a:r>
              <a:rPr lang="en-US" sz="1300" dirty="0">
                <a:solidFill>
                  <a:schemeClr val="tx2"/>
                </a:solidFill>
              </a:rPr>
              <a:t>label −100</a:t>
            </a:r>
            <a:endParaRPr lang="en-US" sz="1300" dirty="0"/>
          </a:p>
        </p:txBody>
      </p:sp>
      <p:sp>
        <p:nvSpPr>
          <p:cNvPr id="21" name="frozen "/>
          <p:cNvSpPr/>
          <p:nvPr/>
        </p:nvSpPr>
        <p:spPr>
          <a:xfrm>
            <a:off x="8641080" y="3886200"/>
            <a:ext cx="2743200" cy="731520"/>
          </a:xfrm>
          <a:prstGeom prst="rect">
            <a:avLst/>
          </a:prstGeom>
          <a:solidFill>
            <a:schemeClr val="bg2"/>
          </a:solidFill>
          <a:ln w="15875">
            <a:solidFill>
              <a:schemeClr val="tx2"/>
            </a:solidFill>
            <a:prstDash val="solid"/>
          </a:ln>
        </p:spPr>
      </p:sp>
      <p:sp>
        <p:nvSpPr>
          <p:cNvPr id="22" name="Text 19"/>
          <p:cNvSpPr txBox="1"/>
          <p:nvPr/>
        </p:nvSpPr>
        <p:spPr>
          <a:xfrm>
            <a:off x="8641080" y="3886200"/>
            <a:ext cx="2743200" cy="731520"/>
          </a:xfrm>
          <a:prstGeom prst="rect">
            <a:avLst/>
          </a:prstGeom>
          <a:noFill/>
          <a:ln/>
        </p:spPr>
        <p:txBody>
          <a:bodyPr wrap="square" lIns="0" tIns="0" rIns="0" bIns="0" rtlCol="0" anchor="ctr"/>
          <a:lstStyle/>
          <a:p>
            <a:pPr algn="ctr" indent="0" marL="0">
              <a:buNone/>
            </a:pPr>
            <a:endParaRPr lang="en-US" sz="1500" dirty="0"/>
          </a:p>
        </p:txBody>
      </p:sp>
      <p:sp>
        <p:nvSpPr>
          <p:cNvPr id="23" name="Text 20"/>
          <p:cNvSpPr txBox="1"/>
          <p:nvPr/>
        </p:nvSpPr>
        <p:spPr>
          <a:xfrm>
            <a:off x="8778240" y="3886200"/>
            <a:ext cx="2514600" cy="73152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user</a:t>
            </a:r>
            <a:r>
              <a:rPr lang="en-US" sz="1300" dirty="0">
                <a:solidFill>
                  <a:schemeClr val="tx1"/>
                </a:solidFill>
              </a:rPr>
              <a:t>  the instruction</a:t>
            </a:r>
            <a:endParaRPr lang="en-US" sz="1300" dirty="0"/>
          </a:p>
          <a:p>
            <a:pPr indent="0" marL="0">
              <a:buNone/>
            </a:pPr>
            <a:r>
              <a:rPr lang="en-US" sz="1300" dirty="0">
                <a:solidFill>
                  <a:schemeClr val="tx2"/>
                </a:solidFill>
              </a:rPr>
              <a:t>label −100</a:t>
            </a:r>
            <a:endParaRPr lang="en-US" sz="1300" dirty="0"/>
          </a:p>
        </p:txBody>
      </p:sp>
      <p:sp>
        <p:nvSpPr>
          <p:cNvPr id="24" name="trainable "/>
          <p:cNvSpPr/>
          <p:nvPr/>
        </p:nvSpPr>
        <p:spPr>
          <a:xfrm>
            <a:off x="8641080" y="4754880"/>
            <a:ext cx="2743200" cy="731520"/>
          </a:xfrm>
          <a:prstGeom prst="rect">
            <a:avLst/>
          </a:prstGeom>
          <a:solidFill>
            <a:schemeClr val="accent6"/>
          </a:solidFill>
          <a:ln w="15875">
            <a:solidFill>
              <a:schemeClr val="accent4"/>
            </a:solidFill>
            <a:prstDash val="solid"/>
          </a:ln>
        </p:spPr>
      </p:sp>
      <p:sp>
        <p:nvSpPr>
          <p:cNvPr id="25" name="Text 22"/>
          <p:cNvSpPr txBox="1"/>
          <p:nvPr/>
        </p:nvSpPr>
        <p:spPr>
          <a:xfrm>
            <a:off x="8641080" y="4754880"/>
            <a:ext cx="2743200" cy="731520"/>
          </a:xfrm>
          <a:prstGeom prst="rect">
            <a:avLst/>
          </a:prstGeom>
          <a:noFill/>
          <a:ln/>
        </p:spPr>
        <p:txBody>
          <a:bodyPr wrap="square" lIns="0" tIns="0" rIns="0" bIns="0" rtlCol="0" anchor="ctr"/>
          <a:lstStyle/>
          <a:p>
            <a:pPr algn="ctr" indent="0" marL="0">
              <a:buNone/>
            </a:pPr>
            <a:endParaRPr lang="en-US" sz="1500" dirty="0"/>
          </a:p>
        </p:txBody>
      </p:sp>
      <p:sp>
        <p:nvSpPr>
          <p:cNvPr id="26" name="Text 23"/>
          <p:cNvSpPr txBox="1"/>
          <p:nvPr/>
        </p:nvSpPr>
        <p:spPr>
          <a:xfrm>
            <a:off x="8778240" y="4754880"/>
            <a:ext cx="2514600" cy="73152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assistant</a:t>
            </a:r>
            <a:r>
              <a:rPr lang="en-US" sz="1300" dirty="0">
                <a:solidFill>
                  <a:schemeClr val="tx1"/>
                </a:solidFill>
              </a:rPr>
              <a:t>  the response</a:t>
            </a:r>
            <a:endParaRPr lang="en-US" sz="1300" dirty="0"/>
          </a:p>
          <a:p>
            <a:pPr indent="0" marL="0">
              <a:buNone/>
            </a:pPr>
            <a:r>
              <a:rPr lang="en-US" sz="1300" b="1" dirty="0">
                <a:solidFill>
                  <a:schemeClr val="accent4"/>
                </a:solidFill>
              </a:rPr>
              <a:t>trained on, with its end-of-turn token</a:t>
            </a:r>
            <a:endParaRPr lang="en-US" sz="1300" dirty="0"/>
          </a:p>
        </p:txBody>
      </p:sp>
      <p:sp>
        <p:nvSpPr>
          <p:cNvPr id="27" name="Text 24"/>
          <p:cNvSpPr txBox="1"/>
          <p:nvPr/>
        </p:nvSpPr>
        <p:spPr>
          <a:xfrm>
            <a:off x="548640" y="5806440"/>
            <a:ext cx="11064240" cy="274320"/>
          </a:xfrm>
          <a:prstGeom prst="rect">
            <a:avLst/>
          </a:prstGeom>
          <a:noFill/>
          <a:ln/>
        </p:spPr>
        <p:txBody>
          <a:bodyPr wrap="square" lIns="0" tIns="0" rIns="0" bIns="0" rtlCol="0" anchor="t"/>
          <a:lstStyle/>
          <a:p>
            <a:pPr indent="0" marL="0">
              <a:buNone/>
            </a:pPr>
            <a:r>
              <a:rPr lang="en-US" sz="1200" i="1" dirty="0">
                <a:solidFill>
                  <a:schemeClr val="tx2"/>
                </a:solidFill>
              </a:rPr>
              <a:t>Illustrative example, not a record from Qwen's data. Numbers and areas: Qwen2.5 technical report (Qwen Team, 2024).</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A chat template turns messages into one sequence</a:t>
            </a:r>
            <a:endParaRPr lang="en-US" sz="3200" dirty="0"/>
          </a:p>
        </p:txBody>
      </p:sp>
      <p:sp>
        <p:nvSpPr>
          <p:cNvPr id="4" name="Text 1"/>
          <p:cNvSpPr txBox="1"/>
          <p:nvPr/>
        </p:nvSpPr>
        <p:spPr>
          <a:xfrm>
            <a:off x="548640" y="1188720"/>
            <a:ext cx="475488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 list of messages</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4754880" cy="914400"/>
        </p:xfrm>
        <a:graphic>
          <a:graphicData uri="http://schemas.openxmlformats.org/drawingml/2006/table">
            <a:tbl>
              <a:tblPr/>
              <a:tblGrid>
                <a:gridCol w="1234440"/>
                <a:gridCol w="3520440"/>
              </a:tblGrid>
              <a:tr h="365760">
                <a:tc>
                  <a:txBody>
                    <a:bodyPr/>
                    <a:lstStyle/>
                    <a:p>
                      <a:pPr indent="0" marL="0">
                        <a:buNone/>
                      </a:pPr>
                      <a:r>
                        <a:rPr lang="en-US" sz="1400" b="1" dirty="0">
                          <a:solidFill>
                            <a:schemeClr val="bg1"/>
                          </a:solidFill>
                        </a:rPr>
                        <a:t>role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content</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9144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system</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You are a customer-support assistant for a food-delivery app. Be brief, polite, and specific.</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572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user</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my biryani arrived cold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68580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assistant</a:t>
                      </a:r>
                      <a:endParaRPr lang="en-US" sz="1300" dirty="0">
                        <a:latin typeface="Courier New" charset="0"/>
                        <a:ea typeface="Courier New" charset="0"/>
                        <a:cs typeface="Courier New" charset="0"/>
                      </a:endParaRPr>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sorry about that. we have refunded rs 250.</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6" name="Shape 2"/>
          <p:cNvSpPr/>
          <p:nvPr/>
        </p:nvSpPr>
        <p:spPr>
          <a:xfrm>
            <a:off x="5440680" y="2697480"/>
            <a:ext cx="457200" cy="0"/>
          </a:xfrm>
          <a:prstGeom prst="line">
            <a:avLst/>
          </a:prstGeom>
          <a:noFill/>
          <a:ln w="22225">
            <a:solidFill>
              <a:schemeClr val="tx2"/>
            </a:solidFill>
            <a:prstDash val="solid"/>
            <a:tailEnd type="triangle"/>
          </a:ln>
        </p:spPr>
      </p:sp>
      <p:sp>
        <p:nvSpPr>
          <p:cNvPr id="7" name="Text 3"/>
          <p:cNvSpPr txBox="1"/>
          <p:nvPr/>
        </p:nvSpPr>
        <p:spPr>
          <a:xfrm>
            <a:off x="6035040" y="1188720"/>
            <a:ext cx="557784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ChatML text (Qwen2.5)</a:t>
            </a:r>
            <a:endParaRPr lang="en-US" sz="1800" dirty="0"/>
          </a:p>
        </p:txBody>
      </p:sp>
      <p:sp>
        <p:nvSpPr>
          <p:cNvPr id="8" name="chatml"/>
          <p:cNvSpPr/>
          <p:nvPr/>
        </p:nvSpPr>
        <p:spPr>
          <a:xfrm>
            <a:off x="6035040" y="1645920"/>
            <a:ext cx="5577840" cy="2606040"/>
          </a:xfrm>
          <a:prstGeom prst="roundRect">
            <a:avLst>
              <a:gd name="adj" fmla="val 4211"/>
            </a:avLst>
          </a:prstGeom>
          <a:solidFill>
            <a:schemeClr val="bg2"/>
          </a:solidFill>
          <a:ln w="12700">
            <a:solidFill>
              <a:schemeClr val="bg2"/>
            </a:solidFill>
            <a:prstDash val="solid"/>
          </a:ln>
        </p:spPr>
      </p:sp>
      <p:sp>
        <p:nvSpPr>
          <p:cNvPr id="9" name="Text 5"/>
          <p:cNvSpPr txBox="1"/>
          <p:nvPr/>
        </p:nvSpPr>
        <p:spPr>
          <a:xfrm>
            <a:off x="6217920" y="1737360"/>
            <a:ext cx="5303520" cy="2423160"/>
          </a:xfrm>
          <a:prstGeom prst="rect">
            <a:avLst/>
          </a:prstGeom>
          <a:noFill/>
          <a:ln/>
        </p:spPr>
        <p:txBody>
          <a:bodyPr wrap="square" lIns="0" tIns="0" rIns="0" bIns="0" rtlCol="0" anchor="ctr"/>
          <a:lstStyle/>
          <a:p>
            <a:pPr indent="0" marL="0">
              <a:spcAft>
                <a:spcPts val="200"/>
              </a:spcAft>
              <a:buNone/>
            </a:pPr>
            <a:r>
              <a:rPr lang="en-US" sz="1300" b="1" dirty="0">
                <a:solidFill>
                  <a:schemeClr val="accent1"/>
                </a:solidFill>
                <a:latin typeface="Courier New" pitchFamily="34" charset="0"/>
                <a:ea typeface="Courier New" pitchFamily="34" charset="-122"/>
                <a:cs typeface="Courier New" pitchFamily="34" charset="-120"/>
              </a:rPr>
              <a:t>&lt;|im_start|&gt;</a:t>
            </a:r>
            <a:r>
              <a:rPr lang="en-US" sz="1300" b="1" dirty="0">
                <a:solidFill>
                  <a:schemeClr val="tx1"/>
                </a:solidFill>
                <a:latin typeface="Courier New" pitchFamily="34" charset="0"/>
                <a:ea typeface="Courier New" pitchFamily="34" charset="-122"/>
                <a:cs typeface="Courier New" pitchFamily="34" charset="-120"/>
              </a:rPr>
              <a:t>system</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You are a customer-support assistant …</a:t>
            </a:r>
            <a:r>
              <a:rPr lang="en-US" sz="1300" b="1" dirty="0">
                <a:solidFill>
                  <a:schemeClr val="accent1"/>
                </a:solidFill>
                <a:latin typeface="Courier New" pitchFamily="34" charset="0"/>
                <a:ea typeface="Courier New" pitchFamily="34" charset="-122"/>
                <a:cs typeface="Courier New" pitchFamily="34" charset="-120"/>
              </a:rPr>
              <a:t>&lt;|im_end|&gt;</a:t>
            </a:r>
            <a:endParaRPr lang="en-US" sz="1300" dirty="0"/>
          </a:p>
          <a:p>
            <a:pPr indent="0" marL="0">
              <a:spcAft>
                <a:spcPts val="200"/>
              </a:spcAft>
              <a:buNone/>
            </a:pPr>
            <a:r>
              <a:rPr lang="en-US" sz="1300" b="1" dirty="0">
                <a:solidFill>
                  <a:schemeClr val="accent1"/>
                </a:solidFill>
                <a:latin typeface="Courier New" pitchFamily="34" charset="0"/>
                <a:ea typeface="Courier New" pitchFamily="34" charset="-122"/>
                <a:cs typeface="Courier New" pitchFamily="34" charset="-120"/>
              </a:rPr>
              <a:t>&lt;|im_start|&gt;</a:t>
            </a:r>
            <a:r>
              <a:rPr lang="en-US" sz="1300" b="1" dirty="0">
                <a:solidFill>
                  <a:schemeClr val="tx1"/>
                </a:solidFill>
                <a:latin typeface="Courier New" pitchFamily="34" charset="0"/>
                <a:ea typeface="Courier New" pitchFamily="34" charset="-122"/>
                <a:cs typeface="Courier New" pitchFamily="34" charset="-120"/>
              </a:rPr>
              <a:t>user</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my biryani arrived cold</a:t>
            </a:r>
            <a:r>
              <a:rPr lang="en-US" sz="1300" b="1" dirty="0">
                <a:solidFill>
                  <a:schemeClr val="accent1"/>
                </a:solidFill>
                <a:latin typeface="Courier New" pitchFamily="34" charset="0"/>
                <a:ea typeface="Courier New" pitchFamily="34" charset="-122"/>
                <a:cs typeface="Courier New" pitchFamily="34" charset="-120"/>
              </a:rPr>
              <a:t>&lt;|im_end|&gt;</a:t>
            </a:r>
            <a:endParaRPr lang="en-US" sz="1300" dirty="0"/>
          </a:p>
          <a:p>
            <a:pPr indent="0" marL="0">
              <a:spcAft>
                <a:spcPts val="200"/>
              </a:spcAft>
              <a:buNone/>
            </a:pPr>
            <a:r>
              <a:rPr lang="en-US" sz="1300" b="1" dirty="0">
                <a:solidFill>
                  <a:schemeClr val="accent1"/>
                </a:solidFill>
                <a:latin typeface="Courier New" pitchFamily="34" charset="0"/>
                <a:ea typeface="Courier New" pitchFamily="34" charset="-122"/>
                <a:cs typeface="Courier New" pitchFamily="34" charset="-120"/>
              </a:rPr>
              <a:t>&lt;|im_start|&gt;</a:t>
            </a:r>
            <a:r>
              <a:rPr lang="en-US" sz="1300" b="1" dirty="0">
                <a:solidFill>
                  <a:schemeClr val="tx1"/>
                </a:solidFill>
                <a:latin typeface="Courier New" pitchFamily="34" charset="0"/>
                <a:ea typeface="Courier New" pitchFamily="34" charset="-122"/>
                <a:cs typeface="Courier New" pitchFamily="34" charset="-120"/>
              </a:rPr>
              <a:t>assistant</a:t>
            </a:r>
            <a:endParaRPr lang="en-US" sz="1300" dirty="0"/>
          </a:p>
          <a:p>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sorry about that. we have refunded rs 250.</a:t>
            </a:r>
            <a:r>
              <a:rPr lang="en-US" sz="1300" b="1" dirty="0">
                <a:solidFill>
                  <a:schemeClr val="accent1"/>
                </a:solidFill>
                <a:latin typeface="Courier New" pitchFamily="34" charset="0"/>
                <a:ea typeface="Courier New" pitchFamily="34" charset="-122"/>
                <a:cs typeface="Courier New" pitchFamily="34" charset="-120"/>
              </a:rPr>
              <a:t>&lt;|im_end|&gt;</a:t>
            </a:r>
            <a:endParaRPr lang="en-US" sz="1300" dirty="0"/>
          </a:p>
        </p:txBody>
      </p:sp>
      <p:sp>
        <p:nvSpPr>
          <p:cNvPr id="10" name="legend 1"/>
          <p:cNvSpPr/>
          <p:nvPr/>
        </p:nvSpPr>
        <p:spPr>
          <a:xfrm>
            <a:off x="548640" y="4526280"/>
            <a:ext cx="3474720" cy="1371600"/>
          </a:xfrm>
          <a:prstGeom prst="roundRect">
            <a:avLst>
              <a:gd name="adj" fmla="val 8000"/>
            </a:avLst>
          </a:prstGeom>
          <a:solidFill>
            <a:schemeClr val="bg2"/>
          </a:solidFill>
          <a:ln w="12700">
            <a:solidFill>
              <a:schemeClr val="bg2"/>
            </a:solidFill>
            <a:prstDash val="solid"/>
          </a:ln>
        </p:spPr>
      </p:sp>
      <p:sp>
        <p:nvSpPr>
          <p:cNvPr id="11" name="Text 7"/>
          <p:cNvSpPr txBox="1"/>
          <p:nvPr/>
        </p:nvSpPr>
        <p:spPr>
          <a:xfrm>
            <a:off x="777240" y="4617720"/>
            <a:ext cx="3017520" cy="41148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&lt;|im_start|&gt;</a:t>
            </a:r>
            <a:r>
              <a:rPr lang="en-US" sz="1500" b="1" dirty="0">
                <a:solidFill>
                  <a:schemeClr val="tx1"/>
                </a:solidFill>
                <a:latin typeface="Courier New" pitchFamily="34" charset="0"/>
                <a:ea typeface="Courier New" pitchFamily="34" charset="-122"/>
                <a:cs typeface="Courier New" pitchFamily="34" charset="-120"/>
              </a:rPr>
              <a:t> role</a:t>
            </a:r>
            <a:endParaRPr lang="en-US" sz="1500" dirty="0"/>
          </a:p>
        </p:txBody>
      </p:sp>
      <p:sp>
        <p:nvSpPr>
          <p:cNvPr id="12" name="Text 8"/>
          <p:cNvSpPr txBox="1"/>
          <p:nvPr/>
        </p:nvSpPr>
        <p:spPr>
          <a:xfrm>
            <a:off x="777240" y="5029200"/>
            <a:ext cx="3017520" cy="777240"/>
          </a:xfrm>
          <a:prstGeom prst="rect">
            <a:avLst/>
          </a:prstGeom>
          <a:noFill/>
          <a:ln/>
        </p:spPr>
        <p:txBody>
          <a:bodyPr wrap="square" lIns="0" tIns="0" rIns="0" bIns="0" rtlCol="0" anchor="t"/>
          <a:lstStyle/>
          <a:p>
            <a:pPr indent="0" marL="0">
              <a:buNone/>
            </a:pPr>
            <a:r>
              <a:rPr lang="en-US" sz="1400" dirty="0">
                <a:solidFill>
                  <a:schemeClr val="tx2"/>
                </a:solidFill>
              </a:rPr>
              <a:t>Opens a message; the word after it says who is speaking</a:t>
            </a:r>
            <a:endParaRPr lang="en-US" sz="1400" dirty="0"/>
          </a:p>
        </p:txBody>
      </p:sp>
      <p:sp>
        <p:nvSpPr>
          <p:cNvPr id="13" name="legend 2"/>
          <p:cNvSpPr/>
          <p:nvPr/>
        </p:nvSpPr>
        <p:spPr>
          <a:xfrm>
            <a:off x="4297680" y="4526280"/>
            <a:ext cx="3474720" cy="1371600"/>
          </a:xfrm>
          <a:prstGeom prst="roundRect">
            <a:avLst>
              <a:gd name="adj" fmla="val 8000"/>
            </a:avLst>
          </a:prstGeom>
          <a:solidFill>
            <a:schemeClr val="bg2"/>
          </a:solidFill>
          <a:ln w="12700">
            <a:solidFill>
              <a:schemeClr val="bg2"/>
            </a:solidFill>
            <a:prstDash val="solid"/>
          </a:ln>
        </p:spPr>
      </p:sp>
      <p:sp>
        <p:nvSpPr>
          <p:cNvPr id="14" name="Text 10"/>
          <p:cNvSpPr txBox="1"/>
          <p:nvPr/>
        </p:nvSpPr>
        <p:spPr>
          <a:xfrm>
            <a:off x="4526280" y="4617720"/>
            <a:ext cx="3017520" cy="41148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&lt;|im_end|&gt;</a:t>
            </a:r>
            <a:endParaRPr lang="en-US" sz="1500" dirty="0"/>
          </a:p>
        </p:txBody>
      </p:sp>
      <p:sp>
        <p:nvSpPr>
          <p:cNvPr id="15" name="Text 11"/>
          <p:cNvSpPr txBox="1"/>
          <p:nvPr/>
        </p:nvSpPr>
        <p:spPr>
          <a:xfrm>
            <a:off x="4526280" y="5029200"/>
            <a:ext cx="3017520" cy="777240"/>
          </a:xfrm>
          <a:prstGeom prst="rect">
            <a:avLst/>
          </a:prstGeom>
          <a:noFill/>
          <a:ln/>
        </p:spPr>
        <p:txBody>
          <a:bodyPr wrap="square" lIns="0" tIns="0" rIns="0" bIns="0" rtlCol="0" anchor="t"/>
          <a:lstStyle/>
          <a:p>
            <a:pPr indent="0" marL="0">
              <a:buNone/>
            </a:pPr>
            <a:r>
              <a:rPr lang="en-US" sz="1400" dirty="0">
                <a:solidFill>
                  <a:schemeClr val="tx2"/>
                </a:solidFill>
              </a:rPr>
              <a:t>Closes the message. After a reply, it is the signal to stop generating</a:t>
            </a:r>
            <a:endParaRPr lang="en-US" sz="1400" dirty="0"/>
          </a:p>
        </p:txBody>
      </p:sp>
      <p:sp>
        <p:nvSpPr>
          <p:cNvPr id="16" name="legend 3"/>
          <p:cNvSpPr/>
          <p:nvPr/>
        </p:nvSpPr>
        <p:spPr>
          <a:xfrm>
            <a:off x="8046720" y="4526280"/>
            <a:ext cx="3474720" cy="1371600"/>
          </a:xfrm>
          <a:prstGeom prst="roundRect">
            <a:avLst>
              <a:gd name="adj" fmla="val 8000"/>
            </a:avLst>
          </a:prstGeom>
          <a:solidFill>
            <a:schemeClr val="bg2"/>
          </a:solidFill>
          <a:ln w="12700">
            <a:solidFill>
              <a:schemeClr val="bg2"/>
            </a:solidFill>
            <a:prstDash val="solid"/>
          </a:ln>
        </p:spPr>
      </p:sp>
      <p:sp>
        <p:nvSpPr>
          <p:cNvPr id="17" name="Text 13"/>
          <p:cNvSpPr txBox="1"/>
          <p:nvPr/>
        </p:nvSpPr>
        <p:spPr>
          <a:xfrm>
            <a:off x="8275320" y="4617720"/>
            <a:ext cx="3017520" cy="411480"/>
          </a:xfrm>
          <a:prstGeom prst="rect">
            <a:avLst/>
          </a:prstGeom>
          <a:noFill/>
          <a:ln/>
        </p:spPr>
        <p:txBody>
          <a:bodyPr wrap="square" lIns="0" tIns="0" rIns="0" bIns="0" rtlCol="0" anchor="t"/>
          <a:lstStyle/>
          <a:p>
            <a:pPr indent="0" marL="0">
              <a:buNone/>
            </a:pPr>
            <a:r>
              <a:rPr lang="en-US" sz="1500" b="1" dirty="0">
                <a:solidFill>
                  <a:schemeClr val="tx1"/>
                </a:solidFill>
              </a:rPr>
              <a:t>Single special tokens</a:t>
            </a:r>
            <a:endParaRPr lang="en-US" sz="1500" dirty="0"/>
          </a:p>
        </p:txBody>
      </p:sp>
      <p:sp>
        <p:nvSpPr>
          <p:cNvPr id="18" name="Text 14"/>
          <p:cNvSpPr txBox="1"/>
          <p:nvPr/>
        </p:nvSpPr>
        <p:spPr>
          <a:xfrm>
            <a:off x="8275320" y="5029200"/>
            <a:ext cx="3017520" cy="777240"/>
          </a:xfrm>
          <a:prstGeom prst="rect">
            <a:avLst/>
          </a:prstGeom>
          <a:noFill/>
          <a:ln/>
        </p:spPr>
        <p:txBody>
          <a:bodyPr wrap="square" lIns="0" tIns="0" rIns="0" bIns="0" rtlCol="0" anchor="t"/>
          <a:lstStyle/>
          <a:p>
            <a:pPr indent="0" marL="0">
              <a:buNone/>
            </a:pPr>
            <a:r>
              <a:rPr lang="en-US" sz="1400" dirty="0">
                <a:solidFill>
                  <a:schemeClr val="tx2"/>
                </a:solidFill>
              </a:rPr>
              <a:t>Not split into &lt;, |, im …; learned as turn boundaries during instruction tuning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The template ships with the tokenizer</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4937760"/>
                <a:gridCol w="4206240"/>
                <a:gridCol w="1920240"/>
              </a:tblGrid>
              <a:tr h="365760">
                <a:tc>
                  <a:txBody>
                    <a:bodyPr/>
                    <a:lstStyle/>
                    <a:p>
                      <a:pPr indent="0" marL="0">
                        <a:buNone/>
                      </a:pPr>
                      <a:r>
                        <a:rPr lang="en-US" sz="1400" b="1" dirty="0">
                          <a:solidFill>
                            <a:schemeClr val="bg1"/>
                          </a:solidFill>
                        </a:rPr>
                        <a:t>Piece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Where it is stored</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Provided by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411480">
                <a:tc>
                  <a:txBody>
                    <a:bodyP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&lt;|im_start|&gt;</a:t>
                      </a:r>
                      <a:r>
                        <a:rPr lang="en-US" sz="1400" dirty="0">
                          <a:solidFill>
                            <a:schemeClr val="tx1"/>
                          </a:solidFill>
                        </a:rPr>
                        <a:t> (151644), </a:t>
                      </a:r>
                      <a:r>
                        <a:rPr lang="en-US" sz="1300" b="1" dirty="0">
                          <a:solidFill>
                            <a:schemeClr val="accent1"/>
                          </a:solidFill>
                          <a:latin typeface="Courier New" pitchFamily="34" charset="0"/>
                          <a:ea typeface="Courier New" pitchFamily="34" charset="-122"/>
                          <a:cs typeface="Courier New" pitchFamily="34" charset="-120"/>
                        </a:rPr>
                        <a:t>&lt;|im_end|&gt;</a:t>
                      </a:r>
                      <a:r>
                        <a:rPr lang="en-US" sz="1400" dirty="0">
                          <a:solidFill>
                            <a:schemeClr val="tx1"/>
                          </a:solidFill>
                        </a:rPr>
                        <a:t> (151645)</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tokenizer's vocabulary, as special tokens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Qwen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411480">
                <a:tc>
                  <a:txBody>
                    <a:bodyPr/>
                    <a:lstStyle/>
                    <a:p>
                      <a:pPr indent="0" marL="0">
                        <a:buNone/>
                      </a:pPr>
                      <a:r>
                        <a:rPr lang="en-US" sz="1400" dirty="0">
                          <a:solidFill>
                            <a:schemeClr val="tx1"/>
                          </a:solidFill>
                        </a:rPr>
                        <a:t>The rule that writes messages as ChatML (a Jinja template)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chat_template</a:t>
                      </a:r>
                      <a:r>
                        <a:rPr lang="en-US" sz="1400" dirty="0">
                          <a:solidFill>
                            <a:schemeClr val="tx1"/>
                          </a:solidFill>
                        </a:rPr>
                        <a:t> in </a:t>
                      </a:r>
                      <a:r>
                        <a:rPr lang="en-US" sz="1300" dirty="0">
                          <a:solidFill>
                            <a:schemeClr val="tx1"/>
                          </a:solidFill>
                          <a:latin typeface="Courier New" pitchFamily="34" charset="0"/>
                          <a:ea typeface="Courier New" pitchFamily="34" charset="-122"/>
                          <a:cs typeface="Courier New" pitchFamily="34" charset="-120"/>
                        </a:rPr>
                        <a:t>tokenizer_config.json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Qwen</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411480">
                <a:tc>
                  <a:txBody>
                    <a:bodyPr/>
                    <a:lstStyle/>
                    <a:p>
                      <a:pPr indent="0" marL="0">
                        <a:buNone/>
                      </a:pPr>
                      <a:r>
                        <a:rPr lang="en-US" sz="1300" dirty="0">
                          <a:solidFill>
                            <a:schemeClr val="tx1"/>
                          </a:solidFill>
                          <a:latin typeface="Courier New" pitchFamily="34" charset="0"/>
                          <a:ea typeface="Courier New" pitchFamily="34" charset="-122"/>
                          <a:cs typeface="Courier New" pitchFamily="34" charset="-120"/>
                        </a:rPr>
                        <a:t>apply_chat_template</a:t>
                      </a:r>
                      <a:r>
                        <a:rPr lang="en-US" sz="1400" dirty="0">
                          <a:solidFill>
                            <a:schemeClr val="tx1"/>
                          </a:solidFill>
                        </a:rPr>
                        <a:t>: runs the tokenizer's template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a:t>
                      </a:r>
                      <a:r>
                        <a:rPr lang="en-US" sz="1300" dirty="0">
                          <a:solidFill>
                            <a:schemeClr val="tx1"/>
                          </a:solidFill>
                          <a:latin typeface="Courier New" pitchFamily="34" charset="0"/>
                          <a:ea typeface="Courier New" pitchFamily="34" charset="-122"/>
                          <a:cs typeface="Courier New" pitchFamily="34" charset="-120"/>
                        </a:rPr>
                        <a:t>transformers</a:t>
                      </a:r>
                      <a:r>
                        <a:rPr lang="en-US" sz="1400" dirty="0">
                          <a:solidFill>
                            <a:schemeClr val="tx1"/>
                          </a:solidFill>
                        </a:rPr>
                        <a:t> library</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Hugging Face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48640" y="3063240"/>
            <a:ext cx="7772400" cy="320040"/>
          </a:xfrm>
          <a:prstGeom prst="rect">
            <a:avLst/>
          </a:prstGeom>
          <a:noFill/>
          <a:ln/>
        </p:spPr>
        <p:txBody>
          <a:bodyPr wrap="square" lIns="0" tIns="0" rIns="0" bIns="0" rtlCol="0" anchor="t"/>
          <a:lstStyle/>
          <a:p>
            <a:pPr indent="0" marL="0">
              <a:buNone/>
            </a:pPr>
            <a:r>
              <a:rPr lang="en-US" sz="1400" b="1" dirty="0">
                <a:solidFill>
                  <a:schemeClr val="tx2"/>
                </a:solidFill>
              </a:rPr>
              <a:t>chat_template (Qwen2.5-0.5B-Instruct, shortened)</a:t>
            </a:r>
            <a:endParaRPr lang="en-US" sz="1400" dirty="0"/>
          </a:p>
        </p:txBody>
      </p:sp>
      <p:sp>
        <p:nvSpPr>
          <p:cNvPr id="6" name="template"/>
          <p:cNvSpPr/>
          <p:nvPr/>
        </p:nvSpPr>
        <p:spPr>
          <a:xfrm>
            <a:off x="548640" y="3429000"/>
            <a:ext cx="7772400" cy="2697480"/>
          </a:xfrm>
          <a:prstGeom prst="roundRect">
            <a:avLst>
              <a:gd name="adj" fmla="val 4068"/>
            </a:avLst>
          </a:prstGeom>
          <a:solidFill>
            <a:schemeClr val="bg2"/>
          </a:solidFill>
          <a:ln w="12700">
            <a:solidFill>
              <a:schemeClr val="bg2"/>
            </a:solidFill>
            <a:prstDash val="solid"/>
          </a:ln>
        </p:spPr>
      </p:sp>
      <p:sp>
        <p:nvSpPr>
          <p:cNvPr id="7" name="Text 3"/>
          <p:cNvSpPr txBox="1"/>
          <p:nvPr/>
        </p:nvSpPr>
        <p:spPr>
          <a:xfrm>
            <a:off x="731520" y="3474720"/>
            <a:ext cx="7498080" cy="2606040"/>
          </a:xfrm>
          <a:prstGeom prst="rect">
            <a:avLst/>
          </a:prstGeom>
          <a:noFill/>
          <a:ln/>
        </p:spPr>
        <p:txBody>
          <a:bodyPr wrap="square" lIns="0" tIns="0" rIns="0" bIns="0" rtlCol="0" anchor="ctr"/>
          <a:lstStyle/>
          <a:p>
            <a:pPr indent="0" marL="0">
              <a:buNone/>
            </a:pPr>
            <a:r>
              <a:rPr lang="en-US" sz="1200" dirty="0">
                <a:solidFill>
                  <a:schemeClr val="tx1"/>
                </a:solidFill>
                <a:latin typeface="Courier New" pitchFamily="34" charset="0"/>
                <a:ea typeface="Courier New" pitchFamily="34" charset="-122"/>
                <a:cs typeface="Courier New" pitchFamily="34" charset="-120"/>
              </a:rPr>
              <a:t>{%- if messages[0]['role'] == 'system'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 '</a:t>
            </a:r>
            <a:r>
              <a:rPr lang="en-US" sz="1200" b="1" dirty="0">
                <a:solidFill>
                  <a:schemeClr val="accent1"/>
                </a:solidFill>
                <a:latin typeface="Courier New" pitchFamily="34" charset="0"/>
                <a:ea typeface="Courier New" pitchFamily="34" charset="-122"/>
                <a:cs typeface="Courier New" pitchFamily="34" charset="-120"/>
              </a:rPr>
              <a:t>&lt;|im_start|&gt;</a:t>
            </a:r>
            <a:r>
              <a:rPr lang="en-US" sz="1200" dirty="0">
                <a:solidFill>
                  <a:schemeClr val="tx1"/>
                </a:solidFill>
                <a:latin typeface="Courier New" pitchFamily="34" charset="0"/>
                <a:ea typeface="Courier New" pitchFamily="34" charset="-122"/>
                <a:cs typeface="Courier New" pitchFamily="34" charset="-120"/>
              </a:rPr>
              <a:t>system\n' + messages[0]['content'] + '</a:t>
            </a:r>
            <a:r>
              <a:rPr lang="en-US" sz="1200" b="1" dirty="0">
                <a:solidFill>
                  <a:schemeClr val="accent1"/>
                </a:solidFill>
                <a:latin typeface="Courier New" pitchFamily="34" charset="0"/>
                <a:ea typeface="Courier New" pitchFamily="34" charset="-122"/>
                <a:cs typeface="Courier New" pitchFamily="34" charset="-120"/>
              </a:rPr>
              <a:t>&lt;|im_end|&gt;</a:t>
            </a:r>
            <a:r>
              <a:rPr lang="en-US" sz="1200" dirty="0">
                <a:solidFill>
                  <a:schemeClr val="tx1"/>
                </a:solidFill>
                <a:latin typeface="Courier New" pitchFamily="34" charset="0"/>
                <a:ea typeface="Courier New" pitchFamily="34" charset="-122"/>
                <a:cs typeface="Courier New" pitchFamily="34" charset="-120"/>
              </a:rPr>
              <a:t>\n'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else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 '</a:t>
            </a:r>
            <a:r>
              <a:rPr lang="en-US" sz="1200" b="1" dirty="0">
                <a:solidFill>
                  <a:schemeClr val="accent1"/>
                </a:solidFill>
                <a:latin typeface="Courier New" pitchFamily="34" charset="0"/>
                <a:ea typeface="Courier New" pitchFamily="34" charset="-122"/>
                <a:cs typeface="Courier New" pitchFamily="34" charset="-120"/>
              </a:rPr>
              <a:t>&lt;|im_start|&gt;</a:t>
            </a:r>
            <a:r>
              <a:rPr lang="en-US" sz="1200" dirty="0">
                <a:solidFill>
                  <a:schemeClr val="tx1"/>
                </a:solidFill>
                <a:latin typeface="Courier New" pitchFamily="34" charset="0"/>
                <a:ea typeface="Courier New" pitchFamily="34" charset="-122"/>
                <a:cs typeface="Courier New" pitchFamily="34" charset="-120"/>
              </a:rPr>
              <a:t>system\nYou are Qwen, created by Alibaba Cloud. …'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endif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for message in messages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 '</a:t>
            </a:r>
            <a:r>
              <a:rPr lang="en-US" sz="1200" b="1" dirty="0">
                <a:solidFill>
                  <a:schemeClr val="accent1"/>
                </a:solidFill>
                <a:latin typeface="Courier New" pitchFamily="34" charset="0"/>
                <a:ea typeface="Courier New" pitchFamily="34" charset="-122"/>
                <a:cs typeface="Courier New" pitchFamily="34" charset="-120"/>
              </a:rPr>
              <a:t>&lt;|im_start|&gt;</a:t>
            </a:r>
            <a:r>
              <a:rPr lang="en-US" sz="1200" dirty="0">
                <a:solidFill>
                  <a:schemeClr val="tx1"/>
                </a:solidFill>
                <a:latin typeface="Courier New" pitchFamily="34" charset="0"/>
                <a:ea typeface="Courier New" pitchFamily="34" charset="-122"/>
                <a:cs typeface="Courier New" pitchFamily="34" charset="-120"/>
              </a:rPr>
              <a:t>' + message.role + '\n' + message.content + '</a:t>
            </a:r>
            <a:r>
              <a:rPr lang="en-US" sz="1200" b="1" dirty="0">
                <a:solidFill>
                  <a:schemeClr val="accent1"/>
                </a:solidFill>
                <a:latin typeface="Courier New" pitchFamily="34" charset="0"/>
                <a:ea typeface="Courier New" pitchFamily="34" charset="-122"/>
                <a:cs typeface="Courier New" pitchFamily="34" charset="-120"/>
              </a:rPr>
              <a:t>&lt;|im_end|&gt;</a:t>
            </a:r>
            <a:r>
              <a:rPr lang="en-US" sz="1200" dirty="0">
                <a:solidFill>
                  <a:schemeClr val="tx1"/>
                </a:solidFill>
                <a:latin typeface="Courier New" pitchFamily="34" charset="0"/>
                <a:ea typeface="Courier New" pitchFamily="34" charset="-122"/>
                <a:cs typeface="Courier New" pitchFamily="34" charset="-120"/>
              </a:rPr>
              <a:t>\n'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endfor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if add_generation_prompt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 '</a:t>
            </a:r>
            <a:r>
              <a:rPr lang="en-US" sz="1200" b="1" dirty="0">
                <a:solidFill>
                  <a:schemeClr val="accent1"/>
                </a:solidFill>
                <a:latin typeface="Courier New" pitchFamily="34" charset="0"/>
                <a:ea typeface="Courier New" pitchFamily="34" charset="-122"/>
                <a:cs typeface="Courier New" pitchFamily="34" charset="-120"/>
              </a:rPr>
              <a:t>&lt;|im_start|&gt;</a:t>
            </a:r>
            <a:r>
              <a:rPr lang="en-US" sz="1200" dirty="0">
                <a:solidFill>
                  <a:schemeClr val="tx1"/>
                </a:solidFill>
                <a:latin typeface="Courier New" pitchFamily="34" charset="0"/>
                <a:ea typeface="Courier New" pitchFamily="34" charset="-122"/>
                <a:cs typeface="Courier New" pitchFamily="34" charset="-120"/>
              </a:rPr>
              <a:t>assistant\n' }}</a:t>
            </a:r>
            <a:endParaRPr lang="en-US" sz="1200" dirty="0"/>
          </a:p>
          <a:p>
            <a:pPr indent="0" marL="0">
              <a:buNone/>
            </a:pPr>
            <a:r>
              <a:rPr lang="en-US" sz="1200" dirty="0">
                <a:solidFill>
                  <a:schemeClr val="tx1"/>
                </a:solidFill>
                <a:latin typeface="Courier New" pitchFamily="34" charset="0"/>
                <a:ea typeface="Courier New" pitchFamily="34" charset="-122"/>
                <a:cs typeface="Courier New" pitchFamily="34" charset="-120"/>
              </a:rPr>
              <a:t>{%- endif %}</a:t>
            </a:r>
            <a:endParaRPr lang="en-US" sz="1200" dirty="0"/>
          </a:p>
        </p:txBody>
      </p:sp>
      <p:sp>
        <p:nvSpPr>
          <p:cNvPr id="8" name="part 1"/>
          <p:cNvSpPr/>
          <p:nvPr/>
        </p:nvSpPr>
        <p:spPr>
          <a:xfrm>
            <a:off x="8549640" y="3429000"/>
            <a:ext cx="3063240" cy="914400"/>
          </a:xfrm>
          <a:prstGeom prst="roundRect">
            <a:avLst>
              <a:gd name="adj" fmla="val 12000"/>
            </a:avLst>
          </a:prstGeom>
          <a:solidFill>
            <a:schemeClr val="accent5"/>
          </a:solidFill>
          <a:ln w="12700">
            <a:solidFill>
              <a:schemeClr val="accent5"/>
            </a:solidFill>
            <a:prstDash val="solid"/>
          </a:ln>
        </p:spPr>
      </p:sp>
      <p:sp>
        <p:nvSpPr>
          <p:cNvPr id="9" name="Shape 5"/>
          <p:cNvSpPr/>
          <p:nvPr/>
        </p:nvSpPr>
        <p:spPr>
          <a:xfrm>
            <a:off x="8686800" y="3520440"/>
            <a:ext cx="365760" cy="365760"/>
          </a:xfrm>
          <a:prstGeom prst="ellipse">
            <a:avLst/>
          </a:prstGeom>
          <a:solidFill>
            <a:schemeClr val="accent1"/>
          </a:solidFill>
          <a:ln w="12700">
            <a:solidFill>
              <a:schemeClr val="accent1"/>
            </a:solidFill>
            <a:prstDash val="solid"/>
          </a:ln>
        </p:spPr>
      </p:sp>
      <p:sp>
        <p:nvSpPr>
          <p:cNvPr id="10" name="Text 6"/>
          <p:cNvSpPr txBox="1"/>
          <p:nvPr/>
        </p:nvSpPr>
        <p:spPr>
          <a:xfrm>
            <a:off x="8686800" y="352044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1" name="Text 7"/>
          <p:cNvSpPr txBox="1"/>
          <p:nvPr/>
        </p:nvSpPr>
        <p:spPr>
          <a:xfrm>
            <a:off x="9144000" y="3474720"/>
            <a:ext cx="2377440" cy="822960"/>
          </a:xfrm>
          <a:prstGeom prst="rect">
            <a:avLst/>
          </a:prstGeom>
          <a:noFill/>
          <a:ln/>
        </p:spPr>
        <p:txBody>
          <a:bodyPr wrap="square" lIns="0" tIns="0" rIns="0" bIns="0" rtlCol="0" anchor="ctr"/>
          <a:lstStyle/>
          <a:p>
            <a:pPr indent="0" marL="0">
              <a:buNone/>
            </a:pPr>
            <a:r>
              <a:rPr lang="en-US" sz="1300" b="1" dirty="0">
                <a:solidFill>
                  <a:schemeClr val="tx1"/>
                </a:solidFill>
              </a:rPr>
              <a:t>System message</a:t>
            </a:r>
            <a:endParaRPr lang="en-US" sz="1300" dirty="0"/>
          </a:p>
          <a:p>
            <a:pPr indent="0" marL="0">
              <a:buNone/>
            </a:pPr>
            <a:r>
              <a:rPr lang="en-US" sz="1300" dirty="0">
                <a:solidFill>
                  <a:schemeClr val="tx2"/>
                </a:solidFill>
              </a:rPr>
              <a:t>Yours, or Qwen's default: “You are Qwen, created by Alibaba Cloud. You are a helpful assistant.”</a:t>
            </a:r>
            <a:endParaRPr lang="en-US" sz="1300" dirty="0"/>
          </a:p>
        </p:txBody>
      </p:sp>
      <p:sp>
        <p:nvSpPr>
          <p:cNvPr id="12" name="part 2"/>
          <p:cNvSpPr/>
          <p:nvPr/>
        </p:nvSpPr>
        <p:spPr>
          <a:xfrm>
            <a:off x="8549640" y="4434840"/>
            <a:ext cx="3063240" cy="731520"/>
          </a:xfrm>
          <a:prstGeom prst="roundRect">
            <a:avLst>
              <a:gd name="adj" fmla="val 15000"/>
            </a:avLst>
          </a:prstGeom>
          <a:solidFill>
            <a:schemeClr val="bg2"/>
          </a:solidFill>
          <a:ln w="12700">
            <a:solidFill>
              <a:schemeClr val="bg2"/>
            </a:solidFill>
            <a:prstDash val="solid"/>
          </a:ln>
        </p:spPr>
      </p:sp>
      <p:sp>
        <p:nvSpPr>
          <p:cNvPr id="13" name="Shape 9"/>
          <p:cNvSpPr/>
          <p:nvPr/>
        </p:nvSpPr>
        <p:spPr>
          <a:xfrm>
            <a:off x="8686800" y="4526280"/>
            <a:ext cx="365760" cy="365760"/>
          </a:xfrm>
          <a:prstGeom prst="ellipse">
            <a:avLst/>
          </a:prstGeom>
          <a:solidFill>
            <a:schemeClr val="accent4"/>
          </a:solidFill>
          <a:ln w="12700">
            <a:solidFill>
              <a:schemeClr val="accent4"/>
            </a:solidFill>
            <a:prstDash val="solid"/>
          </a:ln>
        </p:spPr>
      </p:sp>
      <p:sp>
        <p:nvSpPr>
          <p:cNvPr id="14" name="Text 10"/>
          <p:cNvSpPr txBox="1"/>
          <p:nvPr/>
        </p:nvSpPr>
        <p:spPr>
          <a:xfrm>
            <a:off x="8686800" y="452628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5" name="Text 11"/>
          <p:cNvSpPr txBox="1"/>
          <p:nvPr/>
        </p:nvSpPr>
        <p:spPr>
          <a:xfrm>
            <a:off x="9144000" y="4480560"/>
            <a:ext cx="2377440" cy="640080"/>
          </a:xfrm>
          <a:prstGeom prst="rect">
            <a:avLst/>
          </a:prstGeom>
          <a:noFill/>
          <a:ln/>
        </p:spPr>
        <p:txBody>
          <a:bodyPr wrap="square" lIns="0" tIns="0" rIns="0" bIns="0" rtlCol="0" anchor="ctr"/>
          <a:lstStyle/>
          <a:p>
            <a:pPr indent="0" marL="0">
              <a:buNone/>
            </a:pPr>
            <a:r>
              <a:rPr lang="en-US" sz="1300" b="1" dirty="0">
                <a:solidFill>
                  <a:schemeClr val="tx1"/>
                </a:solidFill>
              </a:rPr>
              <a:t>Each turn</a:t>
            </a:r>
            <a:endParaRPr lang="en-US" sz="1300" dirty="0"/>
          </a:p>
          <a:p>
            <a:pPr indent="0" marL="0">
              <a:buNone/>
            </a:pPr>
            <a:r>
              <a:rPr lang="en-US" sz="1300" dirty="0">
                <a:solidFill>
                  <a:schemeClr val="tx2"/>
                </a:solidFill>
              </a:rPr>
              <a:t>role, newline, content, then the end-of-turn token</a:t>
            </a:r>
            <a:endParaRPr lang="en-US" sz="1300" dirty="0"/>
          </a:p>
        </p:txBody>
      </p:sp>
      <p:sp>
        <p:nvSpPr>
          <p:cNvPr id="16" name="part 3"/>
          <p:cNvSpPr/>
          <p:nvPr/>
        </p:nvSpPr>
        <p:spPr>
          <a:xfrm>
            <a:off x="8549640" y="5257800"/>
            <a:ext cx="3063240" cy="868680"/>
          </a:xfrm>
          <a:prstGeom prst="roundRect">
            <a:avLst>
              <a:gd name="adj" fmla="val 12632"/>
            </a:avLst>
          </a:prstGeom>
          <a:solidFill>
            <a:schemeClr val="bg2"/>
          </a:solidFill>
          <a:ln w="12700">
            <a:solidFill>
              <a:schemeClr val="bg2"/>
            </a:solidFill>
            <a:prstDash val="solid"/>
          </a:ln>
        </p:spPr>
      </p:sp>
      <p:sp>
        <p:nvSpPr>
          <p:cNvPr id="17" name="Shape 13"/>
          <p:cNvSpPr/>
          <p:nvPr/>
        </p:nvSpPr>
        <p:spPr>
          <a:xfrm>
            <a:off x="8686800" y="5349240"/>
            <a:ext cx="365760" cy="365760"/>
          </a:xfrm>
          <a:prstGeom prst="ellipse">
            <a:avLst/>
          </a:prstGeom>
          <a:solidFill>
            <a:schemeClr val="accent1"/>
          </a:solidFill>
          <a:ln w="12700">
            <a:solidFill>
              <a:schemeClr val="accent1"/>
            </a:solidFill>
            <a:prstDash val="solid"/>
          </a:ln>
        </p:spPr>
      </p:sp>
      <p:sp>
        <p:nvSpPr>
          <p:cNvPr id="18" name="Text 14"/>
          <p:cNvSpPr txBox="1"/>
          <p:nvPr/>
        </p:nvSpPr>
        <p:spPr>
          <a:xfrm>
            <a:off x="8686800" y="5349240"/>
            <a:ext cx="365760" cy="36576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9" name="Text 15"/>
          <p:cNvSpPr txBox="1"/>
          <p:nvPr/>
        </p:nvSpPr>
        <p:spPr>
          <a:xfrm>
            <a:off x="9144000" y="5303520"/>
            <a:ext cx="2377440" cy="777240"/>
          </a:xfrm>
          <a:prstGeom prst="rect">
            <a:avLst/>
          </a:prstGeom>
          <a:noFill/>
          <a:ln/>
        </p:spPr>
        <p:txBody>
          <a:bodyPr wrap="square" lIns="0" tIns="0" rIns="0" bIns="0" rtlCol="0" anchor="ctr"/>
          <a:lstStyle/>
          <a:p>
            <a:pPr indent="0" marL="0">
              <a:buNone/>
            </a:pPr>
            <a:r>
              <a:rPr lang="en-US" sz="1300" b="1" dirty="0">
                <a:solidFill>
                  <a:schemeClr val="tx1"/>
                </a:solidFill>
              </a:rPr>
              <a:t>Generation prompt</a:t>
            </a:r>
            <a:endParaRPr lang="en-US" sz="1300" dirty="0"/>
          </a:p>
          <a:p>
            <a:pPr indent="0" marL="0">
              <a:buNone/>
            </a:pPr>
            <a:r>
              <a:rPr lang="en-US" sz="1300" dirty="0">
                <a:solidFill>
                  <a:schemeClr val="tx2"/>
                </a:solidFill>
              </a:rPr>
              <a:t>Only with </a:t>
            </a:r>
            <a:r>
              <a:rPr lang="en-US" sz="1300" dirty="0">
                <a:solidFill>
                  <a:schemeClr val="tx2"/>
                </a:solidFill>
                <a:latin typeface="Courier New" pitchFamily="34" charset="0"/>
                <a:ea typeface="Courier New" pitchFamily="34" charset="-122"/>
                <a:cs typeface="Courier New" pitchFamily="34" charset="-120"/>
              </a:rPr>
              <a:t>add_generation_prompt</a:t>
            </a:r>
            <a:r>
              <a:rPr lang="en-US" sz="1300" dirty="0">
                <a:solidFill>
                  <a:schemeClr val="tx2"/>
                </a:solidFill>
              </a:rPr>
              <a:t>: ends on the assistant line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Fine-tune in the template you deploy with</a:t>
            </a:r>
            <a:endParaRPr lang="en-US" sz="3200" dirty="0"/>
          </a:p>
        </p:txBody>
      </p:sp>
      <p:sp>
        <p:nvSpPr>
          <p:cNvPr id="4" name="Text 1"/>
          <p:cNvSpPr txBox="1"/>
          <p:nvPr/>
        </p:nvSpPr>
        <p:spPr>
          <a:xfrm>
            <a:off x="548640" y="1188720"/>
            <a:ext cx="557784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At inference</a:t>
            </a:r>
            <a:endParaRPr lang="en-US" sz="1800" dirty="0"/>
          </a:p>
        </p:txBody>
      </p:sp>
      <p:sp>
        <p:nvSpPr>
          <p:cNvPr id="5" name="inference"/>
          <p:cNvSpPr/>
          <p:nvPr/>
        </p:nvSpPr>
        <p:spPr>
          <a:xfrm>
            <a:off x="548640" y="1645920"/>
            <a:ext cx="5577840" cy="2331720"/>
          </a:xfrm>
          <a:prstGeom prst="roundRect">
            <a:avLst>
              <a:gd name="adj" fmla="val 4706"/>
            </a:avLst>
          </a:prstGeom>
          <a:solidFill>
            <a:schemeClr val="bg2"/>
          </a:solidFill>
          <a:ln w="12700">
            <a:solidFill>
              <a:schemeClr val="bg2"/>
            </a:solidFill>
            <a:prstDash val="solid"/>
          </a:ln>
        </p:spPr>
      </p:sp>
      <p:sp>
        <p:nvSpPr>
          <p:cNvPr id="6" name="Text 3"/>
          <p:cNvSpPr txBox="1"/>
          <p:nvPr/>
        </p:nvSpPr>
        <p:spPr>
          <a:xfrm>
            <a:off x="731520" y="1737360"/>
            <a:ext cx="5303520" cy="2148840"/>
          </a:xfrm>
          <a:prstGeom prst="rect">
            <a:avLst/>
          </a:prstGeom>
          <a:noFill/>
          <a:ln/>
        </p:spPr>
        <p:txBody>
          <a:bodyPr wrap="square" lIns="0" tIns="0" rIns="0" bIns="0" rtlCol="0" anchor="ctr"/>
          <a:lstStyle/>
          <a:p>
            <a:pPr indent="0" marL="0">
              <a:spcAft>
                <a:spcPts val="200"/>
              </a:spcAft>
              <a:buNone/>
            </a:pPr>
            <a:r>
              <a:rPr lang="en-US" sz="1300" dirty="0">
                <a:solidFill>
                  <a:schemeClr val="tx2"/>
                </a:solidFill>
                <a:latin typeface="Courier New" pitchFamily="34" charset="0"/>
                <a:ea typeface="Courier New" pitchFamily="34" charset="-122"/>
                <a:cs typeface="Courier New" pitchFamily="34" charset="-120"/>
              </a:rPr>
              <a:t>&lt;|im_start|&gt;system</a:t>
            </a:r>
            <a:endParaRPr lang="en-US" sz="1300" dirty="0"/>
          </a:p>
          <a:p>
            <a:pPr indent="0" marL="0">
              <a:spcAft>
                <a:spcPts val="200"/>
              </a:spcAft>
              <a:buNone/>
            </a:pPr>
            <a:r>
              <a:rPr lang="en-US" sz="1300" dirty="0">
                <a:solidFill>
                  <a:schemeClr val="tx2"/>
                </a:solidFill>
                <a:latin typeface="Courier New" pitchFamily="34" charset="0"/>
                <a:ea typeface="Courier New" pitchFamily="34" charset="-122"/>
                <a:cs typeface="Courier New" pitchFamily="34" charset="-120"/>
              </a:rPr>
              <a:t>You are a customer-support assistant …&lt;|im_end|&gt;</a:t>
            </a:r>
            <a:endParaRPr lang="en-US" sz="1300" dirty="0"/>
          </a:p>
          <a:p>
            <a:pPr indent="0" marL="0">
              <a:spcAft>
                <a:spcPts val="200"/>
              </a:spcAft>
              <a:buNone/>
            </a:pPr>
            <a:r>
              <a:rPr lang="en-US" sz="1300" dirty="0">
                <a:solidFill>
                  <a:schemeClr val="tx2"/>
                </a:solidFill>
                <a:latin typeface="Courier New" pitchFamily="34" charset="0"/>
                <a:ea typeface="Courier New" pitchFamily="34" charset="-122"/>
                <a:cs typeface="Courier New" pitchFamily="34" charset="-120"/>
              </a:rPr>
              <a:t>&lt;|im_start|&gt;user</a:t>
            </a:r>
            <a:endParaRPr lang="en-US" sz="1300" dirty="0"/>
          </a:p>
          <a:p>
            <a:pPr indent="0" marL="0">
              <a:spcAft>
                <a:spcPts val="200"/>
              </a:spcAft>
              <a:buNone/>
            </a:pPr>
            <a:r>
              <a:rPr lang="en-US" sz="1300" dirty="0">
                <a:solidFill>
                  <a:schemeClr val="tx2"/>
                </a:solidFill>
                <a:latin typeface="Courier New" pitchFamily="34" charset="0"/>
                <a:ea typeface="Courier New" pitchFamily="34" charset="-122"/>
                <a:cs typeface="Courier New" pitchFamily="34" charset="-120"/>
              </a:rPr>
              <a:t>my biryani arrived cold&lt;|im_end|&gt;</a:t>
            </a:r>
            <a:endParaRPr lang="en-US" sz="1300" dirty="0"/>
          </a:p>
          <a:p>
            <a:pPr indent="0" marL="0">
              <a:spcAft>
                <a:spcPts val="200"/>
              </a:spcAft>
              <a:buNone/>
            </a:pPr>
            <a:r>
              <a:rPr lang="en-US" sz="1300" b="1" dirty="0">
                <a:solidFill>
                  <a:schemeClr val="tx1"/>
                </a:solidFill>
                <a:latin typeface="Courier New" pitchFamily="34" charset="0"/>
                <a:ea typeface="Courier New" pitchFamily="34" charset="-122"/>
                <a:cs typeface="Courier New" pitchFamily="34" charset="-120"/>
              </a:rPr>
              <a:t>&lt;|im_start|&gt;assistant</a:t>
            </a:r>
            <a:endParaRPr lang="en-US" sz="1300" dirty="0"/>
          </a:p>
          <a:p>
            <a:pPr indent="0" marL="0">
              <a:spcAft>
                <a:spcPts val="200"/>
              </a:spcAft>
              <a:buNone/>
            </a:pPr>
            <a:r>
              <a:rPr lang="en-US" sz="1300" dirty="0">
                <a:solidFill>
                  <a:schemeClr val="accent1"/>
                </a:solidFill>
                <a:latin typeface="Courier New" pitchFamily="34" charset="0"/>
                <a:ea typeface="Courier New" pitchFamily="34" charset="-122"/>
                <a:cs typeface="Courier New" pitchFamily="34" charset="-120"/>
              </a:rPr>
              <a:t>sorry about that. we have refunded rs 250.</a:t>
            </a:r>
            <a:r>
              <a:rPr lang="en-US" sz="1300" b="1" dirty="0">
                <a:solidFill>
                  <a:schemeClr val="accent1"/>
                </a:solidFill>
                <a:latin typeface="Courier New" pitchFamily="34" charset="0"/>
                <a:ea typeface="Courier New" pitchFamily="34" charset="-122"/>
                <a:cs typeface="Courier New" pitchFamily="34" charset="-120"/>
              </a:rPr>
              <a:t>&lt;|im_end|&gt;</a:t>
            </a:r>
            <a:endParaRPr lang="en-US" sz="1300" dirty="0"/>
          </a:p>
        </p:txBody>
      </p:sp>
      <p:sp>
        <p:nvSpPr>
          <p:cNvPr id="7" name="Text 4"/>
          <p:cNvSpPr txBox="1"/>
          <p:nvPr/>
        </p:nvSpPr>
        <p:spPr>
          <a:xfrm>
            <a:off x="548640" y="4023360"/>
            <a:ext cx="5577840" cy="320040"/>
          </a:xfrm>
          <a:prstGeom prst="rect">
            <a:avLst/>
          </a:prstGeom>
          <a:noFill/>
          <a:ln/>
        </p:spPr>
        <p:txBody>
          <a:bodyPr wrap="square" lIns="0" tIns="0" rIns="0" bIns="0" rtlCol="0" anchor="t"/>
          <a:lstStyle/>
          <a:p>
            <a:pPr indent="0" marL="0">
              <a:buNone/>
            </a:pPr>
            <a:r>
              <a:rPr lang="en-US" sz="1300" dirty="0">
                <a:solidFill>
                  <a:schemeClr val="tx2"/>
                </a:solidFill>
              </a:rPr>
              <a:t>grey: sent by the application  ·  </a:t>
            </a:r>
            <a:r>
              <a:rPr lang="en-US" sz="1300" b="1" dirty="0">
                <a:solidFill>
                  <a:schemeClr val="accent1"/>
                </a:solidFill>
              </a:rPr>
              <a:t>teal: written by the model, which then stops</a:t>
            </a:r>
            <a:endParaRPr lang="en-US" sz="1300" dirty="0"/>
          </a:p>
        </p:txBody>
      </p:sp>
      <p:sp>
        <p:nvSpPr>
          <p:cNvPr id="8" name="mismatch"/>
          <p:cNvSpPr/>
          <p:nvPr/>
        </p:nvSpPr>
        <p:spPr>
          <a:xfrm>
            <a:off x="6355080" y="1645920"/>
            <a:ext cx="5257800" cy="2331720"/>
          </a:xfrm>
          <a:prstGeom prst="roundRect">
            <a:avLst>
              <a:gd name="adj" fmla="val 4706"/>
            </a:avLst>
          </a:prstGeom>
          <a:solidFill>
            <a:schemeClr val="accent6"/>
          </a:solidFill>
          <a:ln w="12700">
            <a:solidFill>
              <a:schemeClr val="accent6"/>
            </a:solidFill>
            <a:prstDash val="solid"/>
          </a:ln>
        </p:spPr>
      </p:sp>
      <p:sp>
        <p:nvSpPr>
          <p:cNvPr id="9" name="Text 6"/>
          <p:cNvSpPr txBox="1"/>
          <p:nvPr/>
        </p:nvSpPr>
        <p:spPr>
          <a:xfrm>
            <a:off x="6537960" y="1691640"/>
            <a:ext cx="4892040" cy="2240280"/>
          </a:xfrm>
          <a:prstGeom prst="rect">
            <a:avLst/>
          </a:prstGeom>
          <a:noFill/>
          <a:ln/>
        </p:spPr>
        <p:txBody>
          <a:bodyPr wrap="square" lIns="0" tIns="0" rIns="0" bIns="0" rtlCol="0" anchor="ctr"/>
          <a:lstStyle/>
          <a:p>
            <a:pPr indent="0" marL="0">
              <a:spcAft>
                <a:spcPts val="1000"/>
              </a:spcAft>
              <a:buNone/>
            </a:pPr>
            <a:r>
              <a:rPr lang="en-US" sz="1500" b="1" dirty="0">
                <a:solidFill>
                  <a:schemeClr val="accent3"/>
                </a:solidFill>
              </a:rPr>
              <a:t>Fine-tune in another format </a:t>
            </a:r>
            <a:r>
              <a:rPr lang="en-US" sz="1400" dirty="0">
                <a:solidFill>
                  <a:schemeClr val="accent3"/>
                </a:solidFill>
                <a:latin typeface="Courier New" pitchFamily="34" charset="0"/>
                <a:ea typeface="Courier New" pitchFamily="34" charset="-122"/>
                <a:cs typeface="Courier New" pitchFamily="34" charset="-120"/>
              </a:rPr>
              <a:t>(Customer: … Agent: …)</a:t>
            </a:r>
            <a:endParaRPr lang="en-US" sz="1500" dirty="0"/>
          </a:p>
          <a:p>
            <a:pPr indent="0" marL="0">
              <a:spcAft>
                <a:spcPts val="1000"/>
              </a:spcAft>
              <a:buNone/>
            </a:pPr>
            <a:r>
              <a:rPr lang="en-US" sz="1500" b="1" dirty="0">
                <a:solidFill>
                  <a:schemeClr val="tx1"/>
                </a:solidFill>
              </a:rPr>
              <a:t>1  </a:t>
            </a:r>
            <a:r>
              <a:rPr lang="en-US" sz="1500" dirty="0">
                <a:solidFill>
                  <a:schemeClr val="tx1"/>
                </a:solidFill>
              </a:rPr>
              <a:t>The model learns a pattern it never sees when deployed, and works against its instruction tuning.</a:t>
            </a:r>
            <a:endParaRPr lang="en-US" sz="1500" dirty="0"/>
          </a:p>
          <a:p>
            <a:pPr indent="0" marL="0">
              <a:spcAft>
                <a:spcPts val="1000"/>
              </a:spcAft>
              <a:buNone/>
            </a:pPr>
            <a:r>
              <a:rPr lang="en-US" sz="1500" b="1" dirty="0">
                <a:solidFill>
                  <a:schemeClr val="tx1"/>
                </a:solidFill>
              </a:rPr>
              <a:t>2  </a:t>
            </a:r>
            <a:r>
              <a:rPr lang="en-US" sz="1500" dirty="0">
                <a:solidFill>
                  <a:schemeClr val="tx1"/>
                </a:solidFill>
              </a:rPr>
              <a:t>It never learns to end a reply with </a:t>
            </a:r>
            <a:r>
              <a:rPr lang="en-US" sz="1400" dirty="0">
                <a:solidFill>
                  <a:schemeClr val="tx1"/>
                </a:solidFill>
                <a:latin typeface="Courier New" pitchFamily="34" charset="0"/>
                <a:ea typeface="Courier New" pitchFamily="34" charset="-122"/>
                <a:cs typeface="Courier New" pitchFamily="34" charset="-120"/>
              </a:rPr>
              <a:t>&lt;|im_end|&gt;</a:t>
            </a:r>
            <a:r>
              <a:rPr lang="en-US" sz="1500" dirty="0">
                <a:solidFill>
                  <a:schemeClr val="tx1"/>
                </a:solidFill>
              </a:rPr>
              <a:t>, so it may not stop: it invents the customer's next message.</a:t>
            </a:r>
            <a:endParaRPr lang="en-US" sz="1500" dirty="0"/>
          </a:p>
        </p:txBody>
      </p:sp>
      <p:sp>
        <p:nvSpPr>
          <p:cNvPr id="10" name="use the tokenizer"/>
          <p:cNvSpPr/>
          <p:nvPr/>
        </p:nvSpPr>
        <p:spPr>
          <a:xfrm>
            <a:off x="548640" y="4572000"/>
            <a:ext cx="11064240" cy="1554480"/>
          </a:xfrm>
          <a:prstGeom prst="roundRect">
            <a:avLst>
              <a:gd name="adj" fmla="val 7059"/>
            </a:avLst>
          </a:prstGeom>
          <a:solidFill>
            <a:schemeClr val="accent5"/>
          </a:solidFill>
          <a:ln w="12700">
            <a:solidFill>
              <a:schemeClr val="accent5"/>
            </a:solidFill>
            <a:prstDash val="solid"/>
          </a:ln>
        </p:spPr>
      </p:sp>
      <p:sp>
        <p:nvSpPr>
          <p:cNvPr id="11" name="Text 8"/>
          <p:cNvSpPr txBox="1"/>
          <p:nvPr/>
        </p:nvSpPr>
        <p:spPr>
          <a:xfrm>
            <a:off x="777240" y="4617720"/>
            <a:ext cx="10607040" cy="1463040"/>
          </a:xfrm>
          <a:prstGeom prst="rect">
            <a:avLst/>
          </a:prstGeom>
          <a:noFill/>
          <a:ln/>
        </p:spPr>
        <p:txBody>
          <a:bodyPr wrap="square" lIns="0" tIns="0" rIns="0" bIns="0" rtlCol="0" anchor="ctr"/>
          <a:lstStyle/>
          <a:p>
            <a:pPr indent="0" marL="0">
              <a:spcAft>
                <a:spcPts val="400"/>
              </a:spcAft>
              <a:buNone/>
            </a:pPr>
            <a:r>
              <a:rPr lang="en-US" sz="1700" b="1" dirty="0">
                <a:solidFill>
                  <a:schemeClr val="tx1"/>
                </a:solidFill>
              </a:rPr>
              <a:t>Use the tokenizer's template, not your own</a:t>
            </a:r>
            <a:endParaRPr lang="en-US" sz="17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tok.apply_chat_template(messages, tokenize=False)</a:t>
            </a:r>
            <a:r>
              <a:rPr lang="en-US" sz="1400" dirty="0">
                <a:solidFill>
                  <a:schemeClr val="tx2"/>
                </a:solidFill>
              </a:rPr>
              <a:t>   training example, reply included</a:t>
            </a:r>
            <a:endParaRPr lang="en-US" sz="1700" dirty="0"/>
          </a:p>
          <a:p>
            <a:pPr indent="0" marL="0">
              <a:spcAft>
                <a:spcPts val="400"/>
              </a:spcAft>
              <a:buNone/>
            </a:pPr>
            <a:r>
              <a:rPr lang="en-US" sz="1400" dirty="0">
                <a:solidFill>
                  <a:schemeClr val="tx1"/>
                </a:solidFill>
                <a:latin typeface="Courier New" pitchFamily="34" charset="0"/>
                <a:ea typeface="Courier New" pitchFamily="34" charset="-122"/>
                <a:cs typeface="Courier New" pitchFamily="34" charset="-120"/>
              </a:rPr>
              <a:t>tok.apply_chat_template(messages[:-1], tokenize=False, add_generation_prompt=True)</a:t>
            </a:r>
            <a:r>
              <a:rPr lang="en-US" sz="1400" dirty="0">
                <a:solidFill>
                  <a:schemeClr val="tx2"/>
                </a:solidFill>
              </a:rPr>
              <a:t>   inference prompt</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Summary and common misconceptions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400800" cy="914400"/>
        </p:xfrm>
        <a:graphic>
          <a:graphicData uri="http://schemas.openxmlformats.org/drawingml/2006/table">
            <a:tbl>
              <a:tblPr/>
              <a:tblGrid>
                <a:gridCol w="1828800"/>
                <a:gridCol w="4572000"/>
              </a:tblGrid>
              <a:tr h="384048">
                <a:tc>
                  <a:txBody>
                    <a:bodyPr/>
                    <a:lstStyle/>
                    <a:p>
                      <a:pPr indent="0" marL="0">
                        <a:buNone/>
                      </a:pPr>
                      <a:r>
                        <a:rPr lang="en-US" sz="1400" b="1" dirty="0">
                          <a:solidFill>
                            <a:schemeClr val="bg1"/>
                          </a:solidFill>
                        </a:rPr>
                        <a:t>Idea</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In one sentence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tx1"/>
                    </a:solidFill>
                  </a:tcPr>
                </a:tc>
              </a:tr>
              <a:tr h="685800">
                <a:tc>
                  <a:txBody>
                    <a:bodyPr/>
                    <a:lstStyle/>
                    <a:p>
                      <a:pPr indent="0" marL="0">
                        <a:buNone/>
                      </a:pPr>
                      <a:r>
                        <a:rPr lang="en-US" sz="1400" b="1" dirty="0">
                          <a:solidFill>
                            <a:schemeClr val="tx1"/>
                          </a:solidFill>
                        </a:rPr>
                        <a:t>Four stages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Pretraining, instruction tuning, (optional) preference tuning, then your task fine-tuning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868680">
                <a:tc>
                  <a:txBody>
                    <a:bodyPr/>
                    <a:lstStyle/>
                    <a:p>
                      <a:pPr indent="0" marL="0">
                        <a:buNone/>
                      </a:pPr>
                      <a:r>
                        <a:rPr lang="en-US" sz="1400" b="1" dirty="0">
                          <a:solidFill>
                            <a:schemeClr val="tx1"/>
                          </a:solidFill>
                        </a:rPr>
                        <a:t>Instruction 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Fine-tuning on many varied (instruction, response) pairs: a text continuer becomes an assistant that answers and stops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Task fine-tuning</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The same mechanics on narrow data for one task, usually from an instruction-tuned model</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r h="685800">
                <a:tc>
                  <a:txBody>
                    <a:bodyPr/>
                    <a:lstStyle/>
                    <a:p>
                      <a:pPr indent="0" marL="0">
                        <a:buNone/>
                      </a:pPr>
                      <a:r>
                        <a:rPr lang="en-US" sz="1400" b="1" dirty="0">
                          <a:solidFill>
                            <a:schemeClr val="tx1"/>
                          </a:solidFill>
                        </a:rPr>
                        <a:t>Chat template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Turns a list of messages into one token sequence, with special tokens for turns and roles</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2"/>
                    </a:solidFill>
                  </a:tcPr>
                </a:tc>
              </a:tr>
              <a:tr h="685800">
                <a:tc>
                  <a:txBody>
                    <a:bodyPr/>
                    <a:lstStyle/>
                    <a:p>
                      <a:pPr indent="0" marL="0">
                        <a:buNone/>
                      </a:pPr>
                      <a:r>
                        <a:rPr lang="en-US" sz="1400" b="1" dirty="0">
                          <a:solidFill>
                            <a:schemeClr val="tx1"/>
                          </a:solidFill>
                        </a:rPr>
                        <a:t>Same template everywhere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Fine-tune in the template used at inference, from </a:t>
                      </a:r>
                      <a:r>
                        <a:rPr lang="en-US" sz="1300" dirty="0">
                          <a:solidFill>
                            <a:schemeClr val="tx1"/>
                          </a:solidFill>
                          <a:latin typeface="Courier New" pitchFamily="34" charset="0"/>
                          <a:ea typeface="Courier New" pitchFamily="34" charset="-122"/>
                          <a:cs typeface="Courier New" pitchFamily="34" charset="-120"/>
                        </a:rPr>
                        <a:t>apply_chat_template</a:t>
                      </a:r>
                      <a:endParaRPr lang="en-US" sz="1400" dirty="0"/>
                    </a:p>
                  </a:txBody>
                  <a:tcPr marL="76200" marR="76200" marT="38100" marB="38100" anchor="ctr">
                    <a:lnL w="6350" cap="flat" cmpd="sng" algn="ctr">
                      <a:solidFill>
                        <a:srgbClr val="C9CFDA"/>
                      </a:solidFill>
                      <a:prstDash val="solid"/>
                      <a:round/>
                      <a:headEnd type="none" w="med" len="med"/>
                      <a:tailEnd type="none" w="med" len="med"/>
                    </a:lnL>
                    <a:lnR w="6350" cap="flat" cmpd="sng" algn="ctr">
                      <a:solidFill>
                        <a:srgbClr val="C9CFDA"/>
                      </a:solidFill>
                      <a:prstDash val="solid"/>
                      <a:round/>
                      <a:headEnd type="none" w="med" len="med"/>
                      <a:tailEnd type="none" w="med" len="med"/>
                    </a:lnR>
                    <a:lnT w="6350" cap="flat" cmpd="sng" algn="ctr">
                      <a:solidFill>
                        <a:srgbClr val="C9CFDA"/>
                      </a:solidFill>
                      <a:prstDash val="solid"/>
                      <a:round/>
                      <a:headEnd type="none" w="med" len="med"/>
                      <a:tailEnd type="none" w="med" len="med"/>
                    </a:lnT>
                    <a:lnB w="6350" cap="flat" cmpd="sng" algn="ctr">
                      <a:solidFill>
                        <a:srgbClr val="C9CFDA"/>
                      </a:solidFill>
                      <a:prstDash val="solid"/>
                      <a:round/>
                      <a:headEnd type="none" w="med" len="med"/>
                      <a:tailEnd type="none" w="med" len="med"/>
                    </a:lnB>
                    <a:solidFill>
                      <a:schemeClr val="bg1"/>
                    </a:solidFill>
                  </a:tcPr>
                </a:tc>
              </a:tr>
            </a:tbl>
          </a:graphicData>
        </a:graphic>
      </p:graphicFrame>
      <p:sp>
        <p:nvSpPr>
          <p:cNvPr id="5" name="misconception 1"/>
          <p:cNvSpPr/>
          <p:nvPr/>
        </p:nvSpPr>
        <p:spPr>
          <a:xfrm>
            <a:off x="7223760" y="1280160"/>
            <a:ext cx="4389120" cy="1463040"/>
          </a:xfrm>
          <a:prstGeom prst="roundRect">
            <a:avLst>
              <a:gd name="adj" fmla="val 7500"/>
            </a:avLst>
          </a:prstGeom>
          <a:solidFill>
            <a:schemeClr val="accent6"/>
          </a:solidFill>
          <a:ln w="12700">
            <a:solidFill>
              <a:schemeClr val="accent6"/>
            </a:solidFill>
            <a:prstDash val="solid"/>
          </a:ln>
        </p:spPr>
      </p:sp>
      <p:sp>
        <p:nvSpPr>
          <p:cNvPr id="6" name="Text 2"/>
          <p:cNvSpPr txBox="1"/>
          <p:nvPr/>
        </p:nvSpPr>
        <p:spPr>
          <a:xfrm>
            <a:off x="7406640" y="1371600"/>
            <a:ext cx="4023360" cy="1280160"/>
          </a:xfrm>
          <a:prstGeom prst="rect">
            <a:avLst/>
          </a:prstGeom>
          <a:noFill/>
          <a:ln/>
        </p:spPr>
        <p:txBody>
          <a:bodyPr wrap="square" lIns="0" tIns="0" rIns="0" bIns="0" rtlCol="0" anchor="ctr"/>
          <a:lstStyle/>
          <a:p>
            <a:pPr indent="0" marL="0">
              <a:spcAft>
                <a:spcPts val="400"/>
              </a:spcAft>
              <a:buNone/>
            </a:pPr>
            <a:r>
              <a:rPr lang="en-US" sz="1400" b="1" dirty="0">
                <a:solidFill>
                  <a:schemeClr val="accent3"/>
                </a:solidFill>
              </a:rPr>
              <a:t>“Instruction tuning is a different algorithm.”</a:t>
            </a:r>
            <a:endParaRPr lang="en-US" sz="1400" dirty="0"/>
          </a:p>
          <a:p>
            <a:pPr indent="0" marL="0">
              <a:spcAft>
                <a:spcPts val="400"/>
              </a:spcAft>
              <a:buNone/>
            </a:pPr>
            <a:r>
              <a:rPr lang="en-US" sz="1400" dirty="0">
                <a:solidFill>
                  <a:schemeClr val="tx1"/>
                </a:solidFill>
              </a:rPr>
              <a:t>Same loss, masking and end-of-turn label. Only the data differs.</a:t>
            </a:r>
            <a:endParaRPr lang="en-US" sz="1400" dirty="0"/>
          </a:p>
        </p:txBody>
      </p:sp>
      <p:sp>
        <p:nvSpPr>
          <p:cNvPr id="7" name="misconception 2"/>
          <p:cNvSpPr/>
          <p:nvPr/>
        </p:nvSpPr>
        <p:spPr>
          <a:xfrm>
            <a:off x="7223760" y="2926080"/>
            <a:ext cx="4389120" cy="1463040"/>
          </a:xfrm>
          <a:prstGeom prst="roundRect">
            <a:avLst>
              <a:gd name="adj" fmla="val 7500"/>
            </a:avLst>
          </a:prstGeom>
          <a:solidFill>
            <a:schemeClr val="accent6"/>
          </a:solidFill>
          <a:ln w="12700">
            <a:solidFill>
              <a:schemeClr val="accent6"/>
            </a:solidFill>
            <a:prstDash val="solid"/>
          </a:ln>
        </p:spPr>
      </p:sp>
      <p:sp>
        <p:nvSpPr>
          <p:cNvPr id="8" name="Text 4"/>
          <p:cNvSpPr txBox="1"/>
          <p:nvPr/>
        </p:nvSpPr>
        <p:spPr>
          <a:xfrm>
            <a:off x="7406640" y="3017520"/>
            <a:ext cx="4023360" cy="1280160"/>
          </a:xfrm>
          <a:prstGeom prst="rect">
            <a:avLst/>
          </a:prstGeom>
          <a:noFill/>
          <a:ln/>
        </p:spPr>
        <p:txBody>
          <a:bodyPr wrap="square" lIns="0" tIns="0" rIns="0" bIns="0" rtlCol="0" anchor="ctr"/>
          <a:lstStyle/>
          <a:p>
            <a:pPr indent="0" marL="0">
              <a:spcAft>
                <a:spcPts val="400"/>
              </a:spcAft>
              <a:buNone/>
            </a:pPr>
            <a:r>
              <a:rPr lang="en-US" sz="1400" b="1" dirty="0">
                <a:solidFill>
                  <a:schemeClr val="accent3"/>
                </a:solidFill>
              </a:rPr>
              <a:t>“Any readable prompt format will do.”</a:t>
            </a:r>
            <a:endParaRPr lang="en-US" sz="1400" dirty="0"/>
          </a:p>
          <a:p>
            <a:pPr indent="0" marL="0">
              <a:spcAft>
                <a:spcPts val="400"/>
              </a:spcAft>
              <a:buNone/>
            </a:pPr>
            <a:r>
              <a:rPr lang="en-US" sz="1400" dirty="0">
                <a:solidFill>
                  <a:schemeClr val="tx1"/>
                </a:solidFill>
              </a:rPr>
              <a:t>The model learned its own template; another format works against it and breaks stopping.</a:t>
            </a:r>
            <a:endParaRPr lang="en-US" sz="1400" dirty="0"/>
          </a:p>
        </p:txBody>
      </p:sp>
      <p:sp>
        <p:nvSpPr>
          <p:cNvPr id="9" name="misconception 3"/>
          <p:cNvSpPr/>
          <p:nvPr/>
        </p:nvSpPr>
        <p:spPr>
          <a:xfrm>
            <a:off x="7223760" y="4572000"/>
            <a:ext cx="4389120" cy="1463040"/>
          </a:xfrm>
          <a:prstGeom prst="roundRect">
            <a:avLst>
              <a:gd name="adj" fmla="val 7500"/>
            </a:avLst>
          </a:prstGeom>
          <a:solidFill>
            <a:schemeClr val="accent6"/>
          </a:solidFill>
          <a:ln w="12700">
            <a:solidFill>
              <a:schemeClr val="accent6"/>
            </a:solidFill>
            <a:prstDash val="solid"/>
          </a:ln>
        </p:spPr>
      </p:sp>
      <p:sp>
        <p:nvSpPr>
          <p:cNvPr id="10" name="Text 6"/>
          <p:cNvSpPr txBox="1"/>
          <p:nvPr/>
        </p:nvSpPr>
        <p:spPr>
          <a:xfrm>
            <a:off x="7406640" y="4663440"/>
            <a:ext cx="4023360" cy="1280160"/>
          </a:xfrm>
          <a:prstGeom prst="rect">
            <a:avLst/>
          </a:prstGeom>
          <a:noFill/>
          <a:ln/>
        </p:spPr>
        <p:txBody>
          <a:bodyPr wrap="square" lIns="0" tIns="0" rIns="0" bIns="0" rtlCol="0" anchor="ctr"/>
          <a:lstStyle/>
          <a:p>
            <a:pPr indent="0" marL="0">
              <a:spcAft>
                <a:spcPts val="400"/>
              </a:spcAft>
              <a:buNone/>
            </a:pPr>
            <a:r>
              <a:rPr lang="en-US" sz="1400" b="1" dirty="0">
                <a:solidFill>
                  <a:schemeClr val="accent3"/>
                </a:solidFill>
              </a:rPr>
              <a:t>“Fine-tuning teaches it to follow instructions.”</a:t>
            </a:r>
            <a:endParaRPr lang="en-US" sz="1400" dirty="0"/>
          </a:p>
          <a:p>
            <a:pPr indent="0" marL="0">
              <a:spcAft>
                <a:spcPts val="400"/>
              </a:spcAft>
              <a:buNone/>
            </a:pPr>
            <a:r>
              <a:rPr lang="en-US" sz="1400" dirty="0">
                <a:solidFill>
                  <a:schemeClr val="tx1"/>
                </a:solidFill>
              </a:rPr>
              <a:t>An Instruct model already can. Task fine-tuning narrows it, and can cost general skills.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Check your understanding</a:t>
            </a:r>
            <a:endParaRPr lang="en-US" sz="3200" dirty="0"/>
          </a:p>
        </p:txBody>
      </p:sp>
      <p:sp>
        <p:nvSpPr>
          <p:cNvPr id="4" name="question 1"/>
          <p:cNvSpPr/>
          <p:nvPr/>
        </p:nvSpPr>
        <p:spPr>
          <a:xfrm>
            <a:off x="548640" y="1280160"/>
            <a:ext cx="5440680" cy="1463040"/>
          </a:xfrm>
          <a:prstGeom prst="roundRect">
            <a:avLst>
              <a:gd name="adj" fmla="val 7500"/>
            </a:avLst>
          </a:prstGeom>
          <a:solidFill>
            <a:schemeClr val="bg2"/>
          </a:solidFill>
          <a:ln w="12700">
            <a:solidFill>
              <a:schemeClr val="bg2"/>
            </a:solidFill>
            <a:prstDash val="solid"/>
          </a:ln>
        </p:spPr>
      </p:sp>
      <p:sp>
        <p:nvSpPr>
          <p:cNvPr id="5" name="Shape 2"/>
          <p:cNvSpPr/>
          <p:nvPr/>
        </p:nvSpPr>
        <p:spPr>
          <a:xfrm>
            <a:off x="777240" y="1737360"/>
            <a:ext cx="502920" cy="502920"/>
          </a:xfrm>
          <a:prstGeom prst="ellipse">
            <a:avLst/>
          </a:prstGeom>
          <a:solidFill>
            <a:schemeClr val="accent1"/>
          </a:solidFill>
          <a:ln w="12700">
            <a:solidFill>
              <a:schemeClr val="accent1"/>
            </a:solidFill>
            <a:prstDash val="solid"/>
          </a:ln>
        </p:spPr>
      </p:sp>
      <p:sp>
        <p:nvSpPr>
          <p:cNvPr id="6" name="Text 3"/>
          <p:cNvSpPr txBox="1"/>
          <p:nvPr/>
        </p:nvSpPr>
        <p:spPr>
          <a:xfrm>
            <a:off x="77724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463040" y="1371600"/>
            <a:ext cx="4343400" cy="1280160"/>
          </a:xfrm>
          <a:prstGeom prst="rect">
            <a:avLst/>
          </a:prstGeom>
          <a:noFill/>
          <a:ln/>
        </p:spPr>
        <p:txBody>
          <a:bodyPr wrap="square" lIns="0" tIns="0" rIns="0" bIns="0" rtlCol="0" anchor="ctr"/>
          <a:lstStyle/>
          <a:p>
            <a:pPr indent="0" marL="0">
              <a:buNone/>
            </a:pPr>
            <a:r>
              <a:rPr lang="en-US" sz="1500" dirty="0">
                <a:solidFill>
                  <a:schemeClr val="tx1"/>
                </a:solidFill>
              </a:rPr>
              <a:t>A base model given </a:t>
            </a:r>
            <a:r>
              <a:rPr lang="en-US" sz="1400" dirty="0">
                <a:solidFill>
                  <a:schemeClr val="tx1"/>
                </a:solidFill>
                <a:latin typeface="Courier New" pitchFamily="34" charset="0"/>
                <a:ea typeface="Courier New" pitchFamily="34" charset="-122"/>
                <a:cs typeface="Courier New" pitchFamily="34" charset="-120"/>
              </a:rPr>
              <a:t>Translate to Hindi: good morning</a:t>
            </a:r>
            <a:r>
              <a:rPr lang="en-US" sz="1500" dirty="0">
                <a:solidFill>
                  <a:schemeClr val="tx1"/>
                </a:solidFill>
              </a:rPr>
              <a:t> writes </a:t>
            </a:r>
            <a:r>
              <a:rPr lang="en-US" sz="1400" dirty="0">
                <a:solidFill>
                  <a:schemeClr val="tx1"/>
                </a:solidFill>
                <a:latin typeface="Courier New" pitchFamily="34" charset="0"/>
                <a:ea typeface="Courier New" pitchFamily="34" charset="-122"/>
                <a:cs typeface="Courier New" pitchFamily="34" charset="-120"/>
              </a:rPr>
              <a:t>Translate to Hindi: good night</a:t>
            </a:r>
            <a:r>
              <a:rPr lang="en-US" sz="1500" dirty="0">
                <a:solidFill>
                  <a:schemeClr val="tx1"/>
                </a:solidFill>
              </a:rPr>
              <a:t>. Which stage is missing, and why?</a:t>
            </a:r>
            <a:endParaRPr lang="en-US" sz="1500" dirty="0"/>
          </a:p>
        </p:txBody>
      </p:sp>
      <p:sp>
        <p:nvSpPr>
          <p:cNvPr id="8" name="question 2"/>
          <p:cNvSpPr/>
          <p:nvPr/>
        </p:nvSpPr>
        <p:spPr>
          <a:xfrm>
            <a:off x="6172200" y="1280160"/>
            <a:ext cx="5440680" cy="1463040"/>
          </a:xfrm>
          <a:prstGeom prst="roundRect">
            <a:avLst>
              <a:gd name="adj" fmla="val 7500"/>
            </a:avLst>
          </a:prstGeom>
          <a:solidFill>
            <a:schemeClr val="bg2"/>
          </a:solidFill>
          <a:ln w="12700">
            <a:solidFill>
              <a:schemeClr val="bg2"/>
            </a:solidFill>
            <a:prstDash val="solid"/>
          </a:ln>
        </p:spPr>
      </p:sp>
      <p:sp>
        <p:nvSpPr>
          <p:cNvPr id="9" name="Shape 6"/>
          <p:cNvSpPr/>
          <p:nvPr/>
        </p:nvSpPr>
        <p:spPr>
          <a:xfrm>
            <a:off x="6400800" y="1737360"/>
            <a:ext cx="502920" cy="502920"/>
          </a:xfrm>
          <a:prstGeom prst="ellipse">
            <a:avLst/>
          </a:prstGeom>
          <a:solidFill>
            <a:schemeClr val="accent4"/>
          </a:solidFill>
          <a:ln w="12700">
            <a:solidFill>
              <a:schemeClr val="accent4"/>
            </a:solidFill>
            <a:prstDash val="solid"/>
          </a:ln>
        </p:spPr>
      </p:sp>
      <p:sp>
        <p:nvSpPr>
          <p:cNvPr id="10" name="Text 7"/>
          <p:cNvSpPr txBox="1"/>
          <p:nvPr/>
        </p:nvSpPr>
        <p:spPr>
          <a:xfrm>
            <a:off x="6400800" y="173736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8"/>
          <p:cNvSpPr txBox="1"/>
          <p:nvPr/>
        </p:nvSpPr>
        <p:spPr>
          <a:xfrm>
            <a:off x="7086600" y="1371600"/>
            <a:ext cx="4343400" cy="1280160"/>
          </a:xfrm>
          <a:prstGeom prst="rect">
            <a:avLst/>
          </a:prstGeom>
          <a:noFill/>
          <a:ln/>
        </p:spPr>
        <p:txBody>
          <a:bodyPr wrap="square" lIns="0" tIns="0" rIns="0" bIns="0" rtlCol="0" anchor="ctr"/>
          <a:lstStyle/>
          <a:p>
            <a:pPr indent="0" marL="0">
              <a:buNone/>
            </a:pPr>
            <a:r>
              <a:rPr lang="en-US" sz="1500" dirty="0">
                <a:solidFill>
                  <a:schemeClr val="tx1"/>
                </a:solidFill>
              </a:rPr>
              <a:t>Instruction tuning and task fine-tuning share the loss and the masking. What makes their results so different?</a:t>
            </a:r>
            <a:endParaRPr lang="en-US" sz="1500" dirty="0"/>
          </a:p>
        </p:txBody>
      </p:sp>
      <p:sp>
        <p:nvSpPr>
          <p:cNvPr id="12" name="question 3"/>
          <p:cNvSpPr/>
          <p:nvPr/>
        </p:nvSpPr>
        <p:spPr>
          <a:xfrm>
            <a:off x="548640" y="2926080"/>
            <a:ext cx="5440680" cy="1463040"/>
          </a:xfrm>
          <a:prstGeom prst="roundRect">
            <a:avLst>
              <a:gd name="adj" fmla="val 7500"/>
            </a:avLst>
          </a:prstGeom>
          <a:solidFill>
            <a:schemeClr val="bg2"/>
          </a:solidFill>
          <a:ln w="12700">
            <a:solidFill>
              <a:schemeClr val="bg2"/>
            </a:solidFill>
            <a:prstDash val="solid"/>
          </a:ln>
        </p:spPr>
      </p:sp>
      <p:sp>
        <p:nvSpPr>
          <p:cNvPr id="13" name="Shape 10"/>
          <p:cNvSpPr/>
          <p:nvPr/>
        </p:nvSpPr>
        <p:spPr>
          <a:xfrm>
            <a:off x="777240" y="3383280"/>
            <a:ext cx="502920" cy="502920"/>
          </a:xfrm>
          <a:prstGeom prst="ellipse">
            <a:avLst/>
          </a:prstGeom>
          <a:solidFill>
            <a:schemeClr val="accent1"/>
          </a:solidFill>
          <a:ln w="12700">
            <a:solidFill>
              <a:schemeClr val="accent1"/>
            </a:solidFill>
            <a:prstDash val="solid"/>
          </a:ln>
        </p:spPr>
      </p:sp>
      <p:sp>
        <p:nvSpPr>
          <p:cNvPr id="14" name="Text 11"/>
          <p:cNvSpPr txBox="1"/>
          <p:nvPr/>
        </p:nvSpPr>
        <p:spPr>
          <a:xfrm>
            <a:off x="777240" y="33832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5" name="Text 12"/>
          <p:cNvSpPr txBox="1"/>
          <p:nvPr/>
        </p:nvSpPr>
        <p:spPr>
          <a:xfrm>
            <a:off x="1463040" y="3017520"/>
            <a:ext cx="4343400" cy="1280160"/>
          </a:xfrm>
          <a:prstGeom prst="rect">
            <a:avLst/>
          </a:prstGeom>
          <a:noFill/>
          <a:ln/>
        </p:spPr>
        <p:txBody>
          <a:bodyPr wrap="square" lIns="0" tIns="0" rIns="0" bIns="0" rtlCol="0" anchor="ctr"/>
          <a:lstStyle/>
          <a:p>
            <a:pPr indent="0" marL="0">
              <a:buNone/>
            </a:pPr>
            <a:r>
              <a:rPr lang="en-US" sz="1500" dirty="0">
                <a:solidFill>
                  <a:schemeClr val="tx1"/>
                </a:solidFill>
              </a:rPr>
              <a:t>Why does the </a:t>
            </a:r>
            <a:r>
              <a:rPr lang="en-US" sz="1500" b="1" dirty="0">
                <a:solidFill>
                  <a:schemeClr val="tx1"/>
                </a:solidFill>
              </a:rPr>
              <a:t>variety</a:t>
            </a:r>
            <a:r>
              <a:rPr lang="en-US" sz="1500" dirty="0">
                <a:solidFill>
                  <a:schemeClr val="tx1"/>
                </a:solidFill>
              </a:rPr>
              <a:t> of instruction-tuning data matter more than many examples of one task?</a:t>
            </a:r>
            <a:endParaRPr lang="en-US" sz="1500" dirty="0"/>
          </a:p>
        </p:txBody>
      </p:sp>
      <p:sp>
        <p:nvSpPr>
          <p:cNvPr id="16" name="question 4"/>
          <p:cNvSpPr/>
          <p:nvPr/>
        </p:nvSpPr>
        <p:spPr>
          <a:xfrm>
            <a:off x="6172200" y="2926080"/>
            <a:ext cx="5440680" cy="1463040"/>
          </a:xfrm>
          <a:prstGeom prst="roundRect">
            <a:avLst>
              <a:gd name="adj" fmla="val 7500"/>
            </a:avLst>
          </a:prstGeom>
          <a:solidFill>
            <a:schemeClr val="bg2"/>
          </a:solidFill>
          <a:ln w="12700">
            <a:solidFill>
              <a:schemeClr val="bg2"/>
            </a:solidFill>
            <a:prstDash val="solid"/>
          </a:ln>
        </p:spPr>
      </p:sp>
      <p:sp>
        <p:nvSpPr>
          <p:cNvPr id="17" name="Shape 14"/>
          <p:cNvSpPr/>
          <p:nvPr/>
        </p:nvSpPr>
        <p:spPr>
          <a:xfrm>
            <a:off x="6400800" y="3383280"/>
            <a:ext cx="502920" cy="502920"/>
          </a:xfrm>
          <a:prstGeom prst="ellipse">
            <a:avLst/>
          </a:prstGeom>
          <a:solidFill>
            <a:schemeClr val="accent4"/>
          </a:solidFill>
          <a:ln w="12700">
            <a:solidFill>
              <a:schemeClr val="accent4"/>
            </a:solidFill>
            <a:prstDash val="solid"/>
          </a:ln>
        </p:spPr>
      </p:sp>
      <p:sp>
        <p:nvSpPr>
          <p:cNvPr id="18" name="Text 15"/>
          <p:cNvSpPr txBox="1"/>
          <p:nvPr/>
        </p:nvSpPr>
        <p:spPr>
          <a:xfrm>
            <a:off x="6400800" y="33832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9" name="Text 16"/>
          <p:cNvSpPr txBox="1"/>
          <p:nvPr/>
        </p:nvSpPr>
        <p:spPr>
          <a:xfrm>
            <a:off x="7086600" y="3017520"/>
            <a:ext cx="4343400" cy="1280160"/>
          </a:xfrm>
          <a:prstGeom prst="rect">
            <a:avLst/>
          </a:prstGeom>
          <a:noFill/>
          <a:ln/>
        </p:spPr>
        <p:txBody>
          <a:bodyPr wrap="square" lIns="0" tIns="0" rIns="0" bIns="0" rtlCol="0" anchor="ctr"/>
          <a:lstStyle/>
          <a:p>
            <a:pPr indent="0" marL="0">
              <a:buNone/>
            </a:pPr>
            <a:r>
              <a:rPr lang="en-US" sz="1500" dirty="0">
                <a:solidFill>
                  <a:schemeClr val="tx1"/>
                </a:solidFill>
              </a:rPr>
              <a:t>You fine-tune Qwen2.5-Instruct on </a:t>
            </a:r>
            <a:r>
              <a:rPr lang="en-US" sz="1400" dirty="0">
                <a:solidFill>
                  <a:schemeClr val="tx1"/>
                </a:solidFill>
                <a:latin typeface="Courier New" pitchFamily="34" charset="0"/>
                <a:ea typeface="Courier New" pitchFamily="34" charset="-122"/>
                <a:cs typeface="Courier New" pitchFamily="34" charset="-120"/>
              </a:rPr>
              <a:t>Customer: … Agent: …</a:t>
            </a:r>
            <a:r>
              <a:rPr lang="en-US" sz="1500" dirty="0">
                <a:solidFill>
                  <a:schemeClr val="tx1"/>
                </a:solidFill>
              </a:rPr>
              <a:t> text. Name two things that can go wrong when it is deployed with its chat template.</a:t>
            </a:r>
            <a:endParaRPr lang="en-US" sz="1500" dirty="0"/>
          </a:p>
        </p:txBody>
      </p:sp>
      <p:sp>
        <p:nvSpPr>
          <p:cNvPr id="20" name="question 5"/>
          <p:cNvSpPr/>
          <p:nvPr/>
        </p:nvSpPr>
        <p:spPr>
          <a:xfrm>
            <a:off x="548640" y="4572000"/>
            <a:ext cx="5440680" cy="1463040"/>
          </a:xfrm>
          <a:prstGeom prst="roundRect">
            <a:avLst>
              <a:gd name="adj" fmla="val 7500"/>
            </a:avLst>
          </a:prstGeom>
          <a:solidFill>
            <a:schemeClr val="bg2"/>
          </a:solidFill>
          <a:ln w="12700">
            <a:solidFill>
              <a:schemeClr val="bg2"/>
            </a:solidFill>
            <a:prstDash val="solid"/>
          </a:ln>
        </p:spPr>
      </p:sp>
      <p:sp>
        <p:nvSpPr>
          <p:cNvPr id="21" name="Shape 18"/>
          <p:cNvSpPr/>
          <p:nvPr/>
        </p:nvSpPr>
        <p:spPr>
          <a:xfrm>
            <a:off x="777240" y="5029200"/>
            <a:ext cx="502920" cy="502920"/>
          </a:xfrm>
          <a:prstGeom prst="ellipse">
            <a:avLst/>
          </a:prstGeom>
          <a:solidFill>
            <a:schemeClr val="accent1"/>
          </a:solidFill>
          <a:ln w="12700">
            <a:solidFill>
              <a:schemeClr val="accent1"/>
            </a:solidFill>
            <a:prstDash val="solid"/>
          </a:ln>
        </p:spPr>
      </p:sp>
      <p:sp>
        <p:nvSpPr>
          <p:cNvPr id="22" name="Text 19"/>
          <p:cNvSpPr txBox="1"/>
          <p:nvPr/>
        </p:nvSpPr>
        <p:spPr>
          <a:xfrm>
            <a:off x="777240" y="5029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3" name="Text 20"/>
          <p:cNvSpPr txBox="1"/>
          <p:nvPr/>
        </p:nvSpPr>
        <p:spPr>
          <a:xfrm>
            <a:off x="1463040" y="4663440"/>
            <a:ext cx="4343400" cy="1280160"/>
          </a:xfrm>
          <a:prstGeom prst="rect">
            <a:avLst/>
          </a:prstGeom>
          <a:noFill/>
          <a:ln/>
        </p:spPr>
        <p:txBody>
          <a:bodyPr wrap="square" lIns="0" tIns="0" rIns="0" bIns="0" rtlCol="0" anchor="ctr"/>
          <a:lstStyle/>
          <a:p>
            <a:pPr indent="0" marL="0">
              <a:buNone/>
            </a:pPr>
            <a:r>
              <a:rPr lang="en-US" sz="1500" dirty="0">
                <a:solidFill>
                  <a:schemeClr val="tx1"/>
                </a:solidFill>
              </a:rPr>
              <a:t>Why does </a:t>
            </a:r>
            <a:r>
              <a:rPr lang="en-US" sz="1400" dirty="0">
                <a:solidFill>
                  <a:schemeClr val="tx1"/>
                </a:solidFill>
                <a:latin typeface="Courier New" pitchFamily="34" charset="0"/>
                <a:ea typeface="Courier New" pitchFamily="34" charset="-122"/>
                <a:cs typeface="Courier New" pitchFamily="34" charset="-120"/>
              </a:rPr>
              <a:t>&lt;|im_end|&gt;</a:t>
            </a:r>
            <a:r>
              <a:rPr lang="en-US" sz="1500" dirty="0">
                <a:solidFill>
                  <a:schemeClr val="tx1"/>
                </a:solidFill>
              </a:rPr>
              <a:t> after the reply keep its label, while </a:t>
            </a:r>
            <a:r>
              <a:rPr lang="en-US" sz="1400" dirty="0">
                <a:solidFill>
                  <a:schemeClr val="tx1"/>
                </a:solidFill>
                <a:latin typeface="Courier New" pitchFamily="34" charset="0"/>
                <a:ea typeface="Courier New" pitchFamily="34" charset="-122"/>
                <a:cs typeface="Courier New" pitchFamily="34" charset="-120"/>
              </a:rPr>
              <a:t>&lt;|im_start|&gt;assistant</a:t>
            </a:r>
            <a:r>
              <a:rPr lang="en-US" sz="1500" dirty="0">
                <a:solidFill>
                  <a:schemeClr val="tx1"/>
                </a:solidFill>
              </a:rPr>
              <a:t> gets −100?</a:t>
            </a:r>
            <a:endParaRPr lang="en-US" sz="1500" dirty="0"/>
          </a:p>
        </p:txBody>
      </p:sp>
      <p:sp>
        <p:nvSpPr>
          <p:cNvPr id="24" name="question 6"/>
          <p:cNvSpPr/>
          <p:nvPr/>
        </p:nvSpPr>
        <p:spPr>
          <a:xfrm>
            <a:off x="6172200" y="4572000"/>
            <a:ext cx="5440680" cy="1463040"/>
          </a:xfrm>
          <a:prstGeom prst="roundRect">
            <a:avLst>
              <a:gd name="adj" fmla="val 7500"/>
            </a:avLst>
          </a:prstGeom>
          <a:solidFill>
            <a:schemeClr val="bg2"/>
          </a:solidFill>
          <a:ln w="12700">
            <a:solidFill>
              <a:schemeClr val="bg2"/>
            </a:solidFill>
            <a:prstDash val="solid"/>
          </a:ln>
        </p:spPr>
      </p:sp>
      <p:sp>
        <p:nvSpPr>
          <p:cNvPr id="25" name="Shape 22"/>
          <p:cNvSpPr/>
          <p:nvPr/>
        </p:nvSpPr>
        <p:spPr>
          <a:xfrm>
            <a:off x="6400800" y="5029200"/>
            <a:ext cx="502920" cy="502920"/>
          </a:xfrm>
          <a:prstGeom prst="ellipse">
            <a:avLst/>
          </a:prstGeom>
          <a:solidFill>
            <a:schemeClr val="accent4"/>
          </a:solidFill>
          <a:ln w="12700">
            <a:solidFill>
              <a:schemeClr val="accent4"/>
            </a:solidFill>
            <a:prstDash val="solid"/>
          </a:ln>
        </p:spPr>
      </p:sp>
      <p:sp>
        <p:nvSpPr>
          <p:cNvPr id="26" name="Text 23"/>
          <p:cNvSpPr txBox="1"/>
          <p:nvPr/>
        </p:nvSpPr>
        <p:spPr>
          <a:xfrm>
            <a:off x="6400800" y="5029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7" name="Text 24"/>
          <p:cNvSpPr txBox="1"/>
          <p:nvPr/>
        </p:nvSpPr>
        <p:spPr>
          <a:xfrm>
            <a:off x="7086600" y="4663440"/>
            <a:ext cx="4343400" cy="1280160"/>
          </a:xfrm>
          <a:prstGeom prst="rect">
            <a:avLst/>
          </a:prstGeom>
          <a:noFill/>
          <a:ln/>
        </p:spPr>
        <p:txBody>
          <a:bodyPr wrap="square" lIns="0" tIns="0" rIns="0" bIns="0" rtlCol="0" anchor="ctr"/>
          <a:lstStyle/>
          <a:p>
            <a:pPr indent="0" marL="0">
              <a:buNone/>
            </a:pPr>
            <a:r>
              <a:rPr lang="en-US" sz="1500" dirty="0">
                <a:solidFill>
                  <a:schemeClr val="tx1"/>
                </a:solidFill>
              </a:rPr>
              <a:t>After heavy fine-tuning on tickets, the model can no longer summarise a paragraph. What is this called, and which stage was partly undone?</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200" b="1" dirty="0">
                <a:solidFill>
                  <a:schemeClr val="tx1"/>
                </a:solidFill>
              </a:rPr>
              <a:t>Next, and further reading</a:t>
            </a:r>
            <a:endParaRPr lang="en-US" sz="3200" dirty="0"/>
          </a:p>
        </p:txBody>
      </p:sp>
      <p:sp>
        <p:nvSpPr>
          <p:cNvPr id="4" name="next"/>
          <p:cNvSpPr/>
          <p:nvPr/>
        </p:nvSpPr>
        <p:spPr>
          <a:xfrm>
            <a:off x="548640" y="1280160"/>
            <a:ext cx="4023360" cy="2743200"/>
          </a:xfrm>
          <a:prstGeom prst="roundRect">
            <a:avLst>
              <a:gd name="adj" fmla="val 4000"/>
            </a:avLst>
          </a:prstGeom>
          <a:solidFill>
            <a:schemeClr val="accent5"/>
          </a:solidFill>
          <a:ln w="12700">
            <a:solidFill>
              <a:schemeClr val="accent5"/>
            </a:solidFill>
            <a:prstDash val="solid"/>
          </a:ln>
        </p:spPr>
      </p:sp>
      <p:sp>
        <p:nvSpPr>
          <p:cNvPr id="5" name="Text 2"/>
          <p:cNvSpPr txBox="1"/>
          <p:nvPr/>
        </p:nvSpPr>
        <p:spPr>
          <a:xfrm>
            <a:off x="822960" y="1463040"/>
            <a:ext cx="3474720" cy="2377440"/>
          </a:xfrm>
          <a:prstGeom prst="rect">
            <a:avLst/>
          </a:prstGeom>
          <a:noFill/>
          <a:ln/>
        </p:spPr>
        <p:txBody>
          <a:bodyPr wrap="square" lIns="0" tIns="0" rIns="0" bIns="0" rtlCol="0" anchor="t"/>
          <a:lstStyle/>
          <a:p>
            <a:pPr indent="0" marL="0">
              <a:spcAft>
                <a:spcPts val="1000"/>
              </a:spcAft>
              <a:buNone/>
            </a:pPr>
            <a:r>
              <a:rPr lang="en-US" sz="2200" b="1" dirty="0">
                <a:solidFill>
                  <a:schemeClr val="tx1"/>
                </a:solidFill>
              </a:rPr>
              <a:t>Next</a:t>
            </a:r>
            <a:endParaRPr lang="en-US" sz="1600" dirty="0"/>
          </a:p>
          <a:p>
            <a:pPr indent="0" marL="0">
              <a:spcAft>
                <a:spcPts val="1000"/>
              </a:spcAft>
              <a:buNone/>
            </a:pPr>
            <a:r>
              <a:rPr lang="en-US" sz="1600" dirty="0">
                <a:solidFill>
                  <a:schemeClr val="tx1"/>
                </a:solidFill>
              </a:rPr>
              <a:t>Preparing data for fine-tuning: cleaning, deduplication, splitting, and formatting support tickets in the chat template.</a:t>
            </a:r>
            <a:endParaRPr lang="en-US" sz="1600" dirty="0"/>
          </a:p>
          <a:p>
            <a:pPr indent="0" marL="0">
              <a:spcAft>
                <a:spcPts val="1000"/>
              </a:spcAft>
              <a:buNone/>
            </a:pPr>
            <a:r>
              <a:rPr lang="en-US" sz="1300" dirty="0">
                <a:solidFill>
                  <a:schemeClr val="tx2"/>
                </a:solidFill>
                <a:latin typeface="Courier New" pitchFamily="34" charset="0"/>
                <a:ea typeface="Courier New" pitchFamily="34" charset="-122"/>
                <a:cs typeface="Courier New" pitchFamily="34" charset="-120"/>
              </a:rPr>
              <a:t>data_preparation.ipynb</a:t>
            </a:r>
            <a:endParaRPr lang="en-US" sz="1600" dirty="0"/>
          </a:p>
        </p:txBody>
      </p:sp>
      <p:sp>
        <p:nvSpPr>
          <p:cNvPr id="6" name="Text 3"/>
          <p:cNvSpPr txBox="1"/>
          <p:nvPr/>
        </p:nvSpPr>
        <p:spPr>
          <a:xfrm>
            <a:off x="4937760" y="1280160"/>
            <a:ext cx="6675120" cy="411480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Wei et al. (2021). </a:t>
            </a:r>
            <a:r>
              <a:rPr lang="en-US" sz="1600" dirty="0">
                <a:solidFill>
                  <a:schemeClr val="tx1"/>
                </a:solidFill>
              </a:rPr>
              <a:t>Finetuned language models are zero-shot learners (FLAN). ICLR 2022. arXiv:2109.01652</a:t>
            </a:r>
            <a:endParaRPr lang="en-US" sz="1600" dirty="0"/>
          </a:p>
          <a:p>
            <a:pPr marL="228600" indent="-228600">
              <a:spcAft>
                <a:spcPts val="800"/>
              </a:spcAft>
              <a:buSzPct val="100000"/>
              <a:buChar char="•"/>
            </a:pPr>
            <a:r>
              <a:rPr lang="en-US" sz="1600" b="1" dirty="0">
                <a:solidFill>
                  <a:schemeClr val="tx1"/>
                </a:solidFill>
              </a:rPr>
              <a:t>Ouyang et al. (2022). </a:t>
            </a:r>
            <a:r>
              <a:rPr lang="en-US" sz="1600" dirty="0">
                <a:solidFill>
                  <a:schemeClr val="tx1"/>
                </a:solidFill>
              </a:rPr>
              <a:t>Training language models to follow instructions with human feedback (InstructGPT). NeurIPS 2022. arXiv:2203.02155</a:t>
            </a:r>
            <a:endParaRPr lang="en-US" sz="1600" dirty="0"/>
          </a:p>
          <a:p>
            <a:pPr marL="228600" indent="-228600">
              <a:spcAft>
                <a:spcPts val="800"/>
              </a:spcAft>
              <a:buSzPct val="100000"/>
              <a:buChar char="•"/>
            </a:pPr>
            <a:r>
              <a:rPr lang="en-US" sz="1600" b="1" dirty="0">
                <a:solidFill>
                  <a:schemeClr val="tx1"/>
                </a:solidFill>
              </a:rPr>
              <a:t>Rafailov et al. (2023). </a:t>
            </a:r>
            <a:r>
              <a:rPr lang="en-US" sz="1600" dirty="0">
                <a:solidFill>
                  <a:schemeClr val="tx1"/>
                </a:solidFill>
              </a:rPr>
              <a:t>Direct preference optimization: Your language model is secretly a reward model. NeurIPS 2023. arXiv:2305.18290</a:t>
            </a:r>
            <a:endParaRPr lang="en-US" sz="1600" dirty="0"/>
          </a:p>
          <a:p>
            <a:pPr marL="228600" indent="-228600">
              <a:spcAft>
                <a:spcPts val="800"/>
              </a:spcAft>
              <a:buSzPct val="100000"/>
              <a:buChar char="•"/>
            </a:pPr>
            <a:r>
              <a:rPr lang="en-US" sz="1600" b="1" dirty="0">
                <a:solidFill>
                  <a:schemeClr val="tx1"/>
                </a:solidFill>
              </a:rPr>
              <a:t>Qwen Team (2024). </a:t>
            </a:r>
            <a:r>
              <a:rPr lang="en-US" sz="1600" dirty="0">
                <a:solidFill>
                  <a:schemeClr val="tx1"/>
                </a:solidFill>
              </a:rPr>
              <a:t>Qwen2.5 technical report. arXiv:2412.15115</a:t>
            </a:r>
            <a:endParaRPr lang="en-US" sz="1600" dirty="0"/>
          </a:p>
          <a:p>
            <a:pPr marL="228600" indent="-228600">
              <a:spcAft>
                <a:spcPts val="800"/>
              </a:spcAft>
              <a:buSzPct val="100000"/>
              <a:buChar char="•"/>
            </a:pPr>
            <a:r>
              <a:rPr lang="en-US" sz="1600" b="1" dirty="0">
                <a:solidFill>
                  <a:schemeClr val="tx1"/>
                </a:solidFill>
              </a:rPr>
              <a:t>Hugging Face. </a:t>
            </a:r>
            <a:r>
              <a:rPr lang="en-US" sz="1600" dirty="0">
                <a:solidFill>
                  <a:schemeClr val="tx1"/>
                </a:solidFill>
              </a:rPr>
              <a:t>Chat templates. Transformers documentation: huggingface.co/docs/transformers/main/en/chat_templating</a:t>
            </a:r>
            <a:endParaRPr lang="en-US" sz="1600" dirty="0"/>
          </a:p>
          <a:p>
            <a:pPr marL="228600" indent="-228600">
              <a:spcAft>
                <a:spcPts val="800"/>
              </a:spcAft>
              <a:buSzPct val="100000"/>
              <a:buChar char="•"/>
            </a:pPr>
            <a:r>
              <a:rPr lang="en-US" sz="1600" b="1" dirty="0">
                <a:solidFill>
                  <a:schemeClr val="tx1"/>
                </a:solidFill>
              </a:rPr>
              <a:t>Qwen Team. </a:t>
            </a:r>
            <a:r>
              <a:rPr lang="en-US" sz="1600" dirty="0">
                <a:solidFill>
                  <a:schemeClr val="tx1"/>
                </a:solidFill>
              </a:rPr>
              <a:t>Qwen/Qwen2.5-0.5B-Instruct: tokenizer_config.json and generation_config.json. huggingface.co/Qwen/Qwen2.5-0.5B-Instruct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LLM training stages and chat templates">
      <a:dk1>
        <a:srgbClr val="1C2433"/>
      </a:dk1>
      <a:lt1>
        <a:srgbClr val="FFFFFF"/>
      </a:lt1>
      <a:dk2>
        <a:srgbClr val="5A6478"/>
      </a:dk2>
      <a:lt2>
        <a:srgbClr val="EEF1F6"/>
      </a:lt2>
      <a:accent1>
        <a:srgbClr val="16737A"/>
      </a:accent1>
      <a:accent2>
        <a:srgbClr val="E0A526"/>
      </a:accent2>
      <a:accent3>
        <a:srgbClr val="C8443F"/>
      </a:accent3>
      <a:accent4>
        <a:srgbClr val="D9701E"/>
      </a:accent4>
      <a:accent5>
        <a:srgbClr val="FCF3DC"/>
      </a:accent5>
      <a:accent6>
        <a:srgbClr val="FBE4D3"/>
      </a:accent6>
      <a:hlink>
        <a:srgbClr val="16737A"/>
      </a:hlink>
      <a:folHlink>
        <a:srgbClr val="6B46C1"/>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training stages and chat templates</dc:title>
  <dc:subject>PptxGenJS Presentation</dc:subject>
  <dc:creator>Generative AI (ABAI3009L), Bennett University</dc:creator>
  <cp:lastModifiedBy>Generative AI (ABAI3009L), Bennett University</cp:lastModifiedBy>
  <cp:revision>1</cp:revision>
  <dcterms:created xsi:type="dcterms:W3CDTF">2026-10-31T08:37:20Z</dcterms:created>
  <dcterms:modified xsi:type="dcterms:W3CDTF">2026-10-31T08:37:20Z</dcterms:modified>
</cp:coreProperties>
</file>