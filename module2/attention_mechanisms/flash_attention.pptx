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e9bb425-9153-29aa-259a-a03c6c517dcd}">
          <p14:sldIdLst>
            <p14:sldId id="256"/>
            <p14:sldId id="257"/>
          </p14:sldIdLst>
        </p14:section>
        <p14:section name="Training, prefill, and decode" id="{17cd9c13-8151-9037-0755-f37740980bd5}">
          <p14:sldIdLst>
            <p14:sldId id="258"/>
            <p14:sldId id="259"/>
          </p14:sldIdLst>
        </p14:section>
        <p14:section name="The memory problem" id="{b96c9286-9503-5533-138a-75540fb96814}">
          <p14:sldIdLst>
            <p14:sldId id="260"/>
            <p14:sldId id="261"/>
          </p14:sldIdLst>
        </p14:section>
        <p14:section name="Kernels and the online softmax" id="{7b7a850a-cefd-ec2d-4215-1b4003098c06}">
          <p14:sldIdLst>
            <p14:sldId id="262"/>
            <p14:sldId id="263"/>
            <p14:sldId id="264"/>
          </p14:sldIdLst>
        </p14:section>
        <p14:section name="Wrap-up" id="{e75ce7bf-ab71-7b1e-6ce8-0c38b8f71532}">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companion notebook in a second window and run it once top to bottom before class (a few seconds on a CPU, no downloads), so both live demos already have output. Amber 'LIVE DEMO' tags mark where to switch to the notebook; the cell numbers are 0-based positions in the notebook. Prerequisites: the key-value cache and attention-mechanisms lectures (this material was their optional FlashAttention block). About 13 slides, 20-25 minutes. No GPU is needed: the notebook explains the GPU algorithm with small CPU examples. The saved outputs of cells 4 and 8 were produced by the same code when it was Section 8 of attention_mechanisms.ipynb; rerun the notebook (for example on Kaggle) to refresh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number on the slide, from the chart in notebook cell 4 and the text after it (cell 5): with Llama-2-7B sizes at T = 32,768, the attention scores of a single layer take 64 GiB in fp16, more than the whole model's 16 GiB MHA KV cache. Yet FlashAttention computes exactly the same attention without ever storing that matrix. The lecture answers how. Preview the five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cell 2, Section 1. Prefill: all 5 prompt tokens are already known, so they go through the network in one parallel forward pass with the causal mask. That pass fills the KV cache (hence the name) and predicts the first new token, 'door'. Each head's score matrix is 5 by 5; with a 4,000-token prompt it is 4,000 by 4,000, a lot of arithmetic but all parallel. Decode: each new token depends on the previous one, so the steps run one after another. Each step feeds in only the newest token, appends its K and V to the cache, and its single query attends to everything cached. The score matrix is a single row. Ask: which phase does the user feel as the wait before the first word appears? (Prefill.)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'Training, prefill, and decode compared' table in notebook cell 2 (markdown, nothing to run). Walk through it with the prompt 'The robot opened the' from slide 3. Prefill: the 5 prompt tokens are already known, so they go through the network in one parallel forward pass with the causal mask, exactly like a training forward pass but without the loss and the backward pass. That pass fills the KV cache and predicts the first new token. Decode: each new token depends on the previous one, so steps run one after another; each step feeds in only the newest token, appends its K and V, and its single query reads the whole cache. No causal mask is needed there, because the cache holds only past tokens. Read the table by rows: with Tq large (training, prefill) the cost is arithmetic plus the T by T score matrix, which is what FlashAttention removes; with Tq = 1 (decode) the arithmetic is tiny but the whole cache is read every step, which is what MQA, GQA and sliding windows shrink. The last row links each phase to what users feel: time to the first token versus how fast tokens stream out. Ask: a user pastes a 20-page document and asks for a one-line answer. Which phase dominates the wait? (Prefill.)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MQA and GQA change the architecture: how many K/V heads exist. FlashAttention changes the algorithm: how softmax(QK^T / sqrt(d_k)) V is computed. The result is the same attention up to floating-point rounding. The table separates the two phases. In training and prefill, Tq = Tk = T, and the T by T score matrix is written to and read back from GPU memory. In decoding, Tq = 1, the score row is tiny, and reading the cache dominates. Cell 4 plots both for Llama-2-7B sizes: the score matrix of a single layer grows quadratically, and at T = 32,768 it is 64 GiB, more than the whole model's 16 GiB MHA cache. FlashAttention never stores that matrix; it processes keys in blocks that fit in fast on-chip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'What problem FlashAttention solves' section, notebook cell 5 (markdown, nothing to run). Start with the memory table: the arithmetic happens on-chip, next to fast SRAM, but SRAM is tiny, 192 KB per streaming multiprocessor, about 20 MB in total on an A100. HBM is large but about ten times slower. These A100 figures are quoted from Section 2.1 of the FlashAttention paper (Dao et al., 2022); the 19 TB/s is the paper's estimate, and the 20 MB total is 192 KB times 108. Left card: standard attention computes softmax(QK^T / sqrt(d)) V in three steps, and the two T by T matrices S and P are too big for SRAM, so each is written to HBM and read back. That costs memory (64 GiB for one layer at T = 32,768, previous slide) and time: the GPU mostly waits on memory, and training also keeps P for the backward pass. Right card: FlashAttention loads blocks of Q, K and V into SRAM, does all three steps there in one fused kernel, updates running totals with the online softmax (next slide), and discards each block's scores. Only O is written out. In the backward pass it recomputes tiles instead of storing P. Stress the bottom line: same result, about the same FLOPs, still quadratic arithmetic; what disappears is the T by T matrix in memory. 'IO-aware' in the paper's title means designing around memory traffic. Ask: why does FlashAttention barely help decoding? (With Tq = 1 the score row is tiny; the cost is reading the KV cache, which it still reads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'GPU kernels and kernel fusion' section, notebook cell 6 (markdown, nothing to run). A kernel is a function that runs on the GPU: the CPU launches it and thousands of threads run it in parallel. Most PyTorch operations launch at least one kernel, so a plain causal attention is about five: matrix multiply, scale, mask, softmax, matrix multiply. Each kernel reads its inputs from HBM, computes on-chip, and writes its output back, and kernels do not share on-chip memory. Count the coral writes on the left: the T by T matrix goes out to HBM four times and comes back four times, for very little arithmetic per number. Kernel fusion puts several operations in one kernel so intermediates stay on-chip. Analogy for the class: cooks who each do one step and carry the dish to a walk-in fridge down the hall for the next cook, versus one cook doing every step at the counter. FlashAttention fuses all five steps (plus dropout in training): each thread block takes a block of query rows, loops over blocks of K and V, and writes only its rows of O. K and V are read once per query block, but nothing of size T by T ever reaches HBM. The online softmax on the next slide is what makes this possible: an ordinary softmax needs the whole row of scores first. FlashAttention is written in CUDA or Triton; in PyTorch you reach it through F.scaled_dot_product_attention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Softmax needs the maximum score and the sum over all keys, so how can it be computed one block at a time? Keep running totals and rescale them whenever a new block raises the maximum. Earlier terms were computed as e to the (s minus m_old); multiplying by e to the (m_old minus m_new) converts them to e to the (s minus m_new), so all terms share the same reference maximum. Cell 8 runs it on 12 keys in blocks of 4: the max stays 0.822 for two blocks, then the third block raises it to 2.221 and the running sum is rescaled down from 3.189 to 2.583 including the new block. The blockwise result equals the full softmax to 4 decimals. FlashAttention applies this to tiles of Q, K and V on the GPU and recomputes tiles in the backward pass instead of storing the matrix. The grey box is the whole FlashAttention loop in pseudocode (notebook cell 7, just above the demo): each query block keeps m, l and acc on-chip while it loops over the K/V tiles, and only the finished O_i = acc / l is written to HBM. The demo in cell 8 is the inner loop for one query vector. In training and prefill, K and V are the current sequence's projections read from HBM, not a KV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three layers clearly: they answer different questions and are not alternatives. A typical modern LLM uses GQA in its architecture, a KV cache during generation, and a FlashAttention-style kernel to compute attention. In PyTorch, F.scaled_dot_product_attention dispatches to fused, FlashAttention-style kernels where the hardware supports them; from PyTorch 2.5 it also accepts enable_gqa=True, which shares K/V heads without the repeat_interleave copy. Check the PyTorch version on the lab machines before relying on that flag. Notebook cell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summary table of notebook cell 10. Read it top to bottom as the lecture's argument: the two phases have different bottlenecks; in training and prefill the problem is moving the T by T matrix through slow HBM; fusion keeps intermediates on-chip; the online softmax makes fusion possible; FlashAttention is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vote true or false on each claim before revealing. All four are false; they are the misconceptions listed in notebook cell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seven questions at the end of the notebook (cell 10). Good for think-pair-share. Answers: 1) like training, prefill processes every prompt position in parallel in one forward pass with a causal mask; it skips the loss and the backward pass, and instead stores K and V in the cache and predicts the first new token. 2) training and prefill: there Tq = T and the T by T score matrix is large; in decoding Tq = 1 and the cache is the bottleneck. 3) kernels do not share on-chip memory, so each must write its output to HBM and the next must read it back. 4) an ordinary softmax needs the max and the sum over the whole row before producing any weight, so the full row, and with it the T by T matrix, would have to exist first. 5) the arithmetic grows about 4 times (T squared); the extra memory about 2 times (T). 6) on-chip: the current Q block, the current K/V tile, its scores, and m, l, acc; written to HBM: only the finished O_i = acc / l per query block (in training also a small per-row statistic for the backward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separate lab for this unit. The notebook's Section 8 has seven questions with answers. Good small experiments: change the block size in the online-softmax demo (cell 8) and confirm the result is unchanged; extend the sequence lengths in cell 4 and predict where the score matrix passes the KV cache. References are those of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400" dirty="0">
                <a:solidFill>
                  <a:schemeClr val="accent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FlashAttention · Generative AI, Module 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280160"/>
          </a:xfrm>
          <a:prstGeom prst="rect">
            <a:avLst/>
          </a:prstGeom>
          <a:noFill/>
          <a:ln/>
        </p:spPr>
        <p:txBody>
          <a:bodyPr wrap="square" lIns="0" tIns="0" rIns="0" bIns="0" rtlCol="0" anchor="b"/>
          <a:lstStyle/>
          <a:p>
            <a:pPr algn="l" indent="0" marL="0">
              <a:buNone/>
            </a:pPr>
            <a:r>
              <a:rPr lang="en-US" sz="4400" b="1" dirty="0">
                <a:solidFill>
                  <a:schemeClr val="bg1"/>
                </a:solidFill>
              </a:rPr>
              <a:t>FlashAttention</a:t>
            </a: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400" dirty="0">
                <a:solidFill>
                  <a:schemeClr val="accent2"/>
                </a:solidFill>
              </a:rPr>
              <a:t>Exact attention with less memory traffic: prefill vs. decode, GPU memory, kernels, and the online softmax</a:t>
            </a:r>
            <a:endParaRPr lang="en-US" sz="24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1"/>
                </a:solidFill>
              </a:rPr>
              <a:t>Generative AI (ABAI3009L) · Module 2: Transformers &amp; LLMs</a:t>
            </a:r>
            <a:endParaRPr lang="en-US" sz="16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400" dirty="0">
                <a:solidFill>
                  <a:srgbClr val="C9CFDA"/>
                </a:solidFill>
              </a:rPr>
              <a:t>Companion notebook: module2/transformers/flash_attention.ipynb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you will learn</a:t>
            </a:r>
            <a:endParaRPr lang="en-US" sz="3200" dirty="0"/>
          </a:p>
        </p:txBody>
      </p:sp>
      <p:sp>
        <p:nvSpPr>
          <p:cNvPr id="4" name="hook"/>
          <p:cNvSpPr/>
          <p:nvPr/>
        </p:nvSpPr>
        <p:spPr>
          <a:xfrm>
            <a:off x="548640" y="1234440"/>
            <a:ext cx="5852160" cy="1051560"/>
          </a:xfrm>
          <a:prstGeom prst="roundRect">
            <a:avLst>
              <a:gd name="adj" fmla="val 10435"/>
            </a:avLst>
          </a:prstGeom>
          <a:solidFill>
            <a:schemeClr val="accent5"/>
          </a:solidFill>
          <a:ln w="12700">
            <a:solidFill>
              <a:schemeClr val="accent5"/>
            </a:solidFill>
            <a:prstDash val="solid"/>
          </a:ln>
        </p:spPr>
      </p:sp>
      <p:sp>
        <p:nvSpPr>
          <p:cNvPr id="5" name="Text 2"/>
          <p:cNvSpPr txBox="1"/>
          <p:nvPr/>
        </p:nvSpPr>
        <p:spPr>
          <a:xfrm>
            <a:off x="777240" y="1234440"/>
            <a:ext cx="5486400" cy="1051560"/>
          </a:xfrm>
          <a:prstGeom prst="rect">
            <a:avLst/>
          </a:prstGeom>
          <a:noFill/>
          <a:ln/>
        </p:spPr>
        <p:txBody>
          <a:bodyPr wrap="square" lIns="0" tIns="0" rIns="0" bIns="0" rtlCol="0" anchor="ctr"/>
          <a:lstStyle/>
          <a:p>
            <a:pPr indent="0" marL="0">
              <a:buNone/>
            </a:pPr>
            <a:r>
              <a:rPr lang="en-US" sz="1600" b="1" dirty="0">
                <a:solidFill>
                  <a:schemeClr val="tx1"/>
                </a:solidFill>
              </a:rPr>
              <a:t>Llama-2-7B sizes, T = 32,768: </a:t>
            </a:r>
            <a:endParaRPr lang="en-US" sz="1600" dirty="0"/>
          </a:p>
          <a:p>
            <a:pPr indent="0" marL="0">
              <a:buNone/>
            </a:pPr>
            <a:r>
              <a:rPr lang="en-US" sz="1600" dirty="0">
                <a:solidFill>
                  <a:schemeClr val="tx1"/>
                </a:solidFill>
              </a:rPr>
              <a:t>one layer's attention scores take </a:t>
            </a:r>
            <a:r>
              <a:rPr lang="en-US" sz="1600" b="1" dirty="0">
                <a:solidFill>
                  <a:schemeClr val="accent3"/>
                </a:solidFill>
              </a:rPr>
              <a:t>64 GiB</a:t>
            </a:r>
            <a:r>
              <a:rPr lang="en-US" sz="1600" dirty="0">
                <a:solidFill>
                  <a:schemeClr val="tx1"/>
                </a:solidFill>
              </a:rPr>
              <a:t>, more than the whole model's MHA KV cache (16 GiB).</a:t>
            </a:r>
            <a:endParaRPr lang="en-US" sz="1600" dirty="0"/>
          </a:p>
        </p:txBody>
      </p:sp>
      <p:sp>
        <p:nvSpPr>
          <p:cNvPr id="6" name="Text 3"/>
          <p:cNvSpPr txBox="1"/>
          <p:nvPr/>
        </p:nvSpPr>
        <p:spPr>
          <a:xfrm>
            <a:off x="6720840" y="1234440"/>
            <a:ext cx="4892040" cy="1051560"/>
          </a:xfrm>
          <a:prstGeom prst="rect">
            <a:avLst/>
          </a:prstGeom>
          <a:noFill/>
          <a:ln/>
        </p:spPr>
        <p:txBody>
          <a:bodyPr wrap="square" lIns="0" tIns="0" rIns="0" bIns="0" rtlCol="0" anchor="ctr"/>
          <a:lstStyle/>
          <a:p>
            <a:pPr indent="0" marL="0">
              <a:buNone/>
            </a:pPr>
            <a:r>
              <a:rPr lang="en-US" sz="1700" i="1" dirty="0">
                <a:solidFill>
                  <a:schemeClr val="tx2"/>
                </a:solidFill>
              </a:rPr>
              <a:t>How can attention be exact without ever storing that matrix?</a:t>
            </a:r>
            <a:endParaRPr lang="en-US" sz="1700" dirty="0"/>
          </a:p>
        </p:txBody>
      </p:sp>
      <p:sp>
        <p:nvSpPr>
          <p:cNvPr id="7" name="objective 1"/>
          <p:cNvSpPr/>
          <p:nvPr/>
        </p:nvSpPr>
        <p:spPr>
          <a:xfrm>
            <a:off x="548640" y="2514600"/>
            <a:ext cx="3566160" cy="1691640"/>
          </a:xfrm>
          <a:prstGeom prst="roundRect">
            <a:avLst>
              <a:gd name="adj" fmla="val 6486"/>
            </a:avLst>
          </a:prstGeom>
          <a:solidFill>
            <a:schemeClr val="bg2"/>
          </a:solidFill>
          <a:ln w="12700">
            <a:solidFill>
              <a:schemeClr val="bg2"/>
            </a:solidFill>
            <a:prstDash val="solid"/>
          </a:ln>
        </p:spPr>
      </p:sp>
      <p:sp>
        <p:nvSpPr>
          <p:cNvPr id="8" name="Shape 5"/>
          <p:cNvSpPr/>
          <p:nvPr/>
        </p:nvSpPr>
        <p:spPr>
          <a:xfrm>
            <a:off x="777240" y="2743200"/>
            <a:ext cx="502920" cy="502920"/>
          </a:xfrm>
          <a:prstGeom prst="ellipse">
            <a:avLst/>
          </a:prstGeom>
          <a:solidFill>
            <a:schemeClr val="accent1"/>
          </a:solidFill>
          <a:ln w="12700">
            <a:solidFill>
              <a:schemeClr val="accent1"/>
            </a:solidFill>
            <a:prstDash val="solid"/>
          </a:ln>
        </p:spPr>
      </p:sp>
      <p:sp>
        <p:nvSpPr>
          <p:cNvPr id="9" name="Text 6"/>
          <p:cNvSpPr txBox="1"/>
          <p:nvPr/>
        </p:nvSpPr>
        <p:spPr>
          <a:xfrm>
            <a:off x="777240"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7"/>
          <p:cNvSpPr txBox="1"/>
          <p:nvPr/>
        </p:nvSpPr>
        <p:spPr>
          <a:xfrm>
            <a:off x="1417320" y="274320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Prefill vs. decode</a:t>
            </a:r>
            <a:endParaRPr lang="en-US" sz="1800" dirty="0"/>
          </a:p>
        </p:txBody>
      </p:sp>
      <p:sp>
        <p:nvSpPr>
          <p:cNvPr id="11" name="Text 8"/>
          <p:cNvSpPr txBox="1"/>
          <p:nvPr/>
        </p:nvSpPr>
        <p:spPr>
          <a:xfrm>
            <a:off x="777240" y="3383280"/>
            <a:ext cx="3154680" cy="731520"/>
          </a:xfrm>
          <a:prstGeom prst="rect">
            <a:avLst/>
          </a:prstGeom>
          <a:noFill/>
          <a:ln/>
        </p:spPr>
        <p:txBody>
          <a:bodyPr wrap="square" lIns="0" tIns="0" rIns="0" bIns="0" rtlCol="0" anchor="t"/>
          <a:lstStyle/>
          <a:p>
            <a:pPr indent="0" marL="0">
              <a:buNone/>
            </a:pPr>
            <a:r>
              <a:rPr lang="en-US" sz="1500" dirty="0">
                <a:solidFill>
                  <a:schemeClr val="tx2"/>
                </a:solidFill>
              </a:rPr>
              <a:t>Which phase is limited by what, and how both compare with training</a:t>
            </a:r>
            <a:endParaRPr lang="en-US" sz="1500" dirty="0"/>
          </a:p>
        </p:txBody>
      </p:sp>
      <p:sp>
        <p:nvSpPr>
          <p:cNvPr id="12" name="objective 2"/>
          <p:cNvSpPr/>
          <p:nvPr/>
        </p:nvSpPr>
        <p:spPr>
          <a:xfrm>
            <a:off x="4297680" y="2514600"/>
            <a:ext cx="3566160" cy="1691640"/>
          </a:xfrm>
          <a:prstGeom prst="roundRect">
            <a:avLst>
              <a:gd name="adj" fmla="val 6486"/>
            </a:avLst>
          </a:prstGeom>
          <a:solidFill>
            <a:schemeClr val="bg2"/>
          </a:solidFill>
          <a:ln w="12700">
            <a:solidFill>
              <a:schemeClr val="bg2"/>
            </a:solidFill>
            <a:prstDash val="solid"/>
          </a:ln>
        </p:spPr>
      </p:sp>
      <p:sp>
        <p:nvSpPr>
          <p:cNvPr id="13" name="Shape 10"/>
          <p:cNvSpPr/>
          <p:nvPr/>
        </p:nvSpPr>
        <p:spPr>
          <a:xfrm>
            <a:off x="4526280" y="2743200"/>
            <a:ext cx="502920" cy="502920"/>
          </a:xfrm>
          <a:prstGeom prst="ellipse">
            <a:avLst/>
          </a:prstGeom>
          <a:solidFill>
            <a:schemeClr val="accent4"/>
          </a:solidFill>
          <a:ln w="12700">
            <a:solidFill>
              <a:schemeClr val="accent4"/>
            </a:solidFill>
            <a:prstDash val="solid"/>
          </a:ln>
        </p:spPr>
      </p:sp>
      <p:sp>
        <p:nvSpPr>
          <p:cNvPr id="14" name="Text 11"/>
          <p:cNvSpPr txBox="1"/>
          <p:nvPr/>
        </p:nvSpPr>
        <p:spPr>
          <a:xfrm>
            <a:off x="4526280"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5166360" y="274320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The T × T matrix</a:t>
            </a:r>
            <a:endParaRPr lang="en-US" sz="1800" dirty="0"/>
          </a:p>
        </p:txBody>
      </p:sp>
      <p:sp>
        <p:nvSpPr>
          <p:cNvPr id="16" name="Text 13"/>
          <p:cNvSpPr txBox="1"/>
          <p:nvPr/>
        </p:nvSpPr>
        <p:spPr>
          <a:xfrm>
            <a:off x="4526280" y="3383280"/>
            <a:ext cx="3154680" cy="731520"/>
          </a:xfrm>
          <a:prstGeom prst="rect">
            <a:avLst/>
          </a:prstGeom>
          <a:noFill/>
          <a:ln/>
        </p:spPr>
        <p:txBody>
          <a:bodyPr wrap="square" lIns="0" tIns="0" rIns="0" bIns="0" rtlCol="0" anchor="t"/>
          <a:lstStyle/>
          <a:p>
            <a:pPr indent="0" marL="0">
              <a:buNone/>
            </a:pPr>
            <a:r>
              <a:rPr lang="en-US" sz="1500" dirty="0">
                <a:solidFill>
                  <a:schemeClr val="tx2"/>
                </a:solidFill>
              </a:rPr>
              <a:t>Why storing the scores, not the arithmetic, is the problem</a:t>
            </a:r>
            <a:endParaRPr lang="en-US" sz="1500" dirty="0"/>
          </a:p>
        </p:txBody>
      </p:sp>
      <p:sp>
        <p:nvSpPr>
          <p:cNvPr id="17" name="objective 3"/>
          <p:cNvSpPr/>
          <p:nvPr/>
        </p:nvSpPr>
        <p:spPr>
          <a:xfrm>
            <a:off x="8046720" y="2514600"/>
            <a:ext cx="3566160" cy="1691640"/>
          </a:xfrm>
          <a:prstGeom prst="roundRect">
            <a:avLst>
              <a:gd name="adj" fmla="val 6486"/>
            </a:avLst>
          </a:prstGeom>
          <a:solidFill>
            <a:schemeClr val="bg2"/>
          </a:solidFill>
          <a:ln w="12700">
            <a:solidFill>
              <a:schemeClr val="bg2"/>
            </a:solidFill>
            <a:prstDash val="solid"/>
          </a:ln>
        </p:spPr>
      </p:sp>
      <p:sp>
        <p:nvSpPr>
          <p:cNvPr id="18" name="Shape 15"/>
          <p:cNvSpPr/>
          <p:nvPr/>
        </p:nvSpPr>
        <p:spPr>
          <a:xfrm>
            <a:off x="8275320" y="2743200"/>
            <a:ext cx="502920" cy="502920"/>
          </a:xfrm>
          <a:prstGeom prst="ellipse">
            <a:avLst/>
          </a:prstGeom>
          <a:solidFill>
            <a:schemeClr val="accent1"/>
          </a:solidFill>
          <a:ln w="12700">
            <a:solidFill>
              <a:schemeClr val="accent1"/>
            </a:solidFill>
            <a:prstDash val="solid"/>
          </a:ln>
        </p:spPr>
      </p:sp>
      <p:sp>
        <p:nvSpPr>
          <p:cNvPr id="19" name="Text 16"/>
          <p:cNvSpPr txBox="1"/>
          <p:nvPr/>
        </p:nvSpPr>
        <p:spPr>
          <a:xfrm>
            <a:off x="8275320" y="2743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0" name="Text 17"/>
          <p:cNvSpPr txBox="1"/>
          <p:nvPr/>
        </p:nvSpPr>
        <p:spPr>
          <a:xfrm>
            <a:off x="8915400" y="274320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HBM vs. SRAM</a:t>
            </a:r>
            <a:endParaRPr lang="en-US" sz="1800" dirty="0"/>
          </a:p>
        </p:txBody>
      </p:sp>
      <p:sp>
        <p:nvSpPr>
          <p:cNvPr id="21" name="Text 18"/>
          <p:cNvSpPr txBox="1"/>
          <p:nvPr/>
        </p:nvSpPr>
        <p:spPr>
          <a:xfrm>
            <a:off x="8275320" y="3383280"/>
            <a:ext cx="3154680" cy="731520"/>
          </a:xfrm>
          <a:prstGeom prst="rect">
            <a:avLst/>
          </a:prstGeom>
          <a:noFill/>
          <a:ln/>
        </p:spPr>
        <p:txBody>
          <a:bodyPr wrap="square" lIns="0" tIns="0" rIns="0" bIns="0" rtlCol="0" anchor="t"/>
          <a:lstStyle/>
          <a:p>
            <a:pPr indent="0" marL="0">
              <a:buNone/>
            </a:pPr>
            <a:r>
              <a:rPr lang="en-US" sz="1500" dirty="0">
                <a:solidFill>
                  <a:schemeClr val="tx2"/>
                </a:solidFill>
              </a:rPr>
              <a:t>The GPU's large, slow memory and its tiny, fast on-chip memory</a:t>
            </a:r>
            <a:endParaRPr lang="en-US" sz="1500" dirty="0"/>
          </a:p>
        </p:txBody>
      </p:sp>
      <p:sp>
        <p:nvSpPr>
          <p:cNvPr id="22" name="objective 4"/>
          <p:cNvSpPr/>
          <p:nvPr/>
        </p:nvSpPr>
        <p:spPr>
          <a:xfrm>
            <a:off x="548640" y="4389120"/>
            <a:ext cx="3566160" cy="1691640"/>
          </a:xfrm>
          <a:prstGeom prst="roundRect">
            <a:avLst>
              <a:gd name="adj" fmla="val 6486"/>
            </a:avLst>
          </a:prstGeom>
          <a:solidFill>
            <a:schemeClr val="bg2"/>
          </a:solidFill>
          <a:ln w="12700">
            <a:solidFill>
              <a:schemeClr val="bg2"/>
            </a:solidFill>
            <a:prstDash val="solid"/>
          </a:ln>
        </p:spPr>
      </p:sp>
      <p:sp>
        <p:nvSpPr>
          <p:cNvPr id="23" name="Shape 20"/>
          <p:cNvSpPr/>
          <p:nvPr/>
        </p:nvSpPr>
        <p:spPr>
          <a:xfrm>
            <a:off x="777240" y="4617720"/>
            <a:ext cx="502920" cy="502920"/>
          </a:xfrm>
          <a:prstGeom prst="ellipse">
            <a:avLst/>
          </a:prstGeom>
          <a:solidFill>
            <a:schemeClr val="accent4"/>
          </a:solidFill>
          <a:ln w="12700">
            <a:solidFill>
              <a:schemeClr val="accent4"/>
            </a:solidFill>
            <a:prstDash val="solid"/>
          </a:ln>
        </p:spPr>
      </p:sp>
      <p:sp>
        <p:nvSpPr>
          <p:cNvPr id="24" name="Text 21"/>
          <p:cNvSpPr txBox="1"/>
          <p:nvPr/>
        </p:nvSpPr>
        <p:spPr>
          <a:xfrm>
            <a:off x="777240" y="46177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5" name="Text 22"/>
          <p:cNvSpPr txBox="1"/>
          <p:nvPr/>
        </p:nvSpPr>
        <p:spPr>
          <a:xfrm>
            <a:off x="1417320" y="461772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Kernels and fusion</a:t>
            </a:r>
            <a:endParaRPr lang="en-US" sz="1800" dirty="0"/>
          </a:p>
        </p:txBody>
      </p:sp>
      <p:sp>
        <p:nvSpPr>
          <p:cNvPr id="26" name="Text 23"/>
          <p:cNvSpPr txBox="1"/>
          <p:nvPr/>
        </p:nvSpPr>
        <p:spPr>
          <a:xfrm>
            <a:off x="777240" y="5257800"/>
            <a:ext cx="3154680" cy="731520"/>
          </a:xfrm>
          <a:prstGeom prst="rect">
            <a:avLst/>
          </a:prstGeom>
          <a:noFill/>
          <a:ln/>
        </p:spPr>
        <p:txBody>
          <a:bodyPr wrap="square" lIns="0" tIns="0" rIns="0" bIns="0" rtlCol="0" anchor="t"/>
          <a:lstStyle/>
          <a:p>
            <a:pPr indent="0" marL="0">
              <a:buNone/>
            </a:pPr>
            <a:r>
              <a:rPr lang="en-US" sz="1500" dirty="0">
                <a:solidFill>
                  <a:schemeClr val="tx2"/>
                </a:solidFill>
              </a:rPr>
              <a:t>Why every kernel boundary is a trip through HBM</a:t>
            </a:r>
            <a:endParaRPr lang="en-US" sz="1500" dirty="0"/>
          </a:p>
        </p:txBody>
      </p:sp>
      <p:sp>
        <p:nvSpPr>
          <p:cNvPr id="27" name="objective 5"/>
          <p:cNvSpPr/>
          <p:nvPr/>
        </p:nvSpPr>
        <p:spPr>
          <a:xfrm>
            <a:off x="4297680" y="4389120"/>
            <a:ext cx="3566160" cy="1691640"/>
          </a:xfrm>
          <a:prstGeom prst="roundRect">
            <a:avLst>
              <a:gd name="adj" fmla="val 6486"/>
            </a:avLst>
          </a:prstGeom>
          <a:solidFill>
            <a:schemeClr val="bg2"/>
          </a:solidFill>
          <a:ln w="12700">
            <a:solidFill>
              <a:schemeClr val="bg2"/>
            </a:solidFill>
            <a:prstDash val="solid"/>
          </a:ln>
        </p:spPr>
      </p:sp>
      <p:sp>
        <p:nvSpPr>
          <p:cNvPr id="28" name="Shape 25"/>
          <p:cNvSpPr/>
          <p:nvPr/>
        </p:nvSpPr>
        <p:spPr>
          <a:xfrm>
            <a:off x="4526280" y="4617720"/>
            <a:ext cx="502920" cy="502920"/>
          </a:xfrm>
          <a:prstGeom prst="ellipse">
            <a:avLst/>
          </a:prstGeom>
          <a:solidFill>
            <a:schemeClr val="accent1"/>
          </a:solidFill>
          <a:ln w="12700">
            <a:solidFill>
              <a:schemeClr val="accent1"/>
            </a:solidFill>
            <a:prstDash val="solid"/>
          </a:ln>
        </p:spPr>
      </p:sp>
      <p:sp>
        <p:nvSpPr>
          <p:cNvPr id="29" name="Text 26"/>
          <p:cNvSpPr txBox="1"/>
          <p:nvPr/>
        </p:nvSpPr>
        <p:spPr>
          <a:xfrm>
            <a:off x="4526280" y="46177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Text 27"/>
          <p:cNvSpPr txBox="1"/>
          <p:nvPr/>
        </p:nvSpPr>
        <p:spPr>
          <a:xfrm>
            <a:off x="5166360" y="4617720"/>
            <a:ext cx="2514600" cy="502920"/>
          </a:xfrm>
          <a:prstGeom prst="rect">
            <a:avLst/>
          </a:prstGeom>
          <a:noFill/>
          <a:ln/>
        </p:spPr>
        <p:txBody>
          <a:bodyPr wrap="square" lIns="0" tIns="0" rIns="0" bIns="0" rtlCol="0" anchor="ctr"/>
          <a:lstStyle/>
          <a:p>
            <a:pPr indent="0" marL="0">
              <a:buNone/>
            </a:pPr>
            <a:r>
              <a:rPr lang="en-US" sz="1800" b="1" dirty="0">
                <a:solidFill>
                  <a:schemeClr val="tx1"/>
                </a:solidFill>
              </a:rPr>
              <a:t>The online softmax</a:t>
            </a:r>
            <a:endParaRPr lang="en-US" sz="1800" dirty="0"/>
          </a:p>
        </p:txBody>
      </p:sp>
      <p:sp>
        <p:nvSpPr>
          <p:cNvPr id="31" name="Text 28"/>
          <p:cNvSpPr txBox="1"/>
          <p:nvPr/>
        </p:nvSpPr>
        <p:spPr>
          <a:xfrm>
            <a:off x="4526280" y="5257800"/>
            <a:ext cx="3154680" cy="731520"/>
          </a:xfrm>
          <a:prstGeom prst="rect">
            <a:avLst/>
          </a:prstGeom>
          <a:noFill/>
          <a:ln/>
        </p:spPr>
        <p:txBody>
          <a:bodyPr wrap="square" lIns="0" tIns="0" rIns="0" bIns="0" rtlCol="0" anchor="t"/>
          <a:lstStyle/>
          <a:p>
            <a:pPr indent="0" marL="0">
              <a:buNone/>
            </a:pPr>
            <a:r>
              <a:rPr lang="en-US" sz="1500" dirty="0">
                <a:solidFill>
                  <a:schemeClr val="tx2"/>
                </a:solidFill>
              </a:rPr>
              <a:t>An exact softmax one block at a time, and FlashAttention's loop</a:t>
            </a:r>
            <a:endParaRPr lang="en-US" sz="1500" dirty="0"/>
          </a:p>
        </p:txBody>
      </p:sp>
      <p:sp>
        <p:nvSpPr>
          <p:cNvPr id="32" name="result"/>
          <p:cNvSpPr/>
          <p:nvPr/>
        </p:nvSpPr>
        <p:spPr>
          <a:xfrm>
            <a:off x="8046720" y="4389120"/>
            <a:ext cx="3566160" cy="1691640"/>
          </a:xfrm>
          <a:prstGeom prst="roundRect">
            <a:avLst>
              <a:gd name="adj" fmla="val 6486"/>
            </a:avLst>
          </a:prstGeom>
          <a:solidFill>
            <a:schemeClr val="tx1"/>
          </a:solidFill>
          <a:ln w="12700">
            <a:solidFill>
              <a:schemeClr val="tx1"/>
            </a:solidFill>
            <a:prstDash val="solid"/>
          </a:ln>
        </p:spPr>
      </p:sp>
      <p:sp>
        <p:nvSpPr>
          <p:cNvPr id="33" name="Text 30"/>
          <p:cNvSpPr txBox="1"/>
          <p:nvPr/>
        </p:nvSpPr>
        <p:spPr>
          <a:xfrm>
            <a:off x="8275320" y="4389120"/>
            <a:ext cx="3108960" cy="1691640"/>
          </a:xfrm>
          <a:prstGeom prst="rect">
            <a:avLst/>
          </a:prstGeom>
          <a:noFill/>
          <a:ln/>
        </p:spPr>
        <p:txBody>
          <a:bodyPr wrap="square" lIns="0" tIns="0" rIns="0" bIns="0" rtlCol="0" anchor="ctr"/>
          <a:lstStyle/>
          <a:p>
            <a:pPr indent="0" marL="0">
              <a:buNone/>
            </a:pPr>
            <a:r>
              <a:rPr lang="en-US" sz="1600" b="1" dirty="0">
                <a:solidFill>
                  <a:schemeClr val="accent2"/>
                </a:solidFill>
              </a:rPr>
              <a:t>The punchline: </a:t>
            </a:r>
            <a:endParaRPr lang="en-US" sz="1600" dirty="0"/>
          </a:p>
          <a:p>
            <a:pPr indent="0" marL="0">
              <a:buNone/>
            </a:pPr>
            <a:r>
              <a:rPr lang="en-US" sz="1600" dirty="0">
                <a:solidFill>
                  <a:schemeClr val="bg1"/>
                </a:solidFill>
              </a:rPr>
              <a:t>same result, about the same FLOPs, but no T × T matrix in GPU memory.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Prefill reads the prompt at once; decode adds one token</a:t>
            </a:r>
            <a:endParaRPr lang="en-US" sz="3200" dirty="0"/>
          </a:p>
        </p:txBody>
      </p:sp>
      <p:sp>
        <p:nvSpPr>
          <p:cNvPr id="4" name="Text 1"/>
          <p:cNvSpPr txBox="1"/>
          <p:nvPr/>
        </p:nvSpPr>
        <p:spPr>
          <a:xfrm>
            <a:off x="548640" y="1280160"/>
            <a:ext cx="6949440" cy="365760"/>
          </a:xfrm>
          <a:prstGeom prst="rect">
            <a:avLst/>
          </a:prstGeom>
          <a:noFill/>
          <a:ln/>
        </p:spPr>
        <p:txBody>
          <a:bodyPr wrap="square" lIns="0" tIns="0" rIns="0" bIns="0" rtlCol="0" anchor="t"/>
          <a:lstStyle/>
          <a:p>
            <a:pPr indent="0" marL="0">
              <a:buNone/>
            </a:pPr>
            <a:r>
              <a:rPr lang="en-US" sz="1600" b="1" dirty="0">
                <a:solidFill>
                  <a:schemeClr val="tx1"/>
                </a:solidFill>
              </a:rPr>
              <a:t>Prefill: the whole prompt in one parallel pass</a:t>
            </a:r>
            <a:endParaRPr lang="en-US" sz="1600" dirty="0"/>
          </a:p>
        </p:txBody>
      </p:sp>
      <p:sp>
        <p:nvSpPr>
          <p:cNvPr id="5" name="Shape 2"/>
          <p:cNvSpPr/>
          <p:nvPr/>
        </p:nvSpPr>
        <p:spPr>
          <a:xfrm>
            <a:off x="548640" y="1737360"/>
            <a:ext cx="1051560" cy="457200"/>
          </a:xfrm>
          <a:prstGeom prst="roundRect">
            <a:avLst>
              <a:gd name="adj" fmla="val 16000"/>
            </a:avLst>
          </a:prstGeom>
          <a:solidFill>
            <a:schemeClr val="accent1"/>
          </a:solidFill>
          <a:ln w="12700">
            <a:solidFill>
              <a:schemeClr val="accent1"/>
            </a:solidFill>
            <a:prstDash val="solid"/>
          </a:ln>
        </p:spPr>
      </p:sp>
      <p:sp>
        <p:nvSpPr>
          <p:cNvPr id="6" name="Text 3"/>
          <p:cNvSpPr txBox="1"/>
          <p:nvPr/>
        </p:nvSpPr>
        <p:spPr>
          <a:xfrm>
            <a:off x="548640" y="1737360"/>
            <a:ext cx="10515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The</a:t>
            </a:r>
            <a:endParaRPr lang="en-US" sz="1400" dirty="0"/>
          </a:p>
        </p:txBody>
      </p:sp>
      <p:sp>
        <p:nvSpPr>
          <p:cNvPr id="7" name="Shape 4"/>
          <p:cNvSpPr/>
          <p:nvPr/>
        </p:nvSpPr>
        <p:spPr>
          <a:xfrm>
            <a:off x="1673352" y="1737360"/>
            <a:ext cx="1051560" cy="457200"/>
          </a:xfrm>
          <a:prstGeom prst="roundRect">
            <a:avLst>
              <a:gd name="adj" fmla="val 16000"/>
            </a:avLst>
          </a:prstGeom>
          <a:solidFill>
            <a:schemeClr val="accent1"/>
          </a:solidFill>
          <a:ln w="12700">
            <a:solidFill>
              <a:schemeClr val="accent1"/>
            </a:solidFill>
            <a:prstDash val="solid"/>
          </a:ln>
        </p:spPr>
      </p:sp>
      <p:sp>
        <p:nvSpPr>
          <p:cNvPr id="8" name="Text 5"/>
          <p:cNvSpPr txBox="1"/>
          <p:nvPr/>
        </p:nvSpPr>
        <p:spPr>
          <a:xfrm>
            <a:off x="1673352" y="1737360"/>
            <a:ext cx="10515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robot</a:t>
            </a:r>
            <a:endParaRPr lang="en-US" sz="1400" dirty="0"/>
          </a:p>
        </p:txBody>
      </p:sp>
      <p:sp>
        <p:nvSpPr>
          <p:cNvPr id="9" name="Shape 6"/>
          <p:cNvSpPr/>
          <p:nvPr/>
        </p:nvSpPr>
        <p:spPr>
          <a:xfrm>
            <a:off x="2798064" y="1737360"/>
            <a:ext cx="1051560" cy="457200"/>
          </a:xfrm>
          <a:prstGeom prst="roundRect">
            <a:avLst>
              <a:gd name="adj" fmla="val 16000"/>
            </a:avLst>
          </a:prstGeom>
          <a:solidFill>
            <a:schemeClr val="accent1"/>
          </a:solidFill>
          <a:ln w="12700">
            <a:solidFill>
              <a:schemeClr val="accent1"/>
            </a:solidFill>
            <a:prstDash val="solid"/>
          </a:ln>
        </p:spPr>
      </p:sp>
      <p:sp>
        <p:nvSpPr>
          <p:cNvPr id="10" name="Text 7"/>
          <p:cNvSpPr txBox="1"/>
          <p:nvPr/>
        </p:nvSpPr>
        <p:spPr>
          <a:xfrm>
            <a:off x="2798064" y="1737360"/>
            <a:ext cx="10515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opened</a:t>
            </a:r>
            <a:endParaRPr lang="en-US" sz="1400" dirty="0"/>
          </a:p>
        </p:txBody>
      </p:sp>
      <p:sp>
        <p:nvSpPr>
          <p:cNvPr id="11" name="Shape 8"/>
          <p:cNvSpPr/>
          <p:nvPr/>
        </p:nvSpPr>
        <p:spPr>
          <a:xfrm>
            <a:off x="3922776" y="1737360"/>
            <a:ext cx="1051560" cy="457200"/>
          </a:xfrm>
          <a:prstGeom prst="roundRect">
            <a:avLst>
              <a:gd name="adj" fmla="val 16000"/>
            </a:avLst>
          </a:prstGeom>
          <a:solidFill>
            <a:schemeClr val="accent1"/>
          </a:solidFill>
          <a:ln w="12700">
            <a:solidFill>
              <a:schemeClr val="accent1"/>
            </a:solidFill>
            <a:prstDash val="solid"/>
          </a:ln>
        </p:spPr>
      </p:sp>
      <p:sp>
        <p:nvSpPr>
          <p:cNvPr id="12" name="Text 9"/>
          <p:cNvSpPr txBox="1"/>
          <p:nvPr/>
        </p:nvSpPr>
        <p:spPr>
          <a:xfrm>
            <a:off x="3922776" y="1737360"/>
            <a:ext cx="105156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the</a:t>
            </a:r>
            <a:endParaRPr lang="en-US" sz="1400" dirty="0"/>
          </a:p>
        </p:txBody>
      </p:sp>
      <p:sp>
        <p:nvSpPr>
          <p:cNvPr id="13" name="Text 10"/>
          <p:cNvSpPr txBox="1"/>
          <p:nvPr/>
        </p:nvSpPr>
        <p:spPr>
          <a:xfrm>
            <a:off x="5120640" y="1737360"/>
            <a:ext cx="2468880" cy="457200"/>
          </a:xfrm>
          <a:prstGeom prst="rect">
            <a:avLst/>
          </a:prstGeom>
          <a:noFill/>
          <a:ln/>
        </p:spPr>
        <p:txBody>
          <a:bodyPr wrap="square" lIns="0" tIns="0" rIns="0" bIns="0" rtlCol="0" anchor="ctr"/>
          <a:lstStyle/>
          <a:p>
            <a:pPr indent="0" marL="0">
              <a:buNone/>
            </a:pPr>
            <a:r>
              <a:rPr lang="en-US" sz="1300" dirty="0">
                <a:solidFill>
                  <a:schemeClr val="tx2"/>
                </a:solidFill>
              </a:rPr>
              <a:t>→ fills the cache, predicts "door"</a:t>
            </a:r>
            <a:endParaRPr lang="en-US" sz="1300" dirty="0"/>
          </a:p>
        </p:txBody>
      </p:sp>
      <p:sp>
        <p:nvSpPr>
          <p:cNvPr id="14" name="Text 11"/>
          <p:cNvSpPr txBox="1"/>
          <p:nvPr/>
        </p:nvSpPr>
        <p:spPr>
          <a:xfrm>
            <a:off x="548640" y="2514600"/>
            <a:ext cx="6949440" cy="365760"/>
          </a:xfrm>
          <a:prstGeom prst="rect">
            <a:avLst/>
          </a:prstGeom>
          <a:noFill/>
          <a:ln/>
        </p:spPr>
        <p:txBody>
          <a:bodyPr wrap="square" lIns="0" tIns="0" rIns="0" bIns="0" rtlCol="0" anchor="t"/>
          <a:lstStyle/>
          <a:p>
            <a:pPr indent="0" marL="0">
              <a:buNone/>
            </a:pPr>
            <a:r>
              <a:rPr lang="en-US" sz="1600" b="1" dirty="0">
                <a:solidFill>
                  <a:schemeClr val="tx1"/>
                </a:solidFill>
              </a:rPr>
              <a:t>Decode: one token per step, attending to everything cached</a:t>
            </a:r>
            <a:endParaRPr lang="en-US" sz="1600" dirty="0"/>
          </a:p>
        </p:txBody>
      </p:sp>
      <p:sp>
        <p:nvSpPr>
          <p:cNvPr id="15" name="Shape 12"/>
          <p:cNvSpPr/>
          <p:nvPr/>
        </p:nvSpPr>
        <p:spPr>
          <a:xfrm>
            <a:off x="548640" y="3017520"/>
            <a:ext cx="896112" cy="457200"/>
          </a:xfrm>
          <a:prstGeom prst="roundRect">
            <a:avLst>
              <a:gd name="adj" fmla="val 16000"/>
            </a:avLst>
          </a:prstGeom>
          <a:solidFill>
            <a:schemeClr val="bg2"/>
          </a:solidFill>
          <a:ln w="12700">
            <a:solidFill>
              <a:schemeClr val="bg2"/>
            </a:solidFill>
            <a:prstDash val="solid"/>
          </a:ln>
        </p:spPr>
      </p:sp>
      <p:sp>
        <p:nvSpPr>
          <p:cNvPr id="16" name="Text 13"/>
          <p:cNvSpPr txBox="1"/>
          <p:nvPr/>
        </p:nvSpPr>
        <p:spPr>
          <a:xfrm>
            <a:off x="548640" y="301752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17" name="Shape 14"/>
          <p:cNvSpPr/>
          <p:nvPr/>
        </p:nvSpPr>
        <p:spPr>
          <a:xfrm>
            <a:off x="1499616" y="3017520"/>
            <a:ext cx="896112" cy="457200"/>
          </a:xfrm>
          <a:prstGeom prst="roundRect">
            <a:avLst>
              <a:gd name="adj" fmla="val 16000"/>
            </a:avLst>
          </a:prstGeom>
          <a:solidFill>
            <a:schemeClr val="bg2"/>
          </a:solidFill>
          <a:ln w="12700">
            <a:solidFill>
              <a:schemeClr val="bg2"/>
            </a:solidFill>
            <a:prstDash val="solid"/>
          </a:ln>
        </p:spPr>
      </p:sp>
      <p:sp>
        <p:nvSpPr>
          <p:cNvPr id="18" name="Text 15"/>
          <p:cNvSpPr txBox="1"/>
          <p:nvPr/>
        </p:nvSpPr>
        <p:spPr>
          <a:xfrm>
            <a:off x="1499616" y="301752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robot</a:t>
            </a:r>
            <a:endParaRPr lang="en-US" sz="1300" dirty="0"/>
          </a:p>
        </p:txBody>
      </p:sp>
      <p:sp>
        <p:nvSpPr>
          <p:cNvPr id="19" name="Shape 16"/>
          <p:cNvSpPr/>
          <p:nvPr/>
        </p:nvSpPr>
        <p:spPr>
          <a:xfrm>
            <a:off x="2450592" y="3017520"/>
            <a:ext cx="896112" cy="457200"/>
          </a:xfrm>
          <a:prstGeom prst="roundRect">
            <a:avLst>
              <a:gd name="adj" fmla="val 16000"/>
            </a:avLst>
          </a:prstGeom>
          <a:solidFill>
            <a:schemeClr val="bg2"/>
          </a:solidFill>
          <a:ln w="12700">
            <a:solidFill>
              <a:schemeClr val="bg2"/>
            </a:solidFill>
            <a:prstDash val="solid"/>
          </a:ln>
        </p:spPr>
      </p:sp>
      <p:sp>
        <p:nvSpPr>
          <p:cNvPr id="20" name="Text 17"/>
          <p:cNvSpPr txBox="1"/>
          <p:nvPr/>
        </p:nvSpPr>
        <p:spPr>
          <a:xfrm>
            <a:off x="2450592" y="301752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opened</a:t>
            </a:r>
            <a:endParaRPr lang="en-US" sz="1300" dirty="0"/>
          </a:p>
        </p:txBody>
      </p:sp>
      <p:sp>
        <p:nvSpPr>
          <p:cNvPr id="21" name="Shape 18"/>
          <p:cNvSpPr/>
          <p:nvPr/>
        </p:nvSpPr>
        <p:spPr>
          <a:xfrm>
            <a:off x="3401568" y="3017520"/>
            <a:ext cx="896112" cy="457200"/>
          </a:xfrm>
          <a:prstGeom prst="roundRect">
            <a:avLst>
              <a:gd name="adj" fmla="val 16000"/>
            </a:avLst>
          </a:prstGeom>
          <a:solidFill>
            <a:schemeClr val="bg2"/>
          </a:solidFill>
          <a:ln w="12700">
            <a:solidFill>
              <a:schemeClr val="bg2"/>
            </a:solidFill>
            <a:prstDash val="solid"/>
          </a:ln>
        </p:spPr>
      </p:sp>
      <p:sp>
        <p:nvSpPr>
          <p:cNvPr id="22" name="Text 19"/>
          <p:cNvSpPr txBox="1"/>
          <p:nvPr/>
        </p:nvSpPr>
        <p:spPr>
          <a:xfrm>
            <a:off x="3401568" y="301752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23" name="Shape 20"/>
          <p:cNvSpPr/>
          <p:nvPr/>
        </p:nvSpPr>
        <p:spPr>
          <a:xfrm>
            <a:off x="4352544" y="3017520"/>
            <a:ext cx="896112" cy="457200"/>
          </a:xfrm>
          <a:prstGeom prst="roundRect">
            <a:avLst>
              <a:gd name="adj" fmla="val 16000"/>
            </a:avLst>
          </a:prstGeom>
          <a:solidFill>
            <a:schemeClr val="accent1"/>
          </a:solidFill>
          <a:ln w="12700">
            <a:solidFill>
              <a:schemeClr val="accent1"/>
            </a:solidFill>
            <a:prstDash val="solid"/>
          </a:ln>
        </p:spPr>
      </p:sp>
      <p:sp>
        <p:nvSpPr>
          <p:cNvPr id="24" name="Text 21"/>
          <p:cNvSpPr txBox="1"/>
          <p:nvPr/>
        </p:nvSpPr>
        <p:spPr>
          <a:xfrm>
            <a:off x="4352544" y="3017520"/>
            <a:ext cx="896112"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door</a:t>
            </a:r>
            <a:endParaRPr lang="en-US" sz="1300" dirty="0"/>
          </a:p>
        </p:txBody>
      </p:sp>
      <p:sp>
        <p:nvSpPr>
          <p:cNvPr id="25" name="Text 22"/>
          <p:cNvSpPr txBox="1"/>
          <p:nvPr/>
        </p:nvSpPr>
        <p:spPr>
          <a:xfrm>
            <a:off x="6400800" y="3017520"/>
            <a:ext cx="1371600" cy="457200"/>
          </a:xfrm>
          <a:prstGeom prst="rect">
            <a:avLst/>
          </a:prstGeom>
          <a:noFill/>
          <a:ln/>
        </p:spPr>
        <p:txBody>
          <a:bodyPr wrap="square" lIns="0" tIns="0" rIns="0" bIns="0" rtlCol="0" anchor="ctr"/>
          <a:lstStyle/>
          <a:p>
            <a:pPr indent="0" marL="0">
              <a:buNone/>
            </a:pPr>
            <a:r>
              <a:rPr lang="en-US" sz="1200" dirty="0">
                <a:solidFill>
                  <a:schemeClr val="tx2"/>
                </a:solidFill>
              </a:rPr>
              <a:t>step 1: 5 keys</a:t>
            </a:r>
            <a:endParaRPr lang="en-US" sz="1200" dirty="0"/>
          </a:p>
        </p:txBody>
      </p:sp>
      <p:sp>
        <p:nvSpPr>
          <p:cNvPr id="26" name="Shape 23"/>
          <p:cNvSpPr/>
          <p:nvPr/>
        </p:nvSpPr>
        <p:spPr>
          <a:xfrm>
            <a:off x="548640" y="3749040"/>
            <a:ext cx="896112" cy="457200"/>
          </a:xfrm>
          <a:prstGeom prst="roundRect">
            <a:avLst>
              <a:gd name="adj" fmla="val 16000"/>
            </a:avLst>
          </a:prstGeom>
          <a:solidFill>
            <a:schemeClr val="bg2"/>
          </a:solidFill>
          <a:ln w="12700">
            <a:solidFill>
              <a:schemeClr val="bg2"/>
            </a:solidFill>
            <a:prstDash val="solid"/>
          </a:ln>
        </p:spPr>
      </p:sp>
      <p:sp>
        <p:nvSpPr>
          <p:cNvPr id="27" name="Text 24"/>
          <p:cNvSpPr txBox="1"/>
          <p:nvPr/>
        </p:nvSpPr>
        <p:spPr>
          <a:xfrm>
            <a:off x="548640"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28" name="Shape 25"/>
          <p:cNvSpPr/>
          <p:nvPr/>
        </p:nvSpPr>
        <p:spPr>
          <a:xfrm>
            <a:off x="1499616" y="3749040"/>
            <a:ext cx="896112" cy="457200"/>
          </a:xfrm>
          <a:prstGeom prst="roundRect">
            <a:avLst>
              <a:gd name="adj" fmla="val 16000"/>
            </a:avLst>
          </a:prstGeom>
          <a:solidFill>
            <a:schemeClr val="bg2"/>
          </a:solidFill>
          <a:ln w="12700">
            <a:solidFill>
              <a:schemeClr val="bg2"/>
            </a:solidFill>
            <a:prstDash val="solid"/>
          </a:ln>
        </p:spPr>
      </p:sp>
      <p:sp>
        <p:nvSpPr>
          <p:cNvPr id="29" name="Text 26"/>
          <p:cNvSpPr txBox="1"/>
          <p:nvPr/>
        </p:nvSpPr>
        <p:spPr>
          <a:xfrm>
            <a:off x="1499616"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robot</a:t>
            </a:r>
            <a:endParaRPr lang="en-US" sz="1300" dirty="0"/>
          </a:p>
        </p:txBody>
      </p:sp>
      <p:sp>
        <p:nvSpPr>
          <p:cNvPr id="30" name="Shape 27"/>
          <p:cNvSpPr/>
          <p:nvPr/>
        </p:nvSpPr>
        <p:spPr>
          <a:xfrm>
            <a:off x="2450592" y="3749040"/>
            <a:ext cx="896112" cy="457200"/>
          </a:xfrm>
          <a:prstGeom prst="roundRect">
            <a:avLst>
              <a:gd name="adj" fmla="val 16000"/>
            </a:avLst>
          </a:prstGeom>
          <a:solidFill>
            <a:schemeClr val="bg2"/>
          </a:solidFill>
          <a:ln w="12700">
            <a:solidFill>
              <a:schemeClr val="bg2"/>
            </a:solidFill>
            <a:prstDash val="solid"/>
          </a:ln>
        </p:spPr>
      </p:sp>
      <p:sp>
        <p:nvSpPr>
          <p:cNvPr id="31" name="Text 28"/>
          <p:cNvSpPr txBox="1"/>
          <p:nvPr/>
        </p:nvSpPr>
        <p:spPr>
          <a:xfrm>
            <a:off x="2450592"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opened</a:t>
            </a:r>
            <a:endParaRPr lang="en-US" sz="1300" dirty="0"/>
          </a:p>
        </p:txBody>
      </p:sp>
      <p:sp>
        <p:nvSpPr>
          <p:cNvPr id="32" name="Shape 29"/>
          <p:cNvSpPr/>
          <p:nvPr/>
        </p:nvSpPr>
        <p:spPr>
          <a:xfrm>
            <a:off x="3401568" y="3749040"/>
            <a:ext cx="896112" cy="457200"/>
          </a:xfrm>
          <a:prstGeom prst="roundRect">
            <a:avLst>
              <a:gd name="adj" fmla="val 16000"/>
            </a:avLst>
          </a:prstGeom>
          <a:solidFill>
            <a:schemeClr val="bg2"/>
          </a:solidFill>
          <a:ln w="12700">
            <a:solidFill>
              <a:schemeClr val="bg2"/>
            </a:solidFill>
            <a:prstDash val="solid"/>
          </a:ln>
        </p:spPr>
      </p:sp>
      <p:sp>
        <p:nvSpPr>
          <p:cNvPr id="33" name="Text 30"/>
          <p:cNvSpPr txBox="1"/>
          <p:nvPr/>
        </p:nvSpPr>
        <p:spPr>
          <a:xfrm>
            <a:off x="3401568"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the</a:t>
            </a:r>
            <a:endParaRPr lang="en-US" sz="1300" dirty="0"/>
          </a:p>
        </p:txBody>
      </p:sp>
      <p:sp>
        <p:nvSpPr>
          <p:cNvPr id="34" name="Shape 31"/>
          <p:cNvSpPr/>
          <p:nvPr/>
        </p:nvSpPr>
        <p:spPr>
          <a:xfrm>
            <a:off x="4352544" y="3749040"/>
            <a:ext cx="896112" cy="457200"/>
          </a:xfrm>
          <a:prstGeom prst="roundRect">
            <a:avLst>
              <a:gd name="adj" fmla="val 16000"/>
            </a:avLst>
          </a:prstGeom>
          <a:solidFill>
            <a:schemeClr val="bg2"/>
          </a:solidFill>
          <a:ln w="12700">
            <a:solidFill>
              <a:schemeClr val="bg2"/>
            </a:solidFill>
            <a:prstDash val="solid"/>
          </a:ln>
        </p:spPr>
      </p:sp>
      <p:sp>
        <p:nvSpPr>
          <p:cNvPr id="35" name="Text 32"/>
          <p:cNvSpPr txBox="1"/>
          <p:nvPr/>
        </p:nvSpPr>
        <p:spPr>
          <a:xfrm>
            <a:off x="4352544" y="3749040"/>
            <a:ext cx="896112" cy="457200"/>
          </a:xfrm>
          <a:prstGeom prst="rect">
            <a:avLst/>
          </a:prstGeom>
          <a:noFill/>
          <a:ln/>
        </p:spPr>
        <p:txBody>
          <a:bodyPr wrap="square" lIns="0" tIns="0" rIns="0" bIns="0" rtlCol="0" anchor="ctr"/>
          <a:lstStyle/>
          <a:p>
            <a:pPr algn="ctr" indent="0" marL="0">
              <a:buNone/>
            </a:pPr>
            <a:r>
              <a:rPr lang="en-US" sz="1300" dirty="0">
                <a:solidFill>
                  <a:schemeClr val="tx1"/>
                </a:solidFill>
                <a:latin typeface="Courier New" pitchFamily="34" charset="0"/>
                <a:ea typeface="Courier New" pitchFamily="34" charset="-122"/>
                <a:cs typeface="Courier New" pitchFamily="34" charset="-120"/>
              </a:rPr>
              <a:t>door</a:t>
            </a:r>
            <a:endParaRPr lang="en-US" sz="1300" dirty="0"/>
          </a:p>
        </p:txBody>
      </p:sp>
      <p:sp>
        <p:nvSpPr>
          <p:cNvPr id="36" name="Shape 33"/>
          <p:cNvSpPr/>
          <p:nvPr/>
        </p:nvSpPr>
        <p:spPr>
          <a:xfrm>
            <a:off x="5303520" y="3749040"/>
            <a:ext cx="896112" cy="457200"/>
          </a:xfrm>
          <a:prstGeom prst="roundRect">
            <a:avLst>
              <a:gd name="adj" fmla="val 16000"/>
            </a:avLst>
          </a:prstGeom>
          <a:solidFill>
            <a:schemeClr val="accent1"/>
          </a:solidFill>
          <a:ln w="12700">
            <a:solidFill>
              <a:schemeClr val="accent1"/>
            </a:solidFill>
            <a:prstDash val="solid"/>
          </a:ln>
        </p:spPr>
      </p:sp>
      <p:sp>
        <p:nvSpPr>
          <p:cNvPr id="37" name="Text 34"/>
          <p:cNvSpPr txBox="1"/>
          <p:nvPr/>
        </p:nvSpPr>
        <p:spPr>
          <a:xfrm>
            <a:off x="5303520" y="3749040"/>
            <a:ext cx="896112"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and</a:t>
            </a:r>
            <a:endParaRPr lang="en-US" sz="1300" dirty="0"/>
          </a:p>
        </p:txBody>
      </p:sp>
      <p:sp>
        <p:nvSpPr>
          <p:cNvPr id="38" name="Text 35"/>
          <p:cNvSpPr txBox="1"/>
          <p:nvPr/>
        </p:nvSpPr>
        <p:spPr>
          <a:xfrm>
            <a:off x="6400800" y="3749040"/>
            <a:ext cx="1371600" cy="457200"/>
          </a:xfrm>
          <a:prstGeom prst="rect">
            <a:avLst/>
          </a:prstGeom>
          <a:noFill/>
          <a:ln/>
        </p:spPr>
        <p:txBody>
          <a:bodyPr wrap="square" lIns="0" tIns="0" rIns="0" bIns="0" rtlCol="0" anchor="ctr"/>
          <a:lstStyle/>
          <a:p>
            <a:pPr indent="0" marL="0">
              <a:buNone/>
            </a:pPr>
            <a:r>
              <a:rPr lang="en-US" sz="1200" dirty="0">
                <a:solidFill>
                  <a:schemeClr val="tx2"/>
                </a:solidFill>
              </a:rPr>
              <a:t>step 2: 6 keys</a:t>
            </a:r>
            <a:endParaRPr lang="en-US" sz="1200" dirty="0"/>
          </a:p>
        </p:txBody>
      </p:sp>
      <p:sp>
        <p:nvSpPr>
          <p:cNvPr id="39" name="Text 36"/>
          <p:cNvSpPr txBox="1"/>
          <p:nvPr/>
        </p:nvSpPr>
        <p:spPr>
          <a:xfrm>
            <a:off x="548640" y="4526280"/>
            <a:ext cx="6949440" cy="457200"/>
          </a:xfrm>
          <a:prstGeom prst="rect">
            <a:avLst/>
          </a:prstGeom>
          <a:noFill/>
          <a:ln/>
        </p:spPr>
        <p:txBody>
          <a:bodyPr wrap="square" lIns="0" tIns="0" rIns="0" bIns="0" rtlCol="0" anchor="t"/>
          <a:lstStyle/>
          <a:p>
            <a:pPr indent="0" marL="0">
              <a:buNone/>
            </a:pPr>
            <a:r>
              <a:rPr lang="en-US" sz="1300" dirty="0">
                <a:solidFill>
                  <a:schemeClr val="tx2"/>
                </a:solidFill>
              </a:rPr>
              <a:t>Teal: tokens whose Q, K, V are computed in this pass. Grey: K and V read from the cache.</a:t>
            </a:r>
            <a:endParaRPr lang="en-US" sz="1300" dirty="0"/>
          </a:p>
        </p:txBody>
      </p:sp>
      <p:sp>
        <p:nvSpPr>
          <p:cNvPr id="40" name="shapes"/>
          <p:cNvSpPr/>
          <p:nvPr/>
        </p:nvSpPr>
        <p:spPr>
          <a:xfrm>
            <a:off x="548640" y="5120640"/>
            <a:ext cx="6949440" cy="1051560"/>
          </a:xfrm>
          <a:prstGeom prst="roundRect">
            <a:avLst>
              <a:gd name="adj" fmla="val 10435"/>
            </a:avLst>
          </a:prstGeom>
          <a:solidFill>
            <a:schemeClr val="bg2"/>
          </a:solidFill>
          <a:ln w="12700">
            <a:solidFill>
              <a:schemeClr val="bg2"/>
            </a:solidFill>
            <a:prstDash val="solid"/>
          </a:ln>
        </p:spPr>
      </p:sp>
      <p:sp>
        <p:nvSpPr>
          <p:cNvPr id="41" name="Text 38"/>
          <p:cNvSpPr txBox="1"/>
          <p:nvPr/>
        </p:nvSpPr>
        <p:spPr>
          <a:xfrm>
            <a:off x="822960" y="5120640"/>
            <a:ext cx="6492240" cy="1051560"/>
          </a:xfrm>
          <a:prstGeom prst="rect">
            <a:avLst/>
          </a:prstGeom>
          <a:noFill/>
          <a:ln/>
        </p:spPr>
        <p:txBody>
          <a:bodyPr wrap="square" lIns="0" tIns="0" rIns="0" bIns="0" rtlCol="0" anchor="ctr"/>
          <a:lstStyle/>
          <a:p>
            <a:pPr indent="0" marL="0">
              <a:buNone/>
            </a:pPr>
            <a:r>
              <a:rPr lang="en-US" sz="1600" b="1" dirty="0">
                <a:solidFill>
                  <a:schemeClr val="tx1"/>
                </a:solidFill>
              </a:rPr>
              <a:t>Score matrix per head: </a:t>
            </a:r>
            <a:endParaRPr lang="en-US" sz="1600" dirty="0"/>
          </a:p>
          <a:p>
            <a:pPr indent="0" marL="0">
              <a:buNone/>
            </a:pPr>
            <a:r>
              <a:rPr lang="en-US" sz="1600" dirty="0">
                <a:solidFill>
                  <a:schemeClr val="tx1"/>
                </a:solidFill>
              </a:rPr>
              <a:t>prefill </a:t>
            </a:r>
            <a:r>
              <a:rPr lang="en-US" sz="1600" dirty="0">
                <a:solidFill>
                  <a:schemeClr val="tx1"/>
                </a:solidFill>
                <a:latin typeface="Courier New" pitchFamily="34" charset="0"/>
                <a:ea typeface="Courier New" pitchFamily="34" charset="-122"/>
                <a:cs typeface="Courier New" pitchFamily="34" charset="-120"/>
              </a:rPr>
              <a:t>Tq × Tk = 5 × 5</a:t>
            </a:r>
            <a:r>
              <a:rPr lang="en-US" sz="1600" dirty="0">
                <a:solidFill>
                  <a:schemeClr val="tx1"/>
                </a:solidFill>
              </a:rPr>
              <a:t>   ·   decode </a:t>
            </a:r>
            <a:r>
              <a:rPr lang="en-US" sz="1600" dirty="0">
                <a:solidFill>
                  <a:schemeClr val="tx1"/>
                </a:solidFill>
                <a:latin typeface="Courier New" pitchFamily="34" charset="0"/>
                <a:ea typeface="Courier New" pitchFamily="34" charset="-122"/>
                <a:cs typeface="Courier New" pitchFamily="34" charset="-120"/>
              </a:rPr>
              <a:t>1 × Tk</a:t>
            </a:r>
            <a:endParaRPr lang="en-US" sz="1600" dirty="0"/>
          </a:p>
        </p:txBody>
      </p:sp>
      <p:sp>
        <p:nvSpPr>
          <p:cNvPr id="42" name="two phases"/>
          <p:cNvSpPr/>
          <p:nvPr/>
        </p:nvSpPr>
        <p:spPr>
          <a:xfrm>
            <a:off x="7863840" y="1280160"/>
            <a:ext cx="3749040" cy="4892040"/>
          </a:xfrm>
          <a:prstGeom prst="roundRect">
            <a:avLst>
              <a:gd name="adj" fmla="val 2927"/>
            </a:avLst>
          </a:prstGeom>
          <a:solidFill>
            <a:schemeClr val="accent5"/>
          </a:solidFill>
          <a:ln w="12700">
            <a:solidFill>
              <a:schemeClr val="accent5"/>
            </a:solidFill>
            <a:prstDash val="solid"/>
          </a:ln>
        </p:spPr>
      </p:sp>
      <p:sp>
        <p:nvSpPr>
          <p:cNvPr id="43" name="Text 40"/>
          <p:cNvSpPr txBox="1"/>
          <p:nvPr/>
        </p:nvSpPr>
        <p:spPr>
          <a:xfrm>
            <a:off x="8138160" y="1463040"/>
            <a:ext cx="3291840" cy="411480"/>
          </a:xfrm>
          <a:prstGeom prst="rect">
            <a:avLst/>
          </a:prstGeom>
          <a:noFill/>
          <a:ln/>
        </p:spPr>
        <p:txBody>
          <a:bodyPr wrap="square" lIns="0" tIns="0" rIns="0" bIns="0" rtlCol="0" anchor="t"/>
          <a:lstStyle/>
          <a:p>
            <a:pPr indent="0" marL="0">
              <a:buNone/>
            </a:pPr>
            <a:r>
              <a:rPr lang="en-US" sz="1800" b="1" dirty="0">
                <a:solidFill>
                  <a:schemeClr val="tx1"/>
                </a:solidFill>
              </a:rPr>
              <a:t>Two very different workloads</a:t>
            </a:r>
            <a:endParaRPr lang="en-US" sz="1800" dirty="0"/>
          </a:p>
        </p:txBody>
      </p:sp>
      <p:sp>
        <p:nvSpPr>
          <p:cNvPr id="44" name="Text 41"/>
          <p:cNvSpPr txBox="1"/>
          <p:nvPr/>
        </p:nvSpPr>
        <p:spPr>
          <a:xfrm>
            <a:off x="8138160" y="1965960"/>
            <a:ext cx="3291840" cy="402336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Prefill: </a:t>
            </a:r>
            <a:r>
              <a:rPr lang="en-US" sz="1600" dirty="0">
                <a:solidFill>
                  <a:schemeClr val="tx1"/>
                </a:solidFill>
              </a:rPr>
              <a:t>many queries at once, parallel, like a training forward pass without the loss</a:t>
            </a:r>
            <a:endParaRPr lang="en-US" sz="1600" dirty="0"/>
          </a:p>
          <a:p>
            <a:pPr marL="228600" indent="-228600">
              <a:spcAft>
                <a:spcPts val="800"/>
              </a:spcAft>
              <a:buSzPct val="100000"/>
              <a:buChar char="•"/>
            </a:pPr>
            <a:r>
              <a:rPr lang="en-US" sz="1600" b="1" dirty="0">
                <a:solidFill>
                  <a:schemeClr val="tx1"/>
                </a:solidFill>
              </a:rPr>
              <a:t>Decode: </a:t>
            </a:r>
            <a:r>
              <a:rPr lang="en-US" sz="1600" dirty="0">
                <a:solidFill>
                  <a:schemeClr val="tx1"/>
                </a:solidFill>
              </a:rPr>
              <a:t>one query per step, sequential, but it reads </a:t>
            </a:r>
            <a:r>
              <a:rPr lang="en-US" sz="1600" b="1" dirty="0">
                <a:solidFill>
                  <a:schemeClr val="tx1"/>
                </a:solidFill>
              </a:rPr>
              <a:t>the whole cache</a:t>
            </a:r>
            <a:r>
              <a:rPr lang="en-US" sz="1600" dirty="0">
                <a:solidFill>
                  <a:schemeClr val="tx1"/>
                </a:solidFill>
              </a:rPr>
              <a:t> every step</a:t>
            </a:r>
            <a:endParaRPr lang="en-US" sz="1600" dirty="0"/>
          </a:p>
          <a:p>
            <a:pPr marL="228600" indent="-228600">
              <a:spcAft>
                <a:spcPts val="800"/>
              </a:spcAft>
              <a:buSzPct val="100000"/>
              <a:buChar char="•"/>
            </a:pPr>
            <a:r>
              <a:rPr lang="en-US" sz="1600" b="1" dirty="0">
                <a:solidFill>
                  <a:schemeClr val="tx1"/>
                </a:solidFill>
              </a:rPr>
              <a:t>Prefill </a:t>
            </a:r>
            <a:r>
              <a:rPr lang="en-US" sz="1600" dirty="0">
                <a:solidFill>
                  <a:schemeClr val="tx1"/>
                </a:solidFill>
              </a:rPr>
              <a:t>sets the wait before the first token; </a:t>
            </a:r>
            <a:r>
              <a:rPr lang="en-US" sz="1600" b="1" dirty="0">
                <a:solidFill>
                  <a:schemeClr val="tx1"/>
                </a:solidFill>
              </a:rPr>
              <a:t>decode </a:t>
            </a:r>
            <a:r>
              <a:rPr lang="en-US" sz="1600" dirty="0">
                <a:solidFill>
                  <a:schemeClr val="tx1"/>
                </a:solidFill>
              </a:rPr>
              <a:t>sets how fast tokens stream out.</a:t>
            </a:r>
            <a:endParaRPr lang="en-US" sz="1600" dirty="0"/>
          </a:p>
          <a:p>
            <a:pPr marL="228600" indent="-228600">
              <a:spcAft>
                <a:spcPts val="800"/>
              </a:spcAft>
              <a:buSzPct val="100000"/>
              <a:buChar char="•"/>
            </a:pPr>
            <a:r>
              <a:rPr lang="en-US" sz="1600" dirty="0">
                <a:solidFill>
                  <a:schemeClr val="tx1"/>
                </a:solidFill>
              </a:rPr>
              <a:t>So their bottlenecks differ, and so do the methods that help: next slide.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Prefill works like training; decode does not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286000"/>
                <a:gridCol w="2926080"/>
                <a:gridCol w="2926080"/>
                <a:gridCol w="2926080"/>
              </a:tblGrid>
              <a:tr h="475488">
                <a:tc>
                  <a:txBody>
                    <a:bodyPr/>
                    <a:lstStyle/>
                    <a:p>
                      <a:pPr indent="0" marL="0">
                        <a:buNone/>
                      </a:pP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Training</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Prompt prefill (inference)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Decode (inference)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75488">
                <a:tc>
                  <a:txBody>
                    <a:bodyPr/>
                    <a:lstStyle/>
                    <a:p>
                      <a:pPr indent="0" marL="0">
                        <a:buNone/>
                      </a:pPr>
                      <a:r>
                        <a:rPr lang="en-US" sz="1300" b="1" dirty="0">
                          <a:solidFill>
                            <a:schemeClr val="tx1"/>
                          </a:solidFill>
                        </a:rPr>
                        <a:t>Tokens per pass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whole sequence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whole prompt</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one new token</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Attention shape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Tq = Tk = T</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Tq = Tk = T_prompt</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Tq = 1, Tk = T so far</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Positions in parallel?</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yes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yes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3"/>
                          </a:solidFill>
                        </a:rPr>
                        <a:t>no: one step after another</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Backward pass?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yes: loss on every position</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no</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KV cache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not used</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written for the whole prompt</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read in full, one entry appended</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Main bottleneck</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arithmetic + T × T score matrix (kept for backward)</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arithmetic + T × T score matrix</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3"/>
                          </a:solidFill>
                        </a:rPr>
                        <a:t>memory reads: the whole cache, every step</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75488">
                <a:tc>
                  <a:txBody>
                    <a:bodyPr/>
                    <a:lstStyle/>
                    <a:p>
                      <a:pPr indent="0" marL="0">
                        <a:buNone/>
                      </a:pPr>
                      <a:r>
                        <a:rPr lang="en-US" sz="1300" b="1" dirty="0">
                          <a:solidFill>
                            <a:schemeClr val="tx1"/>
                          </a:solidFill>
                        </a:rPr>
                        <a:t>What helps most</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FlashAttention</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FlashAttention</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4"/>
                          </a:solidFill>
                        </a:rPr>
                        <a:t>MQA / GQA, sliding windows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75488">
                <a:tc>
                  <a:txBody>
                    <a:bodyPr/>
                    <a:lstStyle/>
                    <a:p>
                      <a:pPr indent="0" marL="0">
                        <a:buNone/>
                      </a:pPr>
                      <a:r>
                        <a:rPr lang="en-US" sz="1300" b="1" dirty="0">
                          <a:solidFill>
                            <a:schemeClr val="tx1"/>
                          </a:solidFill>
                        </a:rPr>
                        <a:t>What the user notices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training time and cost</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wait before the first token</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how fast tokens stream out</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dirty="0">
                <a:solidFill>
                  <a:schemeClr val="tx2"/>
                </a:solidFill>
              </a:rPr>
              <a:t>Prefill = a training-style forward pass without the loss or the backward pass. Decode exists only at inference.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Scores grow as T², the cache as T</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4</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126480" cy="914400"/>
        </p:xfrm>
        <a:graphic>
          <a:graphicData uri="http://schemas.openxmlformats.org/drawingml/2006/table">
            <a:tbl>
              <a:tblPr/>
              <a:tblGrid>
                <a:gridCol w="1280160"/>
                <a:gridCol w="1371600"/>
                <a:gridCol w="2103120"/>
                <a:gridCol w="1371600"/>
              </a:tblGrid>
              <a:tr h="731520">
                <a:tc>
                  <a:txBody>
                    <a:bodyPr/>
                    <a:lstStyle/>
                    <a:p>
                      <a:pPr indent="0" marL="0">
                        <a:buNone/>
                      </a:pPr>
                      <a:r>
                        <a:rPr lang="en-US" sz="1300" b="1" dirty="0">
                          <a:solidFill>
                            <a:schemeClr val="bg1"/>
                          </a:solidFill>
                        </a:rPr>
                        <a:t>Phase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Shape of the work</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Memory bottleneck</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Helped by</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731520">
                <a:tc>
                  <a:txBody>
                    <a:bodyPr/>
                    <a:lstStyle/>
                    <a:p>
                      <a:pPr indent="0" marL="0">
                        <a:buNone/>
                      </a:pPr>
                      <a:r>
                        <a:rPr lang="en-US" sz="1300" b="1" dirty="0">
                          <a:solidFill>
                            <a:schemeClr val="tx1"/>
                          </a:solidFill>
                        </a:rPr>
                        <a:t>Training, prompt prefill</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Tq = Tk = T</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 T × T score matrix, written to and read back from GPU memory</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FlashAttention</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731520">
                <a:tc>
                  <a:txBody>
                    <a:bodyPr/>
                    <a:lstStyle/>
                    <a:p>
                      <a:pPr indent="0" marL="0">
                        <a:buNone/>
                      </a:pPr>
                      <a:r>
                        <a:rPr lang="en-US" sz="1300" b="1" dirty="0">
                          <a:solidFill>
                            <a:schemeClr val="tx1"/>
                          </a:solidFill>
                        </a:rPr>
                        <a:t>Decoding</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Tq = 1, Tk = T</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reading the KV cache at every step</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4"/>
                          </a:solidFill>
                        </a:rPr>
                        <a:t>MQA / GQA + KV cache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7" name="64 vs 16"/>
          <p:cNvSpPr/>
          <p:nvPr/>
        </p:nvSpPr>
        <p:spPr>
          <a:xfrm>
            <a:off x="548640" y="3840480"/>
            <a:ext cx="6126480" cy="1051560"/>
          </a:xfrm>
          <a:prstGeom prst="roundRect">
            <a:avLst>
              <a:gd name="adj" fmla="val 10435"/>
            </a:avLst>
          </a:prstGeom>
          <a:solidFill>
            <a:schemeClr val="accent5"/>
          </a:solidFill>
          <a:ln w="12700">
            <a:solidFill>
              <a:schemeClr val="accent5"/>
            </a:solidFill>
            <a:prstDash val="solid"/>
          </a:ln>
        </p:spPr>
      </p:sp>
      <p:sp>
        <p:nvSpPr>
          <p:cNvPr id="8" name="Text 4"/>
          <p:cNvSpPr txBox="1"/>
          <p:nvPr/>
        </p:nvSpPr>
        <p:spPr>
          <a:xfrm>
            <a:off x="822960" y="3840480"/>
            <a:ext cx="5577840" cy="1051560"/>
          </a:xfrm>
          <a:prstGeom prst="rect">
            <a:avLst/>
          </a:prstGeom>
          <a:noFill/>
          <a:ln/>
        </p:spPr>
        <p:txBody>
          <a:bodyPr wrap="square" lIns="0" tIns="0" rIns="0" bIns="0" rtlCol="0" anchor="ctr"/>
          <a:lstStyle/>
          <a:p>
            <a:pPr indent="0" marL="0">
              <a:buNone/>
            </a:pPr>
            <a:r>
              <a:rPr lang="en-US" sz="1500" b="1" dirty="0">
                <a:solidFill>
                  <a:schemeClr val="tx1"/>
                </a:solidFill>
              </a:rPr>
              <a:t>At T = 32,768: </a:t>
            </a:r>
            <a:endParaRPr lang="en-US" sz="1500" dirty="0"/>
          </a:p>
          <a:p>
            <a:pPr indent="0" marL="0">
              <a:buNone/>
            </a:pPr>
            <a:r>
              <a:rPr lang="en-US" sz="1500" dirty="0">
                <a:solidFill>
                  <a:schemeClr val="tx1"/>
                </a:solidFill>
              </a:rPr>
              <a:t>one layer's score matrix is </a:t>
            </a:r>
            <a:r>
              <a:rPr lang="en-US" sz="1500" b="1" dirty="0">
                <a:solidFill>
                  <a:schemeClr val="accent3"/>
                </a:solidFill>
              </a:rPr>
              <a:t>64 GiB</a:t>
            </a:r>
            <a:r>
              <a:rPr lang="en-US" sz="1500" dirty="0">
                <a:solidFill>
                  <a:schemeClr val="tx1"/>
                </a:solidFill>
              </a:rPr>
              <a:t>, more than the whole model's MHA KV cache (</a:t>
            </a:r>
            <a:r>
              <a:rPr lang="en-US" sz="1500" b="1" dirty="0">
                <a:solidFill>
                  <a:schemeClr val="tx1"/>
                </a:solidFill>
              </a:rPr>
              <a:t>16 GiB</a:t>
            </a:r>
            <a:r>
              <a:rPr lang="en-US" sz="1500" dirty="0">
                <a:solidFill>
                  <a:schemeClr val="tx1"/>
                </a:solidFill>
              </a:rPr>
              <a:t>, all 32 layers).</a:t>
            </a:r>
            <a:endParaRPr lang="en-US" sz="1500" dirty="0"/>
          </a:p>
        </p:txBody>
      </p:sp>
      <p:sp>
        <p:nvSpPr>
          <p:cNvPr id="9" name="architecture vs algorithm"/>
          <p:cNvSpPr/>
          <p:nvPr/>
        </p:nvSpPr>
        <p:spPr>
          <a:xfrm>
            <a:off x="548640" y="5074920"/>
            <a:ext cx="6126480" cy="1097280"/>
          </a:xfrm>
          <a:prstGeom prst="roundRect">
            <a:avLst>
              <a:gd name="adj" fmla="val 10000"/>
            </a:avLst>
          </a:prstGeom>
          <a:solidFill>
            <a:schemeClr val="bg2"/>
          </a:solidFill>
          <a:ln w="12700">
            <a:solidFill>
              <a:schemeClr val="bg2"/>
            </a:solidFill>
            <a:prstDash val="solid"/>
          </a:ln>
        </p:spPr>
      </p:sp>
      <p:sp>
        <p:nvSpPr>
          <p:cNvPr id="10" name="Text 6"/>
          <p:cNvSpPr txBox="1"/>
          <p:nvPr/>
        </p:nvSpPr>
        <p:spPr>
          <a:xfrm>
            <a:off x="822960" y="5074920"/>
            <a:ext cx="5577840" cy="1097280"/>
          </a:xfrm>
          <a:prstGeom prst="rect">
            <a:avLst/>
          </a:prstGeom>
          <a:noFill/>
          <a:ln/>
        </p:spPr>
        <p:txBody>
          <a:bodyPr wrap="square" lIns="0" tIns="0" rIns="0" bIns="0" rtlCol="0" anchor="ctr"/>
          <a:lstStyle/>
          <a:p>
            <a:pPr indent="0" marL="0">
              <a:buNone/>
            </a:pPr>
            <a:r>
              <a:rPr lang="en-US" sz="1500" b="1" dirty="0">
                <a:solidFill>
                  <a:schemeClr val="accent4"/>
                </a:solidFill>
              </a:rPr>
              <a:t>MQA/GQA change the architecture. </a:t>
            </a:r>
            <a:r>
              <a:rPr lang="en-US" sz="1500" b="1" dirty="0">
                <a:solidFill>
                  <a:schemeClr val="accent1"/>
                </a:solidFill>
              </a:rPr>
              <a:t>FlashAttention changes the algorithm: </a:t>
            </a:r>
            <a:r>
              <a:rPr lang="en-US" sz="1500" dirty="0">
                <a:solidFill>
                  <a:schemeClr val="tx1"/>
                </a:solidFill>
              </a:rPr>
              <a:t>exactly the same attention, never storing the T × T matrix; keys are processed in blocks that fit in fast on-chip memory.</a:t>
            </a:r>
            <a:endParaRPr lang="en-US" sz="1500" dirty="0"/>
          </a:p>
        </p:txBody>
      </p:sp>
      <p:pic>
        <p:nvPicPr>
          <p:cNvPr id="11" name="Image 0" descr="Log-log plot against sequence length 512 to 32,768: the score matrix of one layer grows quadratically and overtakes the linear MHA and GQA-8 KV caches of all 32 layers, reaching 64 GiB at 32,768.">    </p:cNvPr>
          <p:cNvPicPr>
            <a:picLocks noChangeAspect="1"/>
          </p:cNvPicPr>
          <p:nvPr/>
        </p:nvPicPr>
        <p:blipFill>
          <a:blip r:embed="rId1"/>
          <a:stretch>
            <a:fillRect/>
          </a:stretch>
        </p:blipFill>
        <p:spPr>
          <a:xfrm>
            <a:off x="6949440" y="1280160"/>
            <a:ext cx="4663440" cy="2604499"/>
          </a:xfrm>
          <a:prstGeom prst="rect">
            <a:avLst/>
          </a:prstGeom>
        </p:spPr>
      </p:pic>
      <p:sp>
        <p:nvSpPr>
          <p:cNvPr id="12" name="Text 7"/>
          <p:cNvSpPr txBox="1"/>
          <p:nvPr/>
        </p:nvSpPr>
        <p:spPr>
          <a:xfrm>
            <a:off x="6949440" y="3930379"/>
            <a:ext cx="4663440" cy="548640"/>
          </a:xfrm>
          <a:prstGeom prst="rect">
            <a:avLst/>
          </a:prstGeom>
          <a:noFill/>
          <a:ln/>
        </p:spPr>
        <p:txBody>
          <a:bodyPr wrap="square" lIns="0" tIns="0" rIns="0" bIns="0" rtlCol="0" anchor="t"/>
          <a:lstStyle/>
          <a:p>
            <a:pPr indent="0" marL="0">
              <a:buNone/>
            </a:pPr>
            <a:r>
              <a:rPr lang="en-US" sz="1200" dirty="0">
                <a:solidFill>
                  <a:schemeClr val="tx2"/>
                </a:solidFill>
              </a:rPr>
              <a:t>Llama-2-7B sizes, B = 1, fp16. Score matrix: one layer. KV caches: all 32 layers.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FlashAttention cuts memory traffic</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2834640"/>
                <a:gridCol w="2514600"/>
                <a:gridCol w="1600200"/>
              </a:tblGrid>
              <a:tr h="411480">
                <a:tc>
                  <a:txBody>
                    <a:bodyPr/>
                    <a:lstStyle/>
                    <a:p>
                      <a:pPr indent="0" marL="0">
                        <a:buNone/>
                      </a:pPr>
                      <a:r>
                        <a:rPr lang="en-US" sz="1300" b="1" dirty="0">
                          <a:solidFill>
                            <a:schemeClr val="bg1"/>
                          </a:solidFill>
                        </a:rPr>
                        <a:t>GPU memory (A100)</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Size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Bandwidth</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11480">
                <a:tc>
                  <a:txBody>
                    <a:bodyPr/>
                    <a:lstStyle/>
                    <a:p>
                      <a:pPr indent="0" marL="0">
                        <a:buNone/>
                      </a:pPr>
                      <a:r>
                        <a:rPr lang="en-US" sz="1300" b="1" dirty="0">
                          <a:solidFill>
                            <a:schemeClr val="tx1"/>
                          </a:solidFill>
                        </a:rPr>
                        <a:t>HBM: main GPU memory</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40–80 GB</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1.5–2.0 TB/s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11480">
                <a:tc>
                  <a:txBody>
                    <a:bodyPr/>
                    <a:lstStyle/>
                    <a:p>
                      <a:pPr indent="0" marL="0">
                        <a:buNone/>
                      </a:pPr>
                      <a:r>
                        <a:rPr lang="en-US" sz="1300" b="1" dirty="0">
                          <a:solidFill>
                            <a:schemeClr val="tx1"/>
                          </a:solidFill>
                        </a:rPr>
                        <a:t>SRAM: on-chip, next to the compute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192 KB per SM × 108 (≈ 20 MB)</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 19 TB/s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the catch"/>
          <p:cNvSpPr/>
          <p:nvPr/>
        </p:nvSpPr>
        <p:spPr>
          <a:xfrm>
            <a:off x="7772400" y="1280160"/>
            <a:ext cx="3840480" cy="1234440"/>
          </a:xfrm>
          <a:prstGeom prst="roundRect">
            <a:avLst>
              <a:gd name="adj" fmla="val 8889"/>
            </a:avLst>
          </a:prstGeom>
          <a:solidFill>
            <a:schemeClr val="accent5"/>
          </a:solidFill>
          <a:ln w="12700">
            <a:solidFill>
              <a:schemeClr val="accent5"/>
            </a:solidFill>
            <a:prstDash val="solid"/>
          </a:ln>
        </p:spPr>
      </p:sp>
      <p:sp>
        <p:nvSpPr>
          <p:cNvPr id="6" name="Text 2"/>
          <p:cNvSpPr txBox="1"/>
          <p:nvPr/>
        </p:nvSpPr>
        <p:spPr>
          <a:xfrm>
            <a:off x="8001000" y="1280160"/>
            <a:ext cx="3474720" cy="1234440"/>
          </a:xfrm>
          <a:prstGeom prst="rect">
            <a:avLst/>
          </a:prstGeom>
          <a:noFill/>
          <a:ln/>
        </p:spPr>
        <p:txBody>
          <a:bodyPr wrap="square" lIns="0" tIns="0" rIns="0" bIns="0" rtlCol="0" anchor="ctr"/>
          <a:lstStyle/>
          <a:p>
            <a:pPr indent="0" marL="0">
              <a:buNone/>
            </a:pPr>
            <a:r>
              <a:rPr lang="en-US" sz="1400" b="1" dirty="0">
                <a:solidFill>
                  <a:schemeClr val="tx1"/>
                </a:solidFill>
              </a:rPr>
              <a:t>The catch: </a:t>
            </a:r>
            <a:endParaRPr lang="en-US" sz="1400" dirty="0"/>
          </a:p>
          <a:p>
            <a:pPr indent="0" marL="0">
              <a:buNone/>
            </a:pPr>
            <a:r>
              <a:rPr lang="en-US" sz="1400" dirty="0">
                <a:solidFill>
                  <a:schemeClr val="tx1"/>
                </a:solidFill>
              </a:rPr>
              <a:t>the arithmetic runs on-chip, but the T × T matrices do not fit in SRAM, so they go through slow HBM.</a:t>
            </a:r>
            <a:endParaRPr lang="en-US" sz="1400" dirty="0"/>
          </a:p>
        </p:txBody>
      </p:sp>
      <p:sp>
        <p:nvSpPr>
          <p:cNvPr id="7" name="standard attention"/>
          <p:cNvSpPr/>
          <p:nvPr/>
        </p:nvSpPr>
        <p:spPr>
          <a:xfrm>
            <a:off x="548640" y="2743200"/>
            <a:ext cx="5440680" cy="2697480"/>
          </a:xfrm>
          <a:prstGeom prst="roundRect">
            <a:avLst>
              <a:gd name="adj" fmla="val 4068"/>
            </a:avLst>
          </a:prstGeom>
          <a:solidFill>
            <a:schemeClr val="accent6"/>
          </a:solidFill>
          <a:ln w="12700">
            <a:solidFill>
              <a:schemeClr val="accent6"/>
            </a:solidFill>
            <a:prstDash val="solid"/>
          </a:ln>
        </p:spPr>
      </p:sp>
      <p:sp>
        <p:nvSpPr>
          <p:cNvPr id="8" name="Text 4"/>
          <p:cNvSpPr txBox="1"/>
          <p:nvPr/>
        </p:nvSpPr>
        <p:spPr>
          <a:xfrm>
            <a:off x="777240" y="2834640"/>
            <a:ext cx="5029200" cy="411480"/>
          </a:xfrm>
          <a:prstGeom prst="rect">
            <a:avLst/>
          </a:prstGeom>
          <a:noFill/>
          <a:ln/>
        </p:spPr>
        <p:txBody>
          <a:bodyPr wrap="square" lIns="0" tIns="0" rIns="0" bIns="0" rtlCol="0" anchor="t"/>
          <a:lstStyle/>
          <a:p>
            <a:pPr indent="0" marL="0">
              <a:buNone/>
            </a:pPr>
            <a:r>
              <a:rPr lang="en-US" sz="1700" b="1" dirty="0">
                <a:solidFill>
                  <a:schemeClr val="accent3"/>
                </a:solidFill>
              </a:rPr>
              <a:t>Standard attention: three kernels</a:t>
            </a:r>
            <a:endParaRPr lang="en-US" sz="1700" dirty="0"/>
          </a:p>
        </p:txBody>
      </p:sp>
      <p:sp>
        <p:nvSpPr>
          <p:cNvPr id="9" name="Shape 5"/>
          <p:cNvSpPr/>
          <p:nvPr/>
        </p:nvSpPr>
        <p:spPr>
          <a:xfrm>
            <a:off x="777240" y="3383280"/>
            <a:ext cx="411480" cy="411480"/>
          </a:xfrm>
          <a:prstGeom prst="ellipse">
            <a:avLst/>
          </a:prstGeom>
          <a:solidFill>
            <a:schemeClr val="accent3"/>
          </a:solidFill>
          <a:ln w="12700">
            <a:solidFill>
              <a:schemeClr val="accent3"/>
            </a:solidFill>
            <a:prstDash val="solid"/>
          </a:ln>
        </p:spPr>
      </p:sp>
      <p:sp>
        <p:nvSpPr>
          <p:cNvPr id="10" name="Text 6"/>
          <p:cNvSpPr txBox="1"/>
          <p:nvPr/>
        </p:nvSpPr>
        <p:spPr>
          <a:xfrm>
            <a:off x="777240" y="338328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7"/>
          <p:cNvSpPr txBox="1"/>
          <p:nvPr/>
        </p:nvSpPr>
        <p:spPr>
          <a:xfrm>
            <a:off x="1325880" y="3383280"/>
            <a:ext cx="2011680" cy="41148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S = Q Kᵀ / √d</a:t>
            </a:r>
            <a:endParaRPr lang="en-US" sz="1400" dirty="0"/>
          </a:p>
        </p:txBody>
      </p:sp>
      <p:sp>
        <p:nvSpPr>
          <p:cNvPr id="12" name="Text 8"/>
          <p:cNvSpPr txBox="1"/>
          <p:nvPr/>
        </p:nvSpPr>
        <p:spPr>
          <a:xfrm>
            <a:off x="3337560" y="3383280"/>
            <a:ext cx="2560320" cy="411480"/>
          </a:xfrm>
          <a:prstGeom prst="rect">
            <a:avLst/>
          </a:prstGeom>
          <a:noFill/>
          <a:ln/>
        </p:spPr>
        <p:txBody>
          <a:bodyPr wrap="square" lIns="0" tIns="0" rIns="0" bIns="0" rtlCol="0" anchor="ctr"/>
          <a:lstStyle/>
          <a:p>
            <a:pPr indent="0" marL="0">
              <a:buNone/>
            </a:pPr>
            <a:r>
              <a:rPr lang="en-US" sz="1400" b="1" dirty="0">
                <a:solidFill>
                  <a:schemeClr val="accent3"/>
                </a:solidFill>
              </a:rPr>
              <a:t>write S</a:t>
            </a:r>
            <a:r>
              <a:rPr lang="en-US" sz="1400" dirty="0">
                <a:solidFill>
                  <a:schemeClr val="tx1"/>
                </a:solidFill>
              </a:rPr>
              <a:t> (T × T)</a:t>
            </a:r>
            <a:endParaRPr lang="en-US" sz="1400" dirty="0"/>
          </a:p>
        </p:txBody>
      </p:sp>
      <p:sp>
        <p:nvSpPr>
          <p:cNvPr id="13" name="Shape 9"/>
          <p:cNvSpPr/>
          <p:nvPr/>
        </p:nvSpPr>
        <p:spPr>
          <a:xfrm>
            <a:off x="777240" y="3931920"/>
            <a:ext cx="411480" cy="411480"/>
          </a:xfrm>
          <a:prstGeom prst="ellipse">
            <a:avLst/>
          </a:prstGeom>
          <a:solidFill>
            <a:schemeClr val="accent3"/>
          </a:solidFill>
          <a:ln w="12700">
            <a:solidFill>
              <a:schemeClr val="accent3"/>
            </a:solidFill>
            <a:prstDash val="solid"/>
          </a:ln>
        </p:spPr>
      </p:sp>
      <p:sp>
        <p:nvSpPr>
          <p:cNvPr id="14" name="Text 10"/>
          <p:cNvSpPr txBox="1"/>
          <p:nvPr/>
        </p:nvSpPr>
        <p:spPr>
          <a:xfrm>
            <a:off x="777240" y="393192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1"/>
          <p:cNvSpPr txBox="1"/>
          <p:nvPr/>
        </p:nvSpPr>
        <p:spPr>
          <a:xfrm>
            <a:off x="1325880" y="3931920"/>
            <a:ext cx="2011680" cy="41148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P = softmax(S)</a:t>
            </a:r>
            <a:endParaRPr lang="en-US" sz="1400" dirty="0"/>
          </a:p>
        </p:txBody>
      </p:sp>
      <p:sp>
        <p:nvSpPr>
          <p:cNvPr id="16" name="Text 12"/>
          <p:cNvSpPr txBox="1"/>
          <p:nvPr/>
        </p:nvSpPr>
        <p:spPr>
          <a:xfrm>
            <a:off x="3337560" y="3931920"/>
            <a:ext cx="2560320" cy="411480"/>
          </a:xfrm>
          <a:prstGeom prst="rect">
            <a:avLst/>
          </a:prstGeom>
          <a:noFill/>
          <a:ln/>
        </p:spPr>
        <p:txBody>
          <a:bodyPr wrap="square" lIns="0" tIns="0" rIns="0" bIns="0" rtlCol="0" anchor="ctr"/>
          <a:lstStyle/>
          <a:p>
            <a:pPr indent="0" marL="0">
              <a:buNone/>
            </a:pPr>
            <a:r>
              <a:rPr lang="en-US" sz="1400" dirty="0">
                <a:solidFill>
                  <a:schemeClr val="tx1"/>
                </a:solidFill>
              </a:rPr>
              <a:t>read S, </a:t>
            </a:r>
            <a:r>
              <a:rPr lang="en-US" sz="1400" b="1" dirty="0">
                <a:solidFill>
                  <a:schemeClr val="accent3"/>
                </a:solidFill>
              </a:rPr>
              <a:t>write P</a:t>
            </a:r>
            <a:r>
              <a:rPr lang="en-US" sz="1400" dirty="0">
                <a:solidFill>
                  <a:schemeClr val="tx1"/>
                </a:solidFill>
              </a:rPr>
              <a:t> (T × T)</a:t>
            </a:r>
            <a:endParaRPr lang="en-US" sz="1400" dirty="0"/>
          </a:p>
        </p:txBody>
      </p:sp>
      <p:sp>
        <p:nvSpPr>
          <p:cNvPr id="17" name="Shape 13"/>
          <p:cNvSpPr/>
          <p:nvPr/>
        </p:nvSpPr>
        <p:spPr>
          <a:xfrm>
            <a:off x="777240" y="4480560"/>
            <a:ext cx="411480" cy="411480"/>
          </a:xfrm>
          <a:prstGeom prst="ellipse">
            <a:avLst/>
          </a:prstGeom>
          <a:solidFill>
            <a:schemeClr val="accent3"/>
          </a:solidFill>
          <a:ln w="12700">
            <a:solidFill>
              <a:schemeClr val="accent3"/>
            </a:solidFill>
            <a:prstDash val="solid"/>
          </a:ln>
        </p:spPr>
      </p:sp>
      <p:sp>
        <p:nvSpPr>
          <p:cNvPr id="18" name="Text 14"/>
          <p:cNvSpPr txBox="1"/>
          <p:nvPr/>
        </p:nvSpPr>
        <p:spPr>
          <a:xfrm>
            <a:off x="777240" y="4480560"/>
            <a:ext cx="411480" cy="4114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5"/>
          <p:cNvSpPr txBox="1"/>
          <p:nvPr/>
        </p:nvSpPr>
        <p:spPr>
          <a:xfrm>
            <a:off x="1325880" y="4480560"/>
            <a:ext cx="2011680" cy="41148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O = P V</a:t>
            </a:r>
            <a:endParaRPr lang="en-US" sz="1400" dirty="0"/>
          </a:p>
        </p:txBody>
      </p:sp>
      <p:sp>
        <p:nvSpPr>
          <p:cNvPr id="20" name="Text 16"/>
          <p:cNvSpPr txBox="1"/>
          <p:nvPr/>
        </p:nvSpPr>
        <p:spPr>
          <a:xfrm>
            <a:off x="3337560" y="4480560"/>
            <a:ext cx="2560320" cy="411480"/>
          </a:xfrm>
          <a:prstGeom prst="rect">
            <a:avLst/>
          </a:prstGeom>
          <a:noFill/>
          <a:ln/>
        </p:spPr>
        <p:txBody>
          <a:bodyPr wrap="square" lIns="0" tIns="0" rIns="0" bIns="0" rtlCol="0" anchor="ctr"/>
          <a:lstStyle/>
          <a:p>
            <a:pPr indent="0" marL="0">
              <a:buNone/>
            </a:pPr>
            <a:r>
              <a:rPr lang="en-US" sz="1400" dirty="0">
                <a:solidFill>
                  <a:schemeClr val="tx1"/>
                </a:solidFill>
              </a:rPr>
              <a:t>read P, write O (T × d)</a:t>
            </a:r>
            <a:endParaRPr lang="en-US" sz="1400" dirty="0"/>
          </a:p>
        </p:txBody>
      </p:sp>
      <p:sp>
        <p:nvSpPr>
          <p:cNvPr id="21" name="Text 17"/>
          <p:cNvSpPr txBox="1"/>
          <p:nvPr/>
        </p:nvSpPr>
        <p:spPr>
          <a:xfrm>
            <a:off x="777240" y="5029200"/>
            <a:ext cx="5029200" cy="365760"/>
          </a:xfrm>
          <a:prstGeom prst="rect">
            <a:avLst/>
          </a:prstGeom>
          <a:noFill/>
          <a:ln/>
        </p:spPr>
        <p:txBody>
          <a:bodyPr wrap="square" lIns="0" tIns="0" rIns="0" bIns="0" rtlCol="0" anchor="t"/>
          <a:lstStyle/>
          <a:p>
            <a:pPr indent="0" marL="0">
              <a:buNone/>
            </a:pPr>
            <a:r>
              <a:rPr lang="en-US" sz="1300" dirty="0">
                <a:solidFill>
                  <a:schemeClr val="tx2"/>
                </a:solidFill>
              </a:rPr>
              <a:t>Memory grows as T², and the GPU mostly waits on HBM.</a:t>
            </a:r>
            <a:endParaRPr lang="en-US" sz="1300" dirty="0"/>
          </a:p>
        </p:txBody>
      </p:sp>
      <p:sp>
        <p:nvSpPr>
          <p:cNvPr id="22" name="flashattention"/>
          <p:cNvSpPr/>
          <p:nvPr/>
        </p:nvSpPr>
        <p:spPr>
          <a:xfrm>
            <a:off x="6172200" y="2743200"/>
            <a:ext cx="5440680" cy="2697480"/>
          </a:xfrm>
          <a:prstGeom prst="roundRect">
            <a:avLst>
              <a:gd name="adj" fmla="val 4068"/>
            </a:avLst>
          </a:prstGeom>
          <a:solidFill>
            <a:schemeClr val="bg2"/>
          </a:solidFill>
          <a:ln w="12700">
            <a:solidFill>
              <a:schemeClr val="bg2"/>
            </a:solidFill>
            <a:prstDash val="solid"/>
          </a:ln>
        </p:spPr>
      </p:sp>
      <p:sp>
        <p:nvSpPr>
          <p:cNvPr id="23" name="Text 19"/>
          <p:cNvSpPr txBox="1"/>
          <p:nvPr/>
        </p:nvSpPr>
        <p:spPr>
          <a:xfrm>
            <a:off x="6400800" y="2834640"/>
            <a:ext cx="5029200" cy="411480"/>
          </a:xfrm>
          <a:prstGeom prst="rect">
            <a:avLst/>
          </a:prstGeom>
          <a:noFill/>
          <a:ln/>
        </p:spPr>
        <p:txBody>
          <a:bodyPr wrap="square" lIns="0" tIns="0" rIns="0" bIns="0" rtlCol="0" anchor="t"/>
          <a:lstStyle/>
          <a:p>
            <a:pPr indent="0" marL="0">
              <a:buNone/>
            </a:pPr>
            <a:r>
              <a:rPr lang="en-US" sz="1700" b="1" dirty="0">
                <a:solidFill>
                  <a:schemeClr val="accent1"/>
                </a:solidFill>
              </a:rPr>
              <a:t>FlashAttention: one fused kernel</a:t>
            </a:r>
            <a:endParaRPr lang="en-US" sz="1700" dirty="0"/>
          </a:p>
        </p:txBody>
      </p:sp>
      <p:sp>
        <p:nvSpPr>
          <p:cNvPr id="24" name="Shape 20"/>
          <p:cNvSpPr/>
          <p:nvPr/>
        </p:nvSpPr>
        <p:spPr>
          <a:xfrm>
            <a:off x="6400800" y="3310128"/>
            <a:ext cx="365760" cy="365760"/>
          </a:xfrm>
          <a:prstGeom prst="ellipse">
            <a:avLst/>
          </a:prstGeom>
          <a:solidFill>
            <a:schemeClr val="accent1"/>
          </a:solidFill>
          <a:ln w="12700">
            <a:solidFill>
              <a:schemeClr val="accent1"/>
            </a:solidFill>
            <a:prstDash val="solid"/>
          </a:ln>
        </p:spPr>
      </p:sp>
      <p:sp>
        <p:nvSpPr>
          <p:cNvPr id="25" name="Text 21"/>
          <p:cNvSpPr txBox="1"/>
          <p:nvPr/>
        </p:nvSpPr>
        <p:spPr>
          <a:xfrm>
            <a:off x="6400800" y="3310128"/>
            <a:ext cx="365760" cy="36576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26" name="Text 22"/>
          <p:cNvSpPr txBox="1"/>
          <p:nvPr/>
        </p:nvSpPr>
        <p:spPr>
          <a:xfrm>
            <a:off x="6903720" y="3310128"/>
            <a:ext cx="4572000" cy="365760"/>
          </a:xfrm>
          <a:prstGeom prst="rect">
            <a:avLst/>
          </a:prstGeom>
          <a:noFill/>
          <a:ln/>
        </p:spPr>
        <p:txBody>
          <a:bodyPr wrap="square" lIns="0" tIns="0" rIns="0" bIns="0" rtlCol="0" anchor="ctr"/>
          <a:lstStyle/>
          <a:p>
            <a:pPr indent="0" marL="0">
              <a:buNone/>
            </a:pPr>
            <a:r>
              <a:rPr lang="en-US" sz="1400" dirty="0">
                <a:solidFill>
                  <a:schemeClr val="tx1"/>
                </a:solidFill>
              </a:rPr>
              <a:t>load a block of </a:t>
            </a:r>
            <a:r>
              <a:rPr lang="en-US" sz="1400" dirty="0">
                <a:solidFill>
                  <a:schemeClr val="tx1"/>
                </a:solidFill>
                <a:latin typeface="Courier New" pitchFamily="34" charset="0"/>
                <a:ea typeface="Courier New" pitchFamily="34" charset="-122"/>
                <a:cs typeface="Courier New" pitchFamily="34" charset="-120"/>
              </a:rPr>
              <a:t>Q</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K</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V</a:t>
            </a:r>
            <a:r>
              <a:rPr lang="en-US" sz="1400" dirty="0">
                <a:solidFill>
                  <a:schemeClr val="tx1"/>
                </a:solidFill>
              </a:rPr>
              <a:t> into SRAM</a:t>
            </a:r>
            <a:endParaRPr lang="en-US" sz="1400" dirty="0"/>
          </a:p>
        </p:txBody>
      </p:sp>
      <p:sp>
        <p:nvSpPr>
          <p:cNvPr id="27" name="Shape 23"/>
          <p:cNvSpPr/>
          <p:nvPr/>
        </p:nvSpPr>
        <p:spPr>
          <a:xfrm>
            <a:off x="6400800" y="3721608"/>
            <a:ext cx="365760" cy="365760"/>
          </a:xfrm>
          <a:prstGeom prst="ellipse">
            <a:avLst/>
          </a:prstGeom>
          <a:solidFill>
            <a:schemeClr val="accent1"/>
          </a:solidFill>
          <a:ln w="12700">
            <a:solidFill>
              <a:schemeClr val="accent1"/>
            </a:solidFill>
            <a:prstDash val="solid"/>
          </a:ln>
        </p:spPr>
      </p:sp>
      <p:sp>
        <p:nvSpPr>
          <p:cNvPr id="28" name="Text 24"/>
          <p:cNvSpPr txBox="1"/>
          <p:nvPr/>
        </p:nvSpPr>
        <p:spPr>
          <a:xfrm>
            <a:off x="6400800" y="3721608"/>
            <a:ext cx="365760" cy="36576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9" name="Text 25"/>
          <p:cNvSpPr txBox="1"/>
          <p:nvPr/>
        </p:nvSpPr>
        <p:spPr>
          <a:xfrm>
            <a:off x="6903720" y="3721608"/>
            <a:ext cx="4572000" cy="365760"/>
          </a:xfrm>
          <a:prstGeom prst="rect">
            <a:avLst/>
          </a:prstGeom>
          <a:noFill/>
          <a:ln/>
        </p:spPr>
        <p:txBody>
          <a:bodyPr wrap="square" lIns="0" tIns="0" rIns="0" bIns="0" rtlCol="0" anchor="ctr"/>
          <a:lstStyle/>
          <a:p>
            <a:pPr indent="0" marL="0">
              <a:buNone/>
            </a:pPr>
            <a:r>
              <a:rPr lang="en-US" sz="1400" dirty="0">
                <a:solidFill>
                  <a:schemeClr val="tx1"/>
                </a:solidFill>
              </a:rPr>
              <a:t>scores, softmax, weighted sum, all on-chip</a:t>
            </a:r>
            <a:endParaRPr lang="en-US" sz="1400" dirty="0"/>
          </a:p>
        </p:txBody>
      </p:sp>
      <p:sp>
        <p:nvSpPr>
          <p:cNvPr id="30" name="Shape 26"/>
          <p:cNvSpPr/>
          <p:nvPr/>
        </p:nvSpPr>
        <p:spPr>
          <a:xfrm>
            <a:off x="6400800" y="4133088"/>
            <a:ext cx="365760" cy="365760"/>
          </a:xfrm>
          <a:prstGeom prst="ellipse">
            <a:avLst/>
          </a:prstGeom>
          <a:solidFill>
            <a:schemeClr val="accent1"/>
          </a:solidFill>
          <a:ln w="12700">
            <a:solidFill>
              <a:schemeClr val="accent1"/>
            </a:solidFill>
            <a:prstDash val="solid"/>
          </a:ln>
        </p:spPr>
      </p:sp>
      <p:sp>
        <p:nvSpPr>
          <p:cNvPr id="31" name="Text 27"/>
          <p:cNvSpPr txBox="1"/>
          <p:nvPr/>
        </p:nvSpPr>
        <p:spPr>
          <a:xfrm>
            <a:off x="6400800" y="4133088"/>
            <a:ext cx="365760" cy="36576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2" name="Text 28"/>
          <p:cNvSpPr txBox="1"/>
          <p:nvPr/>
        </p:nvSpPr>
        <p:spPr>
          <a:xfrm>
            <a:off x="6903720" y="4133088"/>
            <a:ext cx="4572000" cy="365760"/>
          </a:xfrm>
          <a:prstGeom prst="rect">
            <a:avLst/>
          </a:prstGeom>
          <a:noFill/>
          <a:ln/>
        </p:spPr>
        <p:txBody>
          <a:bodyPr wrap="square" lIns="0" tIns="0" rIns="0" bIns="0" rtlCol="0" anchor="ctr"/>
          <a:lstStyle/>
          <a:p>
            <a:pPr indent="0" marL="0">
              <a:buNone/>
            </a:pPr>
            <a:r>
              <a:rPr lang="en-US" sz="1400" dirty="0">
                <a:solidFill>
                  <a:schemeClr val="tx1"/>
                </a:solidFill>
              </a:rPr>
              <a:t>update running </a:t>
            </a:r>
            <a:r>
              <a:rPr lang="en-US" sz="1400" dirty="0">
                <a:solidFill>
                  <a:schemeClr val="tx1"/>
                </a:solidFill>
                <a:latin typeface="Courier New" pitchFamily="34" charset="0"/>
                <a:ea typeface="Courier New" pitchFamily="34" charset="-122"/>
                <a:cs typeface="Courier New" pitchFamily="34" charset="-120"/>
              </a:rPr>
              <a:t>m</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l</a:t>
            </a:r>
            <a:r>
              <a:rPr lang="en-US" sz="1400" dirty="0">
                <a:solidFill>
                  <a:schemeClr val="tx1"/>
                </a:solidFill>
              </a:rPr>
              <a:t>, </a:t>
            </a:r>
            <a:r>
              <a:rPr lang="en-US" sz="1400" dirty="0">
                <a:solidFill>
                  <a:schemeClr val="tx1"/>
                </a:solidFill>
                <a:latin typeface="Courier New" pitchFamily="34" charset="0"/>
                <a:ea typeface="Courier New" pitchFamily="34" charset="-122"/>
                <a:cs typeface="Courier New" pitchFamily="34" charset="-120"/>
              </a:rPr>
              <a:t>acc</a:t>
            </a:r>
            <a:r>
              <a:rPr lang="en-US" sz="1400" dirty="0">
                <a:solidFill>
                  <a:schemeClr val="tx1"/>
                </a:solidFill>
              </a:rPr>
              <a:t> (online softmax)</a:t>
            </a:r>
            <a:endParaRPr lang="en-US" sz="1400" dirty="0"/>
          </a:p>
        </p:txBody>
      </p:sp>
      <p:sp>
        <p:nvSpPr>
          <p:cNvPr id="33" name="Shape 29"/>
          <p:cNvSpPr/>
          <p:nvPr/>
        </p:nvSpPr>
        <p:spPr>
          <a:xfrm>
            <a:off x="6400800" y="4544568"/>
            <a:ext cx="365760" cy="365760"/>
          </a:xfrm>
          <a:prstGeom prst="ellipse">
            <a:avLst/>
          </a:prstGeom>
          <a:solidFill>
            <a:schemeClr val="accent1"/>
          </a:solidFill>
          <a:ln w="12700">
            <a:solidFill>
              <a:schemeClr val="accent1"/>
            </a:solidFill>
            <a:prstDash val="solid"/>
          </a:ln>
        </p:spPr>
      </p:sp>
      <p:sp>
        <p:nvSpPr>
          <p:cNvPr id="34" name="Text 30"/>
          <p:cNvSpPr txBox="1"/>
          <p:nvPr/>
        </p:nvSpPr>
        <p:spPr>
          <a:xfrm>
            <a:off x="6400800" y="4544568"/>
            <a:ext cx="365760" cy="36576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5" name="Text 31"/>
          <p:cNvSpPr txBox="1"/>
          <p:nvPr/>
        </p:nvSpPr>
        <p:spPr>
          <a:xfrm>
            <a:off x="6903720" y="4544568"/>
            <a:ext cx="4572000" cy="365760"/>
          </a:xfrm>
          <a:prstGeom prst="rect">
            <a:avLst/>
          </a:prstGeom>
          <a:noFill/>
          <a:ln/>
        </p:spPr>
        <p:txBody>
          <a:bodyPr wrap="square" lIns="0" tIns="0" rIns="0" bIns="0" rtlCol="0" anchor="ctr"/>
          <a:lstStyle/>
          <a:p>
            <a:pPr indent="0" marL="0">
              <a:buNone/>
            </a:pPr>
            <a:r>
              <a:rPr lang="en-US" sz="1400" dirty="0">
                <a:solidFill>
                  <a:schemeClr val="tx1"/>
                </a:solidFill>
              </a:rPr>
              <a:t>discard the block; only </a:t>
            </a:r>
            <a:r>
              <a:rPr lang="en-US" sz="1400" b="1" dirty="0">
                <a:solidFill>
                  <a:schemeClr val="accent1"/>
                </a:solidFill>
              </a:rPr>
              <a:t>O</a:t>
            </a:r>
            <a:r>
              <a:rPr lang="en-US" sz="1400" dirty="0">
                <a:solidFill>
                  <a:schemeClr val="tx1"/>
                </a:solidFill>
              </a:rPr>
              <a:t> goes to HBM</a:t>
            </a:r>
            <a:endParaRPr lang="en-US" sz="1400" dirty="0"/>
          </a:p>
        </p:txBody>
      </p:sp>
      <p:sp>
        <p:nvSpPr>
          <p:cNvPr id="36" name="Text 32"/>
          <p:cNvSpPr txBox="1"/>
          <p:nvPr/>
        </p:nvSpPr>
        <p:spPr>
          <a:xfrm>
            <a:off x="6400800" y="5029200"/>
            <a:ext cx="5029200" cy="365760"/>
          </a:xfrm>
          <a:prstGeom prst="rect">
            <a:avLst/>
          </a:prstGeom>
          <a:noFill/>
          <a:ln/>
        </p:spPr>
        <p:txBody>
          <a:bodyPr wrap="square" lIns="0" tIns="0" rIns="0" bIns="0" rtlCol="0" anchor="t"/>
          <a:lstStyle/>
          <a:p>
            <a:pPr indent="0" marL="0">
              <a:buNone/>
            </a:pPr>
            <a:r>
              <a:rPr lang="en-US" sz="1300" dirty="0">
                <a:solidFill>
                  <a:schemeClr val="tx2"/>
                </a:solidFill>
              </a:rPr>
              <a:t>Backward pass: recompute tiles instead of storing P.</a:t>
            </a:r>
            <a:endParaRPr lang="en-US" sz="1300" dirty="0"/>
          </a:p>
        </p:txBody>
      </p:sp>
      <p:sp>
        <p:nvSpPr>
          <p:cNvPr id="37" name="bottom line"/>
          <p:cNvSpPr/>
          <p:nvPr/>
        </p:nvSpPr>
        <p:spPr>
          <a:xfrm>
            <a:off x="548640" y="5577840"/>
            <a:ext cx="11064240" cy="640080"/>
          </a:xfrm>
          <a:prstGeom prst="roundRect">
            <a:avLst>
              <a:gd name="adj" fmla="val 17143"/>
            </a:avLst>
          </a:prstGeom>
          <a:solidFill>
            <a:schemeClr val="accent5"/>
          </a:solidFill>
          <a:ln w="12700">
            <a:solidFill>
              <a:schemeClr val="accent5"/>
            </a:solidFill>
            <a:prstDash val="solid"/>
          </a:ln>
        </p:spPr>
      </p:sp>
      <p:sp>
        <p:nvSpPr>
          <p:cNvPr id="38" name="Text 34"/>
          <p:cNvSpPr txBox="1"/>
          <p:nvPr/>
        </p:nvSpPr>
        <p:spPr>
          <a:xfrm>
            <a:off x="777240" y="5577840"/>
            <a:ext cx="10607040" cy="640080"/>
          </a:xfrm>
          <a:prstGeom prst="rect">
            <a:avLst/>
          </a:prstGeom>
          <a:noFill/>
          <a:ln/>
        </p:spPr>
        <p:txBody>
          <a:bodyPr wrap="square" lIns="0" tIns="0" rIns="0" bIns="0" rtlCol="0" anchor="ctr"/>
          <a:lstStyle/>
          <a:p>
            <a:pPr indent="0" marL="0">
              <a:buNone/>
            </a:pPr>
            <a:r>
              <a:rPr lang="en-US" sz="1500" b="1" dirty="0">
                <a:solidFill>
                  <a:schemeClr val="tx1"/>
                </a:solidFill>
              </a:rPr>
              <a:t>Same result, about the same FLOPs (still T²). </a:t>
            </a:r>
            <a:r>
              <a:rPr lang="en-US" sz="1500" dirty="0">
                <a:solidFill>
                  <a:schemeClr val="tx1"/>
                </a:solidFill>
              </a:rPr>
              <a:t>Extra memory drops from T² to T, and HBM traffic falls sharply: </a:t>
            </a:r>
            <a:r>
              <a:rPr lang="en-US" sz="1500" b="1" dirty="0">
                <a:solidFill>
                  <a:schemeClr val="accent1"/>
                </a:solidFill>
              </a:rPr>
              <a:t>IO-aware</a:t>
            </a:r>
            <a:r>
              <a:rPr lang="en-US" sz="1500" dirty="0">
                <a:solidFill>
                  <a:schemeClr val="tx1"/>
                </a:solidFill>
              </a:rPr>
              <a: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One fused kernel instead of five</a:t>
            </a:r>
            <a:endParaRPr lang="en-US" sz="3200" dirty="0"/>
          </a:p>
        </p:txBody>
      </p:sp>
      <p:sp>
        <p:nvSpPr>
          <p:cNvPr id="4" name="Text 1"/>
          <p:cNvSpPr txBox="1"/>
          <p:nvPr/>
        </p:nvSpPr>
        <p:spPr>
          <a:xfrm>
            <a:off x="548640" y="1280160"/>
            <a:ext cx="5852160" cy="411480"/>
          </a:xfrm>
          <a:prstGeom prst="rect">
            <a:avLst/>
          </a:prstGeom>
          <a:noFill/>
          <a:ln/>
        </p:spPr>
        <p:txBody>
          <a:bodyPr wrap="square" lIns="0" tIns="0" rIns="0" bIns="0" rtlCol="0" anchor="t"/>
          <a:lstStyle/>
          <a:p>
            <a:pPr indent="0" marL="0">
              <a:buNone/>
            </a:pPr>
            <a:r>
              <a:rPr lang="en-US" sz="1800" b="1" dirty="0">
                <a:solidFill>
                  <a:schemeClr val="tx1"/>
                </a:solidFill>
              </a:rPr>
              <a:t>Plain attention: five kernels</a:t>
            </a:r>
            <a:endParaRPr lang="en-US" sz="1800" dirty="0"/>
          </a:p>
        </p:txBody>
      </p:sp>
      <p:sp>
        <p:nvSpPr>
          <p:cNvPr id="5" name="Shape 2"/>
          <p:cNvSpPr/>
          <p:nvPr/>
        </p:nvSpPr>
        <p:spPr>
          <a:xfrm>
            <a:off x="548640" y="1783080"/>
            <a:ext cx="3566160" cy="457200"/>
          </a:xfrm>
          <a:prstGeom prst="roundRect">
            <a:avLst>
              <a:gd name="adj" fmla="val 16000"/>
            </a:avLst>
          </a:prstGeom>
          <a:solidFill>
            <a:schemeClr val="bg2"/>
          </a:solidFill>
          <a:ln w="12700">
            <a:solidFill>
              <a:srgbClr val="AAB2C0"/>
            </a:solidFill>
            <a:prstDash val="solid"/>
          </a:ln>
        </p:spPr>
      </p:sp>
      <p:sp>
        <p:nvSpPr>
          <p:cNvPr id="6" name="Text 3"/>
          <p:cNvSpPr txBox="1"/>
          <p:nvPr/>
        </p:nvSpPr>
        <p:spPr>
          <a:xfrm>
            <a:off x="685800" y="1783080"/>
            <a:ext cx="33832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kernel 1  </a:t>
            </a:r>
            <a:r>
              <a:rPr lang="en-US" sz="1300" dirty="0">
                <a:solidFill>
                  <a:schemeClr val="tx1"/>
                </a:solidFill>
                <a:latin typeface="Courier New" pitchFamily="34" charset="0"/>
                <a:ea typeface="Courier New" pitchFamily="34" charset="-122"/>
                <a:cs typeface="Courier New" pitchFamily="34" charset="-120"/>
              </a:rPr>
              <a:t>S = Q @ K.T</a:t>
            </a:r>
            <a:endParaRPr lang="en-US" sz="1300" dirty="0"/>
          </a:p>
        </p:txBody>
      </p:sp>
      <p:sp>
        <p:nvSpPr>
          <p:cNvPr id="7" name="Shape 4"/>
          <p:cNvSpPr/>
          <p:nvPr/>
        </p:nvSpPr>
        <p:spPr>
          <a:xfrm>
            <a:off x="4206240" y="2011680"/>
            <a:ext cx="411480" cy="0"/>
          </a:xfrm>
          <a:prstGeom prst="line">
            <a:avLst/>
          </a:prstGeom>
          <a:noFill/>
          <a:ln w="22225">
            <a:solidFill>
              <a:schemeClr val="accent3"/>
            </a:solidFill>
            <a:prstDash val="solid"/>
            <a:tailEnd type="triangle"/>
          </a:ln>
        </p:spPr>
      </p:sp>
      <p:sp>
        <p:nvSpPr>
          <p:cNvPr id="8" name="Text 5"/>
          <p:cNvSpPr txBox="1"/>
          <p:nvPr/>
        </p:nvSpPr>
        <p:spPr>
          <a:xfrm>
            <a:off x="4709160" y="1783080"/>
            <a:ext cx="1828800" cy="457200"/>
          </a:xfrm>
          <a:prstGeom prst="rect">
            <a:avLst/>
          </a:prstGeom>
          <a:noFill/>
          <a:ln/>
        </p:spPr>
        <p:txBody>
          <a:bodyPr wrap="square" lIns="0" tIns="0" rIns="0" bIns="0" rtlCol="0" anchor="ctr"/>
          <a:lstStyle/>
          <a:p>
            <a:pPr indent="0" marL="0">
              <a:buNone/>
            </a:pPr>
            <a:r>
              <a:rPr lang="en-US" sz="1300" dirty="0">
                <a:solidFill>
                  <a:schemeClr val="tx2"/>
                </a:solidFill>
              </a:rPr>
              <a:t>HBM: </a:t>
            </a:r>
            <a:r>
              <a:rPr lang="en-US" sz="1300" b="1" dirty="0">
                <a:solidFill>
                  <a:schemeClr val="accent3"/>
                </a:solidFill>
              </a:rPr>
              <a:t>write S</a:t>
            </a:r>
            <a:endParaRPr lang="en-US" sz="1300" dirty="0"/>
          </a:p>
        </p:txBody>
      </p:sp>
      <p:sp>
        <p:nvSpPr>
          <p:cNvPr id="9" name="Shape 6"/>
          <p:cNvSpPr/>
          <p:nvPr/>
        </p:nvSpPr>
        <p:spPr>
          <a:xfrm>
            <a:off x="548640" y="2350008"/>
            <a:ext cx="3566160" cy="457200"/>
          </a:xfrm>
          <a:prstGeom prst="roundRect">
            <a:avLst>
              <a:gd name="adj" fmla="val 16000"/>
            </a:avLst>
          </a:prstGeom>
          <a:solidFill>
            <a:schemeClr val="bg2"/>
          </a:solidFill>
          <a:ln w="12700">
            <a:solidFill>
              <a:srgbClr val="AAB2C0"/>
            </a:solidFill>
            <a:prstDash val="solid"/>
          </a:ln>
        </p:spPr>
      </p:sp>
      <p:sp>
        <p:nvSpPr>
          <p:cNvPr id="10" name="Text 7"/>
          <p:cNvSpPr txBox="1"/>
          <p:nvPr/>
        </p:nvSpPr>
        <p:spPr>
          <a:xfrm>
            <a:off x="685800" y="2350008"/>
            <a:ext cx="33832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kernel 2  </a:t>
            </a:r>
            <a:r>
              <a:rPr lang="en-US" sz="1300" dirty="0">
                <a:solidFill>
                  <a:schemeClr val="tx1"/>
                </a:solidFill>
                <a:latin typeface="Courier New" pitchFamily="34" charset="0"/>
                <a:ea typeface="Courier New" pitchFamily="34" charset="-122"/>
                <a:cs typeface="Courier New" pitchFamily="34" charset="-120"/>
              </a:rPr>
              <a:t>S = S / sqrt(d)</a:t>
            </a:r>
            <a:endParaRPr lang="en-US" sz="1300" dirty="0"/>
          </a:p>
        </p:txBody>
      </p:sp>
      <p:sp>
        <p:nvSpPr>
          <p:cNvPr id="11" name="Shape 8"/>
          <p:cNvSpPr/>
          <p:nvPr/>
        </p:nvSpPr>
        <p:spPr>
          <a:xfrm>
            <a:off x="4206240" y="2578608"/>
            <a:ext cx="411480" cy="0"/>
          </a:xfrm>
          <a:prstGeom prst="line">
            <a:avLst/>
          </a:prstGeom>
          <a:noFill/>
          <a:ln w="22225">
            <a:solidFill>
              <a:schemeClr val="accent3"/>
            </a:solidFill>
            <a:prstDash val="solid"/>
            <a:tailEnd type="triangle"/>
          </a:ln>
        </p:spPr>
      </p:sp>
      <p:sp>
        <p:nvSpPr>
          <p:cNvPr id="12" name="Text 9"/>
          <p:cNvSpPr txBox="1"/>
          <p:nvPr/>
        </p:nvSpPr>
        <p:spPr>
          <a:xfrm>
            <a:off x="4709160" y="2350008"/>
            <a:ext cx="1828800" cy="457200"/>
          </a:xfrm>
          <a:prstGeom prst="rect">
            <a:avLst/>
          </a:prstGeom>
          <a:noFill/>
          <a:ln/>
        </p:spPr>
        <p:txBody>
          <a:bodyPr wrap="square" lIns="0" tIns="0" rIns="0" bIns="0" rtlCol="0" anchor="ctr"/>
          <a:lstStyle/>
          <a:p>
            <a:pPr indent="0" marL="0">
              <a:buNone/>
            </a:pPr>
            <a:r>
              <a:rPr lang="en-US" sz="1300" dirty="0">
                <a:solidFill>
                  <a:schemeClr val="tx2"/>
                </a:solidFill>
              </a:rPr>
              <a:t>HBM: </a:t>
            </a:r>
            <a:r>
              <a:rPr lang="en-US" sz="1300" dirty="0">
                <a:solidFill>
                  <a:schemeClr val="tx1"/>
                </a:solidFill>
              </a:rPr>
              <a:t>read S, </a:t>
            </a:r>
            <a:r>
              <a:rPr lang="en-US" sz="1300" b="1" dirty="0">
                <a:solidFill>
                  <a:schemeClr val="accent3"/>
                </a:solidFill>
              </a:rPr>
              <a:t>write S</a:t>
            </a:r>
            <a:endParaRPr lang="en-US" sz="1300" dirty="0"/>
          </a:p>
        </p:txBody>
      </p:sp>
      <p:sp>
        <p:nvSpPr>
          <p:cNvPr id="13" name="Shape 10"/>
          <p:cNvSpPr/>
          <p:nvPr/>
        </p:nvSpPr>
        <p:spPr>
          <a:xfrm>
            <a:off x="548640" y="2916936"/>
            <a:ext cx="3566160" cy="457200"/>
          </a:xfrm>
          <a:prstGeom prst="roundRect">
            <a:avLst>
              <a:gd name="adj" fmla="val 16000"/>
            </a:avLst>
          </a:prstGeom>
          <a:solidFill>
            <a:schemeClr val="bg2"/>
          </a:solidFill>
          <a:ln w="12700">
            <a:solidFill>
              <a:srgbClr val="AAB2C0"/>
            </a:solidFill>
            <a:prstDash val="solid"/>
          </a:ln>
        </p:spPr>
      </p:sp>
      <p:sp>
        <p:nvSpPr>
          <p:cNvPr id="14" name="Text 11"/>
          <p:cNvSpPr txBox="1"/>
          <p:nvPr/>
        </p:nvSpPr>
        <p:spPr>
          <a:xfrm>
            <a:off x="685800" y="2916936"/>
            <a:ext cx="33832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kernel 3  </a:t>
            </a:r>
            <a:r>
              <a:rPr lang="en-US" sz="1300" dirty="0">
                <a:solidFill>
                  <a:schemeClr val="tx1"/>
                </a:solidFill>
                <a:latin typeface="Courier New" pitchFamily="34" charset="0"/>
                <a:ea typeface="Courier New" pitchFamily="34" charset="-122"/>
                <a:cs typeface="Courier New" pitchFamily="34" charset="-120"/>
              </a:rPr>
              <a:t>S = S.masked_fill(...)</a:t>
            </a:r>
            <a:endParaRPr lang="en-US" sz="1300" dirty="0"/>
          </a:p>
        </p:txBody>
      </p:sp>
      <p:sp>
        <p:nvSpPr>
          <p:cNvPr id="15" name="Shape 12"/>
          <p:cNvSpPr/>
          <p:nvPr/>
        </p:nvSpPr>
        <p:spPr>
          <a:xfrm>
            <a:off x="4206240" y="3145536"/>
            <a:ext cx="411480" cy="0"/>
          </a:xfrm>
          <a:prstGeom prst="line">
            <a:avLst/>
          </a:prstGeom>
          <a:noFill/>
          <a:ln w="22225">
            <a:solidFill>
              <a:schemeClr val="accent3"/>
            </a:solidFill>
            <a:prstDash val="solid"/>
            <a:tailEnd type="triangle"/>
          </a:ln>
        </p:spPr>
      </p:sp>
      <p:sp>
        <p:nvSpPr>
          <p:cNvPr id="16" name="Text 13"/>
          <p:cNvSpPr txBox="1"/>
          <p:nvPr/>
        </p:nvSpPr>
        <p:spPr>
          <a:xfrm>
            <a:off x="4709160" y="2916936"/>
            <a:ext cx="1828800" cy="457200"/>
          </a:xfrm>
          <a:prstGeom prst="rect">
            <a:avLst/>
          </a:prstGeom>
          <a:noFill/>
          <a:ln/>
        </p:spPr>
        <p:txBody>
          <a:bodyPr wrap="square" lIns="0" tIns="0" rIns="0" bIns="0" rtlCol="0" anchor="ctr"/>
          <a:lstStyle/>
          <a:p>
            <a:pPr indent="0" marL="0">
              <a:buNone/>
            </a:pPr>
            <a:r>
              <a:rPr lang="en-US" sz="1300" dirty="0">
                <a:solidFill>
                  <a:schemeClr val="tx2"/>
                </a:solidFill>
              </a:rPr>
              <a:t>HBM: </a:t>
            </a:r>
            <a:r>
              <a:rPr lang="en-US" sz="1300" dirty="0">
                <a:solidFill>
                  <a:schemeClr val="tx1"/>
                </a:solidFill>
              </a:rPr>
              <a:t>read S, </a:t>
            </a:r>
            <a:r>
              <a:rPr lang="en-US" sz="1300" b="1" dirty="0">
                <a:solidFill>
                  <a:schemeClr val="accent3"/>
                </a:solidFill>
              </a:rPr>
              <a:t>write S</a:t>
            </a:r>
            <a:endParaRPr lang="en-US" sz="1300" dirty="0"/>
          </a:p>
        </p:txBody>
      </p:sp>
      <p:sp>
        <p:nvSpPr>
          <p:cNvPr id="17" name="Shape 14"/>
          <p:cNvSpPr/>
          <p:nvPr/>
        </p:nvSpPr>
        <p:spPr>
          <a:xfrm>
            <a:off x="548640" y="3483864"/>
            <a:ext cx="3566160" cy="457200"/>
          </a:xfrm>
          <a:prstGeom prst="roundRect">
            <a:avLst>
              <a:gd name="adj" fmla="val 16000"/>
            </a:avLst>
          </a:prstGeom>
          <a:solidFill>
            <a:schemeClr val="bg2"/>
          </a:solidFill>
          <a:ln w="12700">
            <a:solidFill>
              <a:srgbClr val="AAB2C0"/>
            </a:solidFill>
            <a:prstDash val="solid"/>
          </a:ln>
        </p:spPr>
      </p:sp>
      <p:sp>
        <p:nvSpPr>
          <p:cNvPr id="18" name="Text 15"/>
          <p:cNvSpPr txBox="1"/>
          <p:nvPr/>
        </p:nvSpPr>
        <p:spPr>
          <a:xfrm>
            <a:off x="685800" y="3483864"/>
            <a:ext cx="33832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kernel 4  </a:t>
            </a:r>
            <a:r>
              <a:rPr lang="en-US" sz="1300" dirty="0">
                <a:solidFill>
                  <a:schemeClr val="tx1"/>
                </a:solidFill>
                <a:latin typeface="Courier New" pitchFamily="34" charset="0"/>
                <a:ea typeface="Courier New" pitchFamily="34" charset="-122"/>
                <a:cs typeface="Courier New" pitchFamily="34" charset="-120"/>
              </a:rPr>
              <a:t>P = S.softmax(-1)</a:t>
            </a:r>
            <a:endParaRPr lang="en-US" sz="1300" dirty="0"/>
          </a:p>
        </p:txBody>
      </p:sp>
      <p:sp>
        <p:nvSpPr>
          <p:cNvPr id="19" name="Shape 16"/>
          <p:cNvSpPr/>
          <p:nvPr/>
        </p:nvSpPr>
        <p:spPr>
          <a:xfrm>
            <a:off x="4206240" y="3712464"/>
            <a:ext cx="411480" cy="0"/>
          </a:xfrm>
          <a:prstGeom prst="line">
            <a:avLst/>
          </a:prstGeom>
          <a:noFill/>
          <a:ln w="22225">
            <a:solidFill>
              <a:schemeClr val="accent3"/>
            </a:solidFill>
            <a:prstDash val="solid"/>
            <a:tailEnd type="triangle"/>
          </a:ln>
        </p:spPr>
      </p:sp>
      <p:sp>
        <p:nvSpPr>
          <p:cNvPr id="20" name="Text 17"/>
          <p:cNvSpPr txBox="1"/>
          <p:nvPr/>
        </p:nvSpPr>
        <p:spPr>
          <a:xfrm>
            <a:off x="4709160" y="3483864"/>
            <a:ext cx="1828800" cy="457200"/>
          </a:xfrm>
          <a:prstGeom prst="rect">
            <a:avLst/>
          </a:prstGeom>
          <a:noFill/>
          <a:ln/>
        </p:spPr>
        <p:txBody>
          <a:bodyPr wrap="square" lIns="0" tIns="0" rIns="0" bIns="0" rtlCol="0" anchor="ctr"/>
          <a:lstStyle/>
          <a:p>
            <a:pPr indent="0" marL="0">
              <a:buNone/>
            </a:pPr>
            <a:r>
              <a:rPr lang="en-US" sz="1300" dirty="0">
                <a:solidFill>
                  <a:schemeClr val="tx2"/>
                </a:solidFill>
              </a:rPr>
              <a:t>HBM: </a:t>
            </a:r>
            <a:r>
              <a:rPr lang="en-US" sz="1300" dirty="0">
                <a:solidFill>
                  <a:schemeClr val="tx1"/>
                </a:solidFill>
              </a:rPr>
              <a:t>read S, </a:t>
            </a:r>
            <a:r>
              <a:rPr lang="en-US" sz="1300" b="1" dirty="0">
                <a:solidFill>
                  <a:schemeClr val="accent3"/>
                </a:solidFill>
              </a:rPr>
              <a:t>write P</a:t>
            </a:r>
            <a:endParaRPr lang="en-US" sz="1300" dirty="0"/>
          </a:p>
        </p:txBody>
      </p:sp>
      <p:sp>
        <p:nvSpPr>
          <p:cNvPr id="21" name="Shape 18"/>
          <p:cNvSpPr/>
          <p:nvPr/>
        </p:nvSpPr>
        <p:spPr>
          <a:xfrm>
            <a:off x="548640" y="4050792"/>
            <a:ext cx="3566160" cy="457200"/>
          </a:xfrm>
          <a:prstGeom prst="roundRect">
            <a:avLst>
              <a:gd name="adj" fmla="val 16000"/>
            </a:avLst>
          </a:prstGeom>
          <a:solidFill>
            <a:schemeClr val="bg2"/>
          </a:solidFill>
          <a:ln w="12700">
            <a:solidFill>
              <a:srgbClr val="AAB2C0"/>
            </a:solidFill>
            <a:prstDash val="solid"/>
          </a:ln>
        </p:spPr>
      </p:sp>
      <p:sp>
        <p:nvSpPr>
          <p:cNvPr id="22" name="Text 19"/>
          <p:cNvSpPr txBox="1"/>
          <p:nvPr/>
        </p:nvSpPr>
        <p:spPr>
          <a:xfrm>
            <a:off x="685800" y="4050792"/>
            <a:ext cx="3383280" cy="457200"/>
          </a:xfrm>
          <a:prstGeom prst="rect">
            <a:avLst/>
          </a:prstGeom>
          <a:noFill/>
          <a:ln/>
        </p:spPr>
        <p:txBody>
          <a:bodyPr wrap="square" lIns="0" tIns="0" rIns="0" bIns="0" rtlCol="0" anchor="ctr"/>
          <a:lstStyle/>
          <a:p>
            <a:pPr indent="0" marL="0">
              <a:buNone/>
            </a:pPr>
            <a:r>
              <a:rPr lang="en-US" sz="1200" b="1" dirty="0">
                <a:solidFill>
                  <a:schemeClr val="tx2"/>
                </a:solidFill>
                <a:latin typeface="Calibri" pitchFamily="34" charset="0"/>
                <a:ea typeface="Calibri" pitchFamily="34" charset="-122"/>
                <a:cs typeface="Calibri" pitchFamily="34" charset="-120"/>
              </a:rPr>
              <a:t>kernel 5  </a:t>
            </a:r>
            <a:r>
              <a:rPr lang="en-US" sz="1300" dirty="0">
                <a:solidFill>
                  <a:schemeClr val="tx1"/>
                </a:solidFill>
                <a:latin typeface="Courier New" pitchFamily="34" charset="0"/>
                <a:ea typeface="Courier New" pitchFamily="34" charset="-122"/>
                <a:cs typeface="Courier New" pitchFamily="34" charset="-120"/>
              </a:rPr>
              <a:t>O = P @ V</a:t>
            </a:r>
            <a:endParaRPr lang="en-US" sz="1300" dirty="0"/>
          </a:p>
        </p:txBody>
      </p:sp>
      <p:sp>
        <p:nvSpPr>
          <p:cNvPr id="23" name="Shape 20"/>
          <p:cNvSpPr/>
          <p:nvPr/>
        </p:nvSpPr>
        <p:spPr>
          <a:xfrm>
            <a:off x="4206240" y="4279392"/>
            <a:ext cx="411480" cy="0"/>
          </a:xfrm>
          <a:prstGeom prst="line">
            <a:avLst/>
          </a:prstGeom>
          <a:noFill/>
          <a:ln w="22225">
            <a:solidFill>
              <a:schemeClr val="accent3"/>
            </a:solidFill>
            <a:prstDash val="solid"/>
            <a:tailEnd type="triangle"/>
          </a:ln>
        </p:spPr>
      </p:sp>
      <p:sp>
        <p:nvSpPr>
          <p:cNvPr id="24" name="Text 21"/>
          <p:cNvSpPr txBox="1"/>
          <p:nvPr/>
        </p:nvSpPr>
        <p:spPr>
          <a:xfrm>
            <a:off x="4709160" y="4050792"/>
            <a:ext cx="1828800" cy="457200"/>
          </a:xfrm>
          <a:prstGeom prst="rect">
            <a:avLst/>
          </a:prstGeom>
          <a:noFill/>
          <a:ln/>
        </p:spPr>
        <p:txBody>
          <a:bodyPr wrap="square" lIns="0" tIns="0" rIns="0" bIns="0" rtlCol="0" anchor="ctr"/>
          <a:lstStyle/>
          <a:p>
            <a:pPr indent="0" marL="0">
              <a:buNone/>
            </a:pPr>
            <a:r>
              <a:rPr lang="en-US" sz="1300" dirty="0">
                <a:solidFill>
                  <a:schemeClr val="tx2"/>
                </a:solidFill>
              </a:rPr>
              <a:t>HBM: </a:t>
            </a:r>
            <a:r>
              <a:rPr lang="en-US" sz="1300" dirty="0">
                <a:solidFill>
                  <a:schemeClr val="tx1"/>
                </a:solidFill>
              </a:rPr>
              <a:t>read P, write O</a:t>
            </a:r>
            <a:endParaRPr lang="en-US" sz="1300" dirty="0"/>
          </a:p>
        </p:txBody>
      </p:sp>
      <p:sp>
        <p:nvSpPr>
          <p:cNvPr id="25" name="Text 22"/>
          <p:cNvSpPr txBox="1"/>
          <p:nvPr/>
        </p:nvSpPr>
        <p:spPr>
          <a:xfrm>
            <a:off x="548640" y="4617720"/>
            <a:ext cx="5943600" cy="365760"/>
          </a:xfrm>
          <a:prstGeom prst="rect">
            <a:avLst/>
          </a:prstGeom>
          <a:noFill/>
          <a:ln/>
        </p:spPr>
        <p:txBody>
          <a:bodyPr wrap="square" lIns="0" tIns="0" rIns="0" bIns="0" rtlCol="0" anchor="t"/>
          <a:lstStyle/>
          <a:p>
            <a:pPr indent="0" marL="0">
              <a:buNone/>
            </a:pPr>
            <a:r>
              <a:rPr lang="en-US" sz="1300" dirty="0">
                <a:solidFill>
                  <a:schemeClr val="accent3"/>
                </a:solidFill>
              </a:rPr>
              <a:t>The T × T matrix is written to HBM 4 times and read back 4 times.</a:t>
            </a:r>
            <a:endParaRPr lang="en-US" sz="1300" dirty="0"/>
          </a:p>
        </p:txBody>
      </p:sp>
      <p:sp>
        <p:nvSpPr>
          <p:cNvPr id="26" name="Text 23"/>
          <p:cNvSpPr txBox="1"/>
          <p:nvPr/>
        </p:nvSpPr>
        <p:spPr>
          <a:xfrm>
            <a:off x="6949440" y="1280160"/>
            <a:ext cx="4663440" cy="411480"/>
          </a:xfrm>
          <a:prstGeom prst="rect">
            <a:avLst/>
          </a:prstGeom>
          <a:noFill/>
          <a:ln/>
        </p:spPr>
        <p:txBody>
          <a:bodyPr wrap="square" lIns="0" tIns="0" rIns="0" bIns="0" rtlCol="0" anchor="t"/>
          <a:lstStyle/>
          <a:p>
            <a:pPr indent="0" marL="0">
              <a:buNone/>
            </a:pPr>
            <a:r>
              <a:rPr lang="en-US" sz="1800" b="1" dirty="0">
                <a:solidFill>
                  <a:schemeClr val="accent1"/>
                </a:solidFill>
              </a:rPr>
              <a:t>FlashAttention: one kernel</a:t>
            </a:r>
            <a:endParaRPr lang="en-US" sz="1800" dirty="0"/>
          </a:p>
        </p:txBody>
      </p:sp>
      <p:sp>
        <p:nvSpPr>
          <p:cNvPr id="27" name="Text 24"/>
          <p:cNvSpPr txBox="1"/>
          <p:nvPr/>
        </p:nvSpPr>
        <p:spPr>
          <a:xfrm>
            <a:off x="6949440" y="1783080"/>
            <a:ext cx="4663440" cy="365760"/>
          </a:xfrm>
          <a:prstGeom prst="rect">
            <a:avLst/>
          </a:prstGeom>
          <a:noFill/>
          <a:ln/>
        </p:spPr>
        <p:txBody>
          <a:bodyPr wrap="square" lIns="0" tIns="0" rIns="0" bIns="0" rtlCol="0" anchor="t"/>
          <a:lstStyle/>
          <a:p>
            <a:pPr indent="0" marL="0">
              <a:buNone/>
            </a:pPr>
            <a:r>
              <a:rPr lang="en-US" sz="1400" dirty="0">
                <a:solidFill>
                  <a:schemeClr val="tx2"/>
                </a:solidFill>
              </a:rPr>
              <a:t>HBM → </a:t>
            </a:r>
            <a:r>
              <a:rPr lang="en-US" sz="1400" dirty="0">
                <a:solidFill>
                  <a:schemeClr val="tx2"/>
                </a:solidFill>
                <a:latin typeface="Courier New" pitchFamily="34" charset="0"/>
                <a:ea typeface="Courier New" pitchFamily="34" charset="-122"/>
                <a:cs typeface="Courier New" pitchFamily="34" charset="-120"/>
              </a:rPr>
              <a:t>Q</a:t>
            </a:r>
            <a:r>
              <a:rPr lang="en-US" sz="1400" dirty="0">
                <a:solidFill>
                  <a:schemeClr val="tx2"/>
                </a:solidFill>
              </a:rPr>
              <a:t> block once; </a:t>
            </a:r>
            <a:r>
              <a:rPr lang="en-US" sz="1400" dirty="0">
                <a:solidFill>
                  <a:schemeClr val="tx2"/>
                </a:solidFill>
                <a:latin typeface="Courier New" pitchFamily="34" charset="0"/>
                <a:ea typeface="Courier New" pitchFamily="34" charset="-122"/>
                <a:cs typeface="Courier New" pitchFamily="34" charset="-120"/>
              </a:rPr>
              <a:t>K</a:t>
            </a:r>
            <a:r>
              <a:rPr lang="en-US" sz="1400" dirty="0">
                <a:solidFill>
                  <a:schemeClr val="tx2"/>
                </a:solidFill>
              </a:rPr>
              <a:t>, </a:t>
            </a:r>
            <a:r>
              <a:rPr lang="en-US" sz="1400" dirty="0">
                <a:solidFill>
                  <a:schemeClr val="tx2"/>
                </a:solidFill>
                <a:latin typeface="Courier New" pitchFamily="34" charset="0"/>
                <a:ea typeface="Courier New" pitchFamily="34" charset="-122"/>
                <a:cs typeface="Courier New" pitchFamily="34" charset="-120"/>
              </a:rPr>
              <a:t>V</a:t>
            </a:r>
            <a:r>
              <a:rPr lang="en-US" sz="1400" dirty="0">
                <a:solidFill>
                  <a:schemeClr val="tx2"/>
                </a:solidFill>
              </a:rPr>
              <a:t> blocks in a loop</a:t>
            </a:r>
            <a:endParaRPr lang="en-US" sz="1400" dirty="0"/>
          </a:p>
        </p:txBody>
      </p:sp>
      <p:sp>
        <p:nvSpPr>
          <p:cNvPr id="28" name="Shape 25"/>
          <p:cNvSpPr/>
          <p:nvPr/>
        </p:nvSpPr>
        <p:spPr>
          <a:xfrm>
            <a:off x="9281160" y="2148840"/>
            <a:ext cx="0" cy="274320"/>
          </a:xfrm>
          <a:prstGeom prst="line">
            <a:avLst/>
          </a:prstGeom>
          <a:noFill/>
          <a:ln w="22225">
            <a:solidFill>
              <a:schemeClr val="accent1"/>
            </a:solidFill>
            <a:prstDash val="solid"/>
            <a:tailEnd type="triangle"/>
          </a:ln>
        </p:spPr>
      </p:sp>
      <p:sp>
        <p:nvSpPr>
          <p:cNvPr id="29" name="Shape 26"/>
          <p:cNvSpPr/>
          <p:nvPr/>
        </p:nvSpPr>
        <p:spPr>
          <a:xfrm>
            <a:off x="6949440" y="2468880"/>
            <a:ext cx="4663440" cy="1691640"/>
          </a:xfrm>
          <a:prstGeom prst="roundRect">
            <a:avLst>
              <a:gd name="adj" fmla="val 6486"/>
            </a:avLst>
          </a:prstGeom>
          <a:solidFill>
            <a:schemeClr val="bg1"/>
          </a:solidFill>
          <a:ln w="25400">
            <a:solidFill>
              <a:schemeClr val="accent1"/>
            </a:solidFill>
            <a:prstDash val="solid"/>
          </a:ln>
        </p:spPr>
      </p:sp>
      <p:sp>
        <p:nvSpPr>
          <p:cNvPr id="30" name="Text 27"/>
          <p:cNvSpPr txBox="1"/>
          <p:nvPr/>
        </p:nvSpPr>
        <p:spPr>
          <a:xfrm>
            <a:off x="7132320" y="2542032"/>
            <a:ext cx="4297680" cy="320040"/>
          </a:xfrm>
          <a:prstGeom prst="rect">
            <a:avLst/>
          </a:prstGeom>
          <a:noFill/>
          <a:ln/>
        </p:spPr>
        <p:txBody>
          <a:bodyPr wrap="square" lIns="0" tIns="0" rIns="0" bIns="0" rtlCol="0" anchor="t"/>
          <a:lstStyle/>
          <a:p>
            <a:pPr indent="0" marL="0">
              <a:buNone/>
            </a:pPr>
            <a:r>
              <a:rPr lang="en-US" sz="1200" i="1" dirty="0">
                <a:solidFill>
                  <a:schemeClr val="accent1"/>
                </a:solidFill>
              </a:rPr>
              <a:t>on-chip SRAM, block by block</a:t>
            </a:r>
            <a:endParaRPr lang="en-US" sz="1200" dirty="0"/>
          </a:p>
        </p:txBody>
      </p:sp>
      <p:sp>
        <p:nvSpPr>
          <p:cNvPr id="31" name="Shape 28"/>
          <p:cNvSpPr/>
          <p:nvPr/>
        </p:nvSpPr>
        <p:spPr>
          <a:xfrm>
            <a:off x="7132320" y="2971800"/>
            <a:ext cx="786384" cy="457200"/>
          </a:xfrm>
          <a:prstGeom prst="roundRect">
            <a:avLst>
              <a:gd name="adj" fmla="val 16000"/>
            </a:avLst>
          </a:prstGeom>
          <a:solidFill>
            <a:schemeClr val="bg2"/>
          </a:solidFill>
          <a:ln w="12700">
            <a:solidFill>
              <a:schemeClr val="bg2"/>
            </a:solidFill>
            <a:prstDash val="solid"/>
          </a:ln>
        </p:spPr>
      </p:sp>
      <p:sp>
        <p:nvSpPr>
          <p:cNvPr id="32" name="Text 29"/>
          <p:cNvSpPr txBox="1"/>
          <p:nvPr/>
        </p:nvSpPr>
        <p:spPr>
          <a:xfrm>
            <a:off x="7132320" y="2971800"/>
            <a:ext cx="786384"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Q Kᵀ</a:t>
            </a:r>
            <a:endParaRPr lang="en-US" sz="1200" dirty="0"/>
          </a:p>
        </p:txBody>
      </p:sp>
      <p:sp>
        <p:nvSpPr>
          <p:cNvPr id="33" name="Shape 30"/>
          <p:cNvSpPr/>
          <p:nvPr/>
        </p:nvSpPr>
        <p:spPr>
          <a:xfrm>
            <a:off x="8010144" y="2971800"/>
            <a:ext cx="786384" cy="457200"/>
          </a:xfrm>
          <a:prstGeom prst="roundRect">
            <a:avLst>
              <a:gd name="adj" fmla="val 16000"/>
            </a:avLst>
          </a:prstGeom>
          <a:solidFill>
            <a:schemeClr val="bg2"/>
          </a:solidFill>
          <a:ln w="12700">
            <a:solidFill>
              <a:schemeClr val="bg2"/>
            </a:solidFill>
            <a:prstDash val="solid"/>
          </a:ln>
        </p:spPr>
      </p:sp>
      <p:sp>
        <p:nvSpPr>
          <p:cNvPr id="34" name="Text 31"/>
          <p:cNvSpPr txBox="1"/>
          <p:nvPr/>
        </p:nvSpPr>
        <p:spPr>
          <a:xfrm>
            <a:off x="8010144" y="2971800"/>
            <a:ext cx="786384"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 √d</a:t>
            </a:r>
            <a:endParaRPr lang="en-US" sz="1200" dirty="0"/>
          </a:p>
        </p:txBody>
      </p:sp>
      <p:sp>
        <p:nvSpPr>
          <p:cNvPr id="35" name="Shape 32"/>
          <p:cNvSpPr/>
          <p:nvPr/>
        </p:nvSpPr>
        <p:spPr>
          <a:xfrm>
            <a:off x="8887968" y="2971800"/>
            <a:ext cx="786384" cy="457200"/>
          </a:xfrm>
          <a:prstGeom prst="roundRect">
            <a:avLst>
              <a:gd name="adj" fmla="val 16000"/>
            </a:avLst>
          </a:prstGeom>
          <a:solidFill>
            <a:schemeClr val="bg2"/>
          </a:solidFill>
          <a:ln w="12700">
            <a:solidFill>
              <a:schemeClr val="bg2"/>
            </a:solidFill>
            <a:prstDash val="solid"/>
          </a:ln>
        </p:spPr>
      </p:sp>
      <p:sp>
        <p:nvSpPr>
          <p:cNvPr id="36" name="Text 33"/>
          <p:cNvSpPr txBox="1"/>
          <p:nvPr/>
        </p:nvSpPr>
        <p:spPr>
          <a:xfrm>
            <a:off x="8887968" y="2971800"/>
            <a:ext cx="786384"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mask</a:t>
            </a:r>
            <a:endParaRPr lang="en-US" sz="1200" dirty="0"/>
          </a:p>
        </p:txBody>
      </p:sp>
      <p:sp>
        <p:nvSpPr>
          <p:cNvPr id="37" name="Shape 34"/>
          <p:cNvSpPr/>
          <p:nvPr/>
        </p:nvSpPr>
        <p:spPr>
          <a:xfrm>
            <a:off x="9765792" y="2971800"/>
            <a:ext cx="786384" cy="457200"/>
          </a:xfrm>
          <a:prstGeom prst="roundRect">
            <a:avLst>
              <a:gd name="adj" fmla="val 16000"/>
            </a:avLst>
          </a:prstGeom>
          <a:solidFill>
            <a:schemeClr val="bg2"/>
          </a:solidFill>
          <a:ln w="12700">
            <a:solidFill>
              <a:schemeClr val="bg2"/>
            </a:solidFill>
            <a:prstDash val="solid"/>
          </a:ln>
        </p:spPr>
      </p:sp>
      <p:sp>
        <p:nvSpPr>
          <p:cNvPr id="38" name="Text 35"/>
          <p:cNvSpPr txBox="1"/>
          <p:nvPr/>
        </p:nvSpPr>
        <p:spPr>
          <a:xfrm>
            <a:off x="9765792" y="2971800"/>
            <a:ext cx="786384"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softmax</a:t>
            </a:r>
            <a:endParaRPr lang="en-US" sz="1200" dirty="0"/>
          </a:p>
        </p:txBody>
      </p:sp>
      <p:sp>
        <p:nvSpPr>
          <p:cNvPr id="39" name="Shape 36"/>
          <p:cNvSpPr/>
          <p:nvPr/>
        </p:nvSpPr>
        <p:spPr>
          <a:xfrm>
            <a:off x="10643616" y="2971800"/>
            <a:ext cx="786384" cy="457200"/>
          </a:xfrm>
          <a:prstGeom prst="roundRect">
            <a:avLst>
              <a:gd name="adj" fmla="val 16000"/>
            </a:avLst>
          </a:prstGeom>
          <a:solidFill>
            <a:schemeClr val="bg2"/>
          </a:solidFill>
          <a:ln w="12700">
            <a:solidFill>
              <a:schemeClr val="bg2"/>
            </a:solidFill>
            <a:prstDash val="solid"/>
          </a:ln>
        </p:spPr>
      </p:sp>
      <p:sp>
        <p:nvSpPr>
          <p:cNvPr id="40" name="Text 37"/>
          <p:cNvSpPr txBox="1"/>
          <p:nvPr/>
        </p:nvSpPr>
        <p:spPr>
          <a:xfrm>
            <a:off x="10643616" y="2971800"/>
            <a:ext cx="786384" cy="457200"/>
          </a:xfrm>
          <a:prstGeom prst="rect">
            <a:avLst/>
          </a:prstGeom>
          <a:noFill/>
          <a:ln/>
        </p:spPr>
        <p:txBody>
          <a:bodyPr wrap="square" lIns="0" tIns="0" rIns="0" bIns="0" rtlCol="0" anchor="ctr"/>
          <a:lstStyle/>
          <a:p>
            <a:pPr algn="ctr" indent="0" marL="0">
              <a:buNone/>
            </a:pPr>
            <a:r>
              <a:rPr lang="en-US" sz="1200" dirty="0">
                <a:solidFill>
                  <a:schemeClr val="tx1"/>
                </a:solidFill>
                <a:latin typeface="Courier New" pitchFamily="34" charset="0"/>
                <a:ea typeface="Courier New" pitchFamily="34" charset="-122"/>
                <a:cs typeface="Courier New" pitchFamily="34" charset="-120"/>
              </a:rPr>
              <a:t>· V</a:t>
            </a:r>
            <a:endParaRPr lang="en-US" sz="1200" dirty="0"/>
          </a:p>
        </p:txBody>
      </p:sp>
      <p:sp>
        <p:nvSpPr>
          <p:cNvPr id="41" name="Text 38"/>
          <p:cNvSpPr txBox="1"/>
          <p:nvPr/>
        </p:nvSpPr>
        <p:spPr>
          <a:xfrm>
            <a:off x="7132320" y="3566160"/>
            <a:ext cx="4389120" cy="457200"/>
          </a:xfrm>
          <a:prstGeom prst="rect">
            <a:avLst/>
          </a:prstGeom>
          <a:noFill/>
          <a:ln/>
        </p:spPr>
        <p:txBody>
          <a:bodyPr wrap="square" lIns="0" tIns="0" rIns="0" bIns="0" rtlCol="0" anchor="t"/>
          <a:lstStyle/>
          <a:p>
            <a:pPr indent="0" marL="0">
              <a:buNone/>
            </a:pPr>
            <a:r>
              <a:rPr lang="en-US" sz="1300" dirty="0">
                <a:solidFill>
                  <a:schemeClr val="tx1"/>
                </a:solidFill>
              </a:rPr>
              <a:t>running </a:t>
            </a:r>
            <a:r>
              <a:rPr lang="en-US" sz="1300" dirty="0">
                <a:solidFill>
                  <a:schemeClr val="tx1"/>
                </a:solidFill>
                <a:latin typeface="Courier New" pitchFamily="34" charset="0"/>
                <a:ea typeface="Courier New" pitchFamily="34" charset="-122"/>
                <a:cs typeface="Courier New" pitchFamily="34" charset="-120"/>
              </a:rPr>
              <a:t>m</a:t>
            </a:r>
            <a:r>
              <a:rPr lang="en-US" sz="1300" dirty="0">
                <a:solidFill>
                  <a:schemeClr val="tx1"/>
                </a:solidFill>
              </a:rPr>
              <a:t>, </a:t>
            </a:r>
            <a:r>
              <a:rPr lang="en-US" sz="1300" dirty="0">
                <a:solidFill>
                  <a:schemeClr val="tx1"/>
                </a:solidFill>
                <a:latin typeface="Courier New" pitchFamily="34" charset="0"/>
                <a:ea typeface="Courier New" pitchFamily="34" charset="-122"/>
                <a:cs typeface="Courier New" pitchFamily="34" charset="-120"/>
              </a:rPr>
              <a:t>l</a:t>
            </a:r>
            <a:r>
              <a:rPr lang="en-US" sz="1300" dirty="0">
                <a:solidFill>
                  <a:schemeClr val="tx1"/>
                </a:solidFill>
              </a:rPr>
              <a:t>, </a:t>
            </a:r>
            <a:r>
              <a:rPr lang="en-US" sz="1300" dirty="0">
                <a:solidFill>
                  <a:schemeClr val="tx1"/>
                </a:solidFill>
                <a:latin typeface="Courier New" pitchFamily="34" charset="0"/>
                <a:ea typeface="Courier New" pitchFamily="34" charset="-122"/>
                <a:cs typeface="Courier New" pitchFamily="34" charset="-120"/>
              </a:rPr>
              <a:t>acc</a:t>
            </a:r>
            <a:r>
              <a:rPr lang="en-US" sz="1300" dirty="0">
                <a:solidFill>
                  <a:schemeClr val="tx1"/>
                </a:solidFill>
              </a:rPr>
              <a:t> (online softmax); block scores discarded</a:t>
            </a:r>
            <a:endParaRPr lang="en-US" sz="1300" dirty="0"/>
          </a:p>
        </p:txBody>
      </p:sp>
      <p:sp>
        <p:nvSpPr>
          <p:cNvPr id="42" name="Shape 39"/>
          <p:cNvSpPr/>
          <p:nvPr/>
        </p:nvSpPr>
        <p:spPr>
          <a:xfrm>
            <a:off x="9281160" y="4206240"/>
            <a:ext cx="0" cy="274320"/>
          </a:xfrm>
          <a:prstGeom prst="line">
            <a:avLst/>
          </a:prstGeom>
          <a:noFill/>
          <a:ln w="22225">
            <a:solidFill>
              <a:schemeClr val="accent1"/>
            </a:solidFill>
            <a:prstDash val="solid"/>
            <a:tailEnd type="triangle"/>
          </a:ln>
        </p:spPr>
      </p:sp>
      <p:sp>
        <p:nvSpPr>
          <p:cNvPr id="43" name="Text 40"/>
          <p:cNvSpPr txBox="1"/>
          <p:nvPr/>
        </p:nvSpPr>
        <p:spPr>
          <a:xfrm>
            <a:off x="6949440" y="4526280"/>
            <a:ext cx="4663440" cy="365760"/>
          </a:xfrm>
          <a:prstGeom prst="rect">
            <a:avLst/>
          </a:prstGeom>
          <a:noFill/>
          <a:ln/>
        </p:spPr>
        <p:txBody>
          <a:bodyPr wrap="square" lIns="0" tIns="0" rIns="0" bIns="0" rtlCol="0" anchor="t"/>
          <a:lstStyle/>
          <a:p>
            <a:pPr indent="0" marL="0">
              <a:buNone/>
            </a:pPr>
            <a:r>
              <a:rPr lang="en-US" sz="1400" dirty="0">
                <a:solidFill>
                  <a:schemeClr val="tx2"/>
                </a:solidFill>
              </a:rPr>
              <a:t>→ HBM: only </a:t>
            </a:r>
            <a:r>
              <a:rPr lang="en-US" sz="1400" b="1" dirty="0">
                <a:solidFill>
                  <a:schemeClr val="accent1"/>
                </a:solidFill>
              </a:rPr>
              <a:t>O</a:t>
            </a:r>
            <a:r>
              <a:rPr lang="en-US" sz="1400" dirty="0">
                <a:solidFill>
                  <a:schemeClr val="tx2"/>
                </a:solidFill>
              </a:rPr>
              <a:t>, nothing of size T × T</a:t>
            </a:r>
            <a:endParaRPr lang="en-US" sz="1400" dirty="0"/>
          </a:p>
        </p:txBody>
      </p:sp>
      <p:sp>
        <p:nvSpPr>
          <p:cNvPr id="44" name="kernel fusion"/>
          <p:cNvSpPr/>
          <p:nvPr/>
        </p:nvSpPr>
        <p:spPr>
          <a:xfrm>
            <a:off x="548640" y="5120640"/>
            <a:ext cx="11064240" cy="1051560"/>
          </a:xfrm>
          <a:prstGeom prst="roundRect">
            <a:avLst>
              <a:gd name="adj" fmla="val 10435"/>
            </a:avLst>
          </a:prstGeom>
          <a:solidFill>
            <a:schemeClr val="accent5"/>
          </a:solidFill>
          <a:ln w="12700">
            <a:solidFill>
              <a:schemeClr val="accent5"/>
            </a:solidFill>
            <a:prstDash val="solid"/>
          </a:ln>
        </p:spPr>
      </p:sp>
      <p:sp>
        <p:nvSpPr>
          <p:cNvPr id="45" name="Text 42"/>
          <p:cNvSpPr txBox="1"/>
          <p:nvPr/>
        </p:nvSpPr>
        <p:spPr>
          <a:xfrm>
            <a:off x="777240" y="5120640"/>
            <a:ext cx="10607040" cy="1051560"/>
          </a:xfrm>
          <a:prstGeom prst="rect">
            <a:avLst/>
          </a:prstGeom>
          <a:noFill/>
          <a:ln/>
        </p:spPr>
        <p:txBody>
          <a:bodyPr wrap="square" lIns="0" tIns="0" rIns="0" bIns="0" rtlCol="0" anchor="ctr"/>
          <a:lstStyle/>
          <a:p>
            <a:pPr indent="0" marL="0">
              <a:buNone/>
            </a:pPr>
            <a:r>
              <a:rPr lang="en-US" sz="1500" b="1" dirty="0">
                <a:solidFill>
                  <a:schemeClr val="tx1"/>
                </a:solidFill>
              </a:rPr>
              <a:t>Kernel: </a:t>
            </a:r>
            <a:r>
              <a:rPr lang="en-US" sz="1500" dirty="0">
                <a:solidFill>
                  <a:schemeClr val="tx1"/>
                </a:solidFill>
              </a:rPr>
              <a:t>a function the CPU launches on the GPU. Kernels do not share on-chip memory, so every kernel boundary is a trip through HBM. </a:t>
            </a:r>
            <a:endParaRPr lang="en-US" sz="1500" dirty="0"/>
          </a:p>
          <a:p>
            <a:pPr indent="0" marL="0">
              <a:buNone/>
            </a:pPr>
            <a:r>
              <a:rPr lang="en-US" sz="1500" b="1" dirty="0">
                <a:solidFill>
                  <a:schemeClr val="accent1"/>
                </a:solidFill>
              </a:rPr>
              <a:t>Fusion</a:t>
            </a:r>
            <a:r>
              <a:rPr lang="en-US" sz="1500" dirty="0">
                <a:solidFill>
                  <a:schemeClr val="tx1"/>
                </a:solidFill>
              </a:rPr>
              <a:t> keeps intermediates on-chip; the online softmax makes it possible, because the full row of scores never has to exist.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online softmax</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8</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1600200"/>
                <a:gridCol w="5349240"/>
              </a:tblGrid>
              <a:tr h="502920">
                <a:tc>
                  <a:txBody>
                    <a:bodyPr/>
                    <a:lstStyle/>
                    <a:p>
                      <a:pPr indent="0" marL="0">
                        <a:buNone/>
                      </a:pPr>
                      <a:r>
                        <a:rPr lang="en-US" sz="1300" b="1" dirty="0">
                          <a:solidFill>
                            <a:schemeClr val="bg1"/>
                          </a:solidFill>
                        </a:rPr>
                        <a:t>Running value</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Update for a new block of scores s</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02920">
                <a:tc>
                  <a:txBody>
                    <a:bodyPr/>
                    <a:lstStyle/>
                    <a:p>
                      <a:pPr indent="0" marL="0">
                        <a:buNone/>
                      </a:pPr>
                      <a:r>
                        <a:rPr lang="en-US" sz="1300" b="1" dirty="0">
                          <a:solidFill>
                            <a:schemeClr val="tx1"/>
                          </a:solidFill>
                        </a:rPr>
                        <a:t>max  m</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m_new = max(m, max(s))</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1"/>
                          </a:solidFill>
                        </a:rPr>
                        <a:t>denominator  l</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 = l · e^(m − m_new) + Σ e^(s − m_new)</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1"/>
                          </a:solidFill>
                        </a:rPr>
                        <a:t>weighted values  acc</a:t>
                      </a:r>
                      <a:endParaRPr lang="en-US" sz="13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acc = acc · e^(m − m_new) + e^(s − m_new) · V_block</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3429000"/>
            <a:ext cx="6949440" cy="365760"/>
          </a:xfrm>
          <a:prstGeom prst="rect">
            <a:avLst/>
          </a:prstGeom>
          <a:noFill/>
          <a:ln/>
        </p:spPr>
        <p:txBody>
          <a:bodyPr wrap="square" lIns="0" tIns="0" rIns="0" bIns="0" rtlCol="0" anchor="t"/>
          <a:lstStyle/>
          <a:p>
            <a:pPr indent="0" marL="0">
              <a:buNone/>
            </a:pPr>
            <a:r>
              <a:rPr lang="en-US" sz="1600" dirty="0">
                <a:solidFill>
                  <a:schemeClr val="tx1"/>
                </a:solidFill>
              </a:rPr>
              <a:t>At the end: </a:t>
            </a:r>
            <a:r>
              <a:rPr lang="en-US" sz="1600" b="1" dirty="0">
                <a:solidFill>
                  <a:schemeClr val="tx1"/>
                </a:solidFill>
              </a:rPr>
              <a:t>output = acc / l</a:t>
            </a:r>
            <a:r>
              <a:rPr lang="en-US" sz="1600" dirty="0">
                <a:solidFill>
                  <a:schemeClr val="tx1"/>
                </a:solidFill>
              </a:rPr>
              <a:t>, exactly the full softmax result.</a:t>
            </a:r>
            <a:endParaRPr lang="en-US" sz="1600" dirty="0"/>
          </a:p>
        </p:txBody>
      </p:sp>
      <p:sp>
        <p:nvSpPr>
          <p:cNvPr id="8" name="flashattention loop"/>
          <p:cNvSpPr/>
          <p:nvPr/>
        </p:nvSpPr>
        <p:spPr>
          <a:xfrm>
            <a:off x="548640" y="3931920"/>
            <a:ext cx="6949440" cy="2240280"/>
          </a:xfrm>
          <a:prstGeom prst="roundRect">
            <a:avLst>
              <a:gd name="adj" fmla="val 4898"/>
            </a:avLst>
          </a:prstGeom>
          <a:solidFill>
            <a:schemeClr val="bg2"/>
          </a:solidFill>
          <a:ln w="12700">
            <a:solidFill>
              <a:schemeClr val="bg2"/>
            </a:solidFill>
            <a:prstDash val="solid"/>
          </a:ln>
        </p:spPr>
      </p:sp>
      <p:sp>
        <p:nvSpPr>
          <p:cNvPr id="9" name="Text 5"/>
          <p:cNvSpPr txBox="1"/>
          <p:nvPr/>
        </p:nvSpPr>
        <p:spPr>
          <a:xfrm>
            <a:off x="777240" y="4343400"/>
            <a:ext cx="6583680" cy="1783080"/>
          </a:xfrm>
          <a:prstGeom prst="rect">
            <a:avLst/>
          </a:prstGeom>
          <a:noFill/>
          <a:ln/>
        </p:spPr>
        <p:txBody>
          <a:bodyPr wrap="square" lIns="0" tIns="0" rIns="0" bIns="0" rtlCol="0" anchor="ctr"/>
          <a:lstStyle/>
          <a:p>
            <a:pPr indent="0" marL="0">
              <a:buNone/>
            </a:pPr>
            <a:r>
              <a:rPr lang="en-US" sz="1250" dirty="0">
                <a:solidFill>
                  <a:schemeClr val="tx1"/>
                </a:solidFill>
                <a:latin typeface="Courier New" pitchFamily="34" charset="0"/>
                <a:ea typeface="Courier New" pitchFamily="34" charset="-122"/>
                <a:cs typeface="Courier New" pitchFamily="34" charset="-120"/>
              </a:rPr>
              <a:t>for each query block Q_i:           </a:t>
            </a:r>
            <a:r>
              <a:rPr lang="en-US" sz="1250" dirty="0">
                <a:solidFill>
                  <a:schemeClr val="accent1"/>
                </a:solidFill>
                <a:latin typeface="Courier New" pitchFamily="34" charset="0"/>
                <a:ea typeface="Courier New" pitchFamily="34" charset="-122"/>
                <a:cs typeface="Courier New" pitchFamily="34" charset="-120"/>
              </a:rPr>
              <a:t># in parallel</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load Q_i into SRAM              </a:t>
            </a:r>
            <a:r>
              <a:rPr lang="en-US" sz="1250" dirty="0">
                <a:solidFill>
                  <a:schemeClr val="accent1"/>
                </a:solidFill>
                <a:latin typeface="Courier New" pitchFamily="34" charset="0"/>
                <a:ea typeface="Courier New" pitchFamily="34" charset="-122"/>
                <a:cs typeface="Courier New" pitchFamily="34" charset="-120"/>
              </a:rPr>
              <a:t># once</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m, l, acc = -inf, 0, 0          </a:t>
            </a:r>
            <a:r>
              <a:rPr lang="en-US" sz="1250" dirty="0">
                <a:solidFill>
                  <a:schemeClr val="accent1"/>
                </a:solidFill>
                <a:latin typeface="Courier New" pitchFamily="34" charset="0"/>
                <a:ea typeface="Courier New" pitchFamily="34" charset="-122"/>
                <a:cs typeface="Courier New" pitchFamily="34" charset="-120"/>
              </a:rPr>
              <a:t># on-chip</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for each tile K_j, V_j:         </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load K_j, V_j into SRAM     </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update m, l, acc            </a:t>
            </a:r>
            <a:r>
              <a:rPr lang="en-US" sz="1250" dirty="0">
                <a:solidFill>
                  <a:schemeClr val="accent1"/>
                </a:solidFill>
                <a:latin typeface="Courier New" pitchFamily="34" charset="0"/>
                <a:ea typeface="Courier New" pitchFamily="34" charset="-122"/>
                <a:cs typeface="Courier New" pitchFamily="34" charset="-120"/>
              </a:rPr>
              <a:t># table above</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discard the tile's scores   </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O_i = acc / l                   </a:t>
            </a:r>
            <a:r>
              <a:rPr lang="en-US" sz="1250" dirty="0">
                <a:solidFill>
                  <a:schemeClr val="accent1"/>
                </a:solidFill>
                <a:latin typeface="Courier New" pitchFamily="34" charset="0"/>
                <a:ea typeface="Courier New" pitchFamily="34" charset="-122"/>
                <a:cs typeface="Courier New" pitchFamily="34" charset="-120"/>
              </a:rPr>
              <a:t># normalise once</a:t>
            </a:r>
            <a:endParaRPr lang="en-US" sz="1250" dirty="0"/>
          </a:p>
          <a:p>
            <a:pPr indent="0" marL="0">
              <a:buNone/>
            </a:pPr>
            <a:r>
              <a:rPr lang="en-US" sz="1250" dirty="0">
                <a:solidFill>
                  <a:schemeClr val="tx1"/>
                </a:solidFill>
                <a:latin typeface="Courier New" pitchFamily="34" charset="0"/>
                <a:ea typeface="Courier New" pitchFamily="34" charset="-122"/>
                <a:cs typeface="Courier New" pitchFamily="34" charset="-120"/>
              </a:rPr>
              <a:t>    write O_i to HBM                </a:t>
            </a:r>
            <a:r>
              <a:rPr lang="en-US" sz="1250" dirty="0">
                <a:solidFill>
                  <a:schemeClr val="accent1"/>
                </a:solidFill>
                <a:latin typeface="Courier New" pitchFamily="34" charset="0"/>
                <a:ea typeface="Courier New" pitchFamily="34" charset="-122"/>
                <a:cs typeface="Courier New" pitchFamily="34" charset="-120"/>
              </a:rPr>
              <a:t># once</a:t>
            </a:r>
            <a:endParaRPr lang="en-US" sz="1250" dirty="0"/>
          </a:p>
        </p:txBody>
      </p:sp>
      <p:sp>
        <p:nvSpPr>
          <p:cNvPr id="10" name="Text 6"/>
          <p:cNvSpPr txBox="1"/>
          <p:nvPr/>
        </p:nvSpPr>
        <p:spPr>
          <a:xfrm>
            <a:off x="777240" y="4023360"/>
            <a:ext cx="6583680" cy="320040"/>
          </a:xfrm>
          <a:prstGeom prst="rect">
            <a:avLst/>
          </a:prstGeom>
          <a:noFill/>
          <a:ln/>
        </p:spPr>
        <p:txBody>
          <a:bodyPr wrap="square" lIns="0" tIns="0" rIns="0" bIns="0" rtlCol="0" anchor="t"/>
          <a:lstStyle/>
          <a:p>
            <a:pPr indent="0" marL="0">
              <a:buNone/>
            </a:pPr>
            <a:r>
              <a:rPr lang="en-US" sz="1400" b="1" dirty="0">
                <a:solidFill>
                  <a:schemeClr val="tx1"/>
                </a:solidFill>
              </a:rPr>
              <a:t>The FlashAttention loop</a:t>
            </a:r>
            <a:endParaRPr lang="en-US" sz="1400" dirty="0"/>
          </a:p>
        </p:txBody>
      </p:sp>
      <p:sp>
        <p:nvSpPr>
          <p:cNvPr id="11" name="Text 7"/>
          <p:cNvSpPr txBox="1"/>
          <p:nvPr/>
        </p:nvSpPr>
        <p:spPr>
          <a:xfrm>
            <a:off x="7863840" y="1280160"/>
            <a:ext cx="3749040" cy="365760"/>
          </a:xfrm>
          <a:prstGeom prst="rect">
            <a:avLst/>
          </a:prstGeom>
          <a:noFill/>
          <a:ln/>
        </p:spPr>
        <p:txBody>
          <a:bodyPr wrap="square" lIns="0" tIns="0" rIns="0" bIns="0" rtlCol="0" anchor="t"/>
          <a:lstStyle/>
          <a:p>
            <a:pPr indent="0" marL="0">
              <a:buNone/>
            </a:pPr>
            <a:r>
              <a:rPr lang="en-US" sz="1600" b="1" dirty="0">
                <a:solidFill>
                  <a:schemeClr val="tx1"/>
                </a:solidFill>
              </a:rPr>
              <a:t>Cell 8: 12 keys in blocks of 4</a:t>
            </a:r>
            <a:endParaRPr lang="en-US" sz="16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7863840" y="1737360"/>
          <a:ext cx="3749040" cy="914400"/>
        </p:xfrm>
        <a:graphic>
          <a:graphicData uri="http://schemas.openxmlformats.org/drawingml/2006/table">
            <a:tbl>
              <a:tblPr/>
              <a:tblGrid>
                <a:gridCol w="1005840"/>
                <a:gridCol w="1371600"/>
                <a:gridCol w="1371600"/>
              </a:tblGrid>
              <a:tr h="411480">
                <a:tc>
                  <a:txBody>
                    <a:bodyPr/>
                    <a:lstStyle/>
                    <a:p>
                      <a:pPr indent="0" marL="0">
                        <a:buNone/>
                      </a:pPr>
                      <a:r>
                        <a:rPr lang="en-US" sz="1400" b="1" dirty="0">
                          <a:solidFill>
                            <a:schemeClr val="bg1"/>
                          </a:solidFill>
                        </a:rPr>
                        <a:t>keys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running max</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running sum</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1148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0–3</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0.822</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1.488</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1148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4–7</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0.822</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3.189</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11480">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8–11</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2.221</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2.583</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13" name="Text 8"/>
          <p:cNvSpPr txBox="1"/>
          <p:nvPr/>
        </p:nvSpPr>
        <p:spPr>
          <a:xfrm>
            <a:off x="7863840" y="3474720"/>
            <a:ext cx="3749040" cy="548640"/>
          </a:xfrm>
          <a:prstGeom prst="rect">
            <a:avLst/>
          </a:prstGeom>
          <a:noFill/>
          <a:ln/>
        </p:spPr>
        <p:txBody>
          <a:bodyPr wrap="square" lIns="0" tIns="0" rIns="0" bIns="0" rtlCol="0" anchor="t"/>
          <a:lstStyle/>
          <a:p>
            <a:pPr indent="0" marL="0">
              <a:buNone/>
            </a:pPr>
            <a:r>
              <a:rPr lang="en-US" sz="1200" dirty="0">
                <a:solidFill>
                  <a:schemeClr val="tx2"/>
                </a:solidFill>
              </a:rPr>
              <a:t>Coral: a new maximum, so the earlier sum is rescaled before the new block is added.</a:t>
            </a:r>
            <a:endParaRPr lang="en-US" sz="1200" dirty="0"/>
          </a:p>
        </p:txBody>
      </p:sp>
      <p:sp>
        <p:nvSpPr>
          <p:cNvPr id="14" name="result"/>
          <p:cNvSpPr/>
          <p:nvPr/>
        </p:nvSpPr>
        <p:spPr>
          <a:xfrm>
            <a:off x="7863840" y="4160520"/>
            <a:ext cx="3749040" cy="2011680"/>
          </a:xfrm>
          <a:prstGeom prst="roundRect">
            <a:avLst>
              <a:gd name="adj" fmla="val 5455"/>
            </a:avLst>
          </a:prstGeom>
          <a:solidFill>
            <a:schemeClr val="bg2"/>
          </a:solidFill>
          <a:ln w="12700">
            <a:solidFill>
              <a:schemeClr val="bg2"/>
            </a:solidFill>
            <a:prstDash val="solid"/>
          </a:ln>
        </p:spPr>
      </p:sp>
      <p:sp>
        <p:nvSpPr>
          <p:cNvPr id="15" name="Text 10"/>
          <p:cNvSpPr txBox="1"/>
          <p:nvPr/>
        </p:nvSpPr>
        <p:spPr>
          <a:xfrm>
            <a:off x="8092440" y="4206240"/>
            <a:ext cx="3383280" cy="1920240"/>
          </a:xfrm>
          <a:prstGeom prst="rect">
            <a:avLst/>
          </a:prstGeom>
          <a:noFill/>
          <a:ln/>
        </p:spPr>
        <p:txBody>
          <a:bodyPr wrap="square" lIns="0" tIns="0" rIns="0" bIns="0" rtlCol="0" anchor="ctr"/>
          <a:lstStyle/>
          <a:p>
            <a:pPr indent="0" marL="0">
              <a:buNone/>
            </a:pPr>
            <a:r>
              <a:rPr lang="en-US" sz="1400" dirty="0">
                <a:solidFill>
                  <a:schemeClr val="tx2"/>
                </a:solidFill>
              </a:rPr>
              <a:t>blockwise </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-0.7424 -0.3443 0.4895 0.7883</a:t>
            </a:r>
            <a:endParaRPr lang="en-US" sz="1400" dirty="0"/>
          </a:p>
          <a:p>
            <a:pPr indent="0" marL="0">
              <a:buNone/>
            </a:pPr>
            <a:r>
              <a:rPr lang="en-US" sz="1400" dirty="0">
                <a:solidFill>
                  <a:schemeClr val="tx2"/>
                </a:solidFill>
              </a:rPr>
              <a:t>full softmax </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-0.7424 -0.3443 0.4895 0.7883</a:t>
            </a:r>
            <a:endParaRPr lang="en-US" sz="1400" dirty="0"/>
          </a:p>
          <a:p>
            <a:pPr indent="0" marL="0">
              <a:buNone/>
            </a:pPr>
            <a:r>
              <a:rPr lang="en-US" sz="1400" b="1" dirty="0">
                <a:solidFill>
                  <a:schemeClr val="accent1"/>
                </a:solidFill>
              </a:rPr>
              <a:t>Identical, </a:t>
            </a:r>
            <a:r>
              <a:rPr lang="en-US" sz="1400" dirty="0">
                <a:solidFill>
                  <a:schemeClr val="tx1"/>
                </a:solidFill>
              </a:rPr>
              <a:t>without ever holding all 12 scores.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three ideas combine</a:t>
            </a:r>
            <a:endParaRPr lang="en-US" sz="3200" dirty="0"/>
          </a:p>
        </p:txBody>
      </p:sp>
      <p:sp>
        <p:nvSpPr>
          <p:cNvPr id="4" name="MHA / GQA / MQA"/>
          <p:cNvSpPr/>
          <p:nvPr/>
        </p:nvSpPr>
        <p:spPr>
          <a:xfrm>
            <a:off x="548640" y="1325880"/>
            <a:ext cx="7315200" cy="1005840"/>
          </a:xfrm>
          <a:prstGeom prst="roundRect">
            <a:avLst>
              <a:gd name="adj" fmla="val 10909"/>
            </a:avLst>
          </a:prstGeom>
          <a:solidFill>
            <a:schemeClr val="bg2"/>
          </a:solidFill>
          <a:ln w="12700">
            <a:solidFill>
              <a:schemeClr val="bg2"/>
            </a:solidFill>
            <a:prstDash val="solid"/>
          </a:ln>
        </p:spPr>
      </p:sp>
      <p:sp>
        <p:nvSpPr>
          <p:cNvPr id="5" name="Shape 2"/>
          <p:cNvSpPr/>
          <p:nvPr/>
        </p:nvSpPr>
        <p:spPr>
          <a:xfrm>
            <a:off x="548640" y="1325880"/>
            <a:ext cx="137160" cy="1005840"/>
          </a:xfrm>
          <a:prstGeom prst="rect">
            <a:avLst/>
          </a:prstGeom>
          <a:solidFill>
            <a:schemeClr val="accent4"/>
          </a:solidFill>
          <a:ln w="12700">
            <a:solidFill>
              <a:schemeClr val="accent4"/>
            </a:solidFill>
            <a:prstDash val="solid"/>
          </a:ln>
        </p:spPr>
      </p:sp>
      <p:sp>
        <p:nvSpPr>
          <p:cNvPr id="6" name="Text 3"/>
          <p:cNvSpPr txBox="1"/>
          <p:nvPr/>
        </p:nvSpPr>
        <p:spPr>
          <a:xfrm>
            <a:off x="914400" y="1325880"/>
            <a:ext cx="2468880" cy="10058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MHA / GQA / MQA</a:t>
            </a:r>
            <a:endParaRPr lang="en-US" sz="2000" dirty="0"/>
          </a:p>
        </p:txBody>
      </p:sp>
      <p:sp>
        <p:nvSpPr>
          <p:cNvPr id="7" name="Text 4"/>
          <p:cNvSpPr txBox="1"/>
          <p:nvPr/>
        </p:nvSpPr>
        <p:spPr>
          <a:xfrm>
            <a:off x="3383280" y="1325880"/>
            <a:ext cx="2743200" cy="1005840"/>
          </a:xfrm>
          <a:prstGeom prst="rect">
            <a:avLst/>
          </a:prstGeom>
          <a:noFill/>
          <a:ln/>
        </p:spPr>
        <p:txBody>
          <a:bodyPr wrap="square" lIns="0" tIns="0" rIns="0" bIns="0" rtlCol="0" anchor="ctr"/>
          <a:lstStyle/>
          <a:p>
            <a:pPr indent="0" marL="0">
              <a:buNone/>
            </a:pPr>
            <a:r>
              <a:rPr lang="en-US" sz="1500" dirty="0">
                <a:solidFill>
                  <a:schemeClr val="tx1"/>
                </a:solidFill>
              </a:rPr>
              <a:t>Which Q, K, V heads exist?</a:t>
            </a:r>
            <a:endParaRPr lang="en-US" sz="1500" dirty="0"/>
          </a:p>
        </p:txBody>
      </p:sp>
      <p:sp>
        <p:nvSpPr>
          <p:cNvPr id="8" name="Text 5"/>
          <p:cNvSpPr txBox="1"/>
          <p:nvPr/>
        </p:nvSpPr>
        <p:spPr>
          <a:xfrm>
            <a:off x="6126480" y="1325880"/>
            <a:ext cx="1600200" cy="1005840"/>
          </a:xfrm>
          <a:prstGeom prst="rect">
            <a:avLst/>
          </a:prstGeom>
          <a:noFill/>
          <a:ln/>
        </p:spPr>
        <p:txBody>
          <a:bodyPr wrap="square" lIns="0" tIns="0" rIns="0" bIns="0" rtlCol="0" anchor="ctr"/>
          <a:lstStyle/>
          <a:p>
            <a:pPr algn="r" indent="0" marL="0">
              <a:buNone/>
            </a:pPr>
            <a:r>
              <a:rPr lang="en-US" sz="1400" i="1" dirty="0">
                <a:solidFill>
                  <a:schemeClr val="tx2"/>
                </a:solidFill>
              </a:rPr>
              <a:t>architecture</a:t>
            </a:r>
            <a:endParaRPr lang="en-US" sz="1400" dirty="0"/>
          </a:p>
        </p:txBody>
      </p:sp>
      <p:sp>
        <p:nvSpPr>
          <p:cNvPr id="9" name="KV cache"/>
          <p:cNvSpPr/>
          <p:nvPr/>
        </p:nvSpPr>
        <p:spPr>
          <a:xfrm>
            <a:off x="548640" y="2514600"/>
            <a:ext cx="7315200" cy="1005840"/>
          </a:xfrm>
          <a:prstGeom prst="roundRect">
            <a:avLst>
              <a:gd name="adj" fmla="val 10909"/>
            </a:avLst>
          </a:prstGeom>
          <a:solidFill>
            <a:schemeClr val="bg2"/>
          </a:solidFill>
          <a:ln w="12700">
            <a:solidFill>
              <a:schemeClr val="bg2"/>
            </a:solidFill>
            <a:prstDash val="solid"/>
          </a:ln>
        </p:spPr>
      </p:sp>
      <p:sp>
        <p:nvSpPr>
          <p:cNvPr id="10" name="Shape 7"/>
          <p:cNvSpPr/>
          <p:nvPr/>
        </p:nvSpPr>
        <p:spPr>
          <a:xfrm>
            <a:off x="548640" y="2514600"/>
            <a:ext cx="137160" cy="1005840"/>
          </a:xfrm>
          <a:prstGeom prst="rect">
            <a:avLst/>
          </a:prstGeom>
          <a:solidFill>
            <a:schemeClr val="accent1"/>
          </a:solidFill>
          <a:ln w="12700">
            <a:solidFill>
              <a:schemeClr val="accent1"/>
            </a:solidFill>
            <a:prstDash val="solid"/>
          </a:ln>
        </p:spPr>
      </p:sp>
      <p:sp>
        <p:nvSpPr>
          <p:cNvPr id="11" name="Text 8"/>
          <p:cNvSpPr txBox="1"/>
          <p:nvPr/>
        </p:nvSpPr>
        <p:spPr>
          <a:xfrm>
            <a:off x="914400" y="2514600"/>
            <a:ext cx="2468880" cy="10058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KV cache</a:t>
            </a:r>
            <a:endParaRPr lang="en-US" sz="2000" dirty="0"/>
          </a:p>
        </p:txBody>
      </p:sp>
      <p:sp>
        <p:nvSpPr>
          <p:cNvPr id="12" name="Text 9"/>
          <p:cNvSpPr txBox="1"/>
          <p:nvPr/>
        </p:nvSpPr>
        <p:spPr>
          <a:xfrm>
            <a:off x="3383280" y="2514600"/>
            <a:ext cx="2743200" cy="1005840"/>
          </a:xfrm>
          <a:prstGeom prst="rect">
            <a:avLst/>
          </a:prstGeom>
          <a:noFill/>
          <a:ln/>
        </p:spPr>
        <p:txBody>
          <a:bodyPr wrap="square" lIns="0" tIns="0" rIns="0" bIns="0" rtlCol="0" anchor="ctr"/>
          <a:lstStyle/>
          <a:p>
            <a:pPr indent="0" marL="0">
              <a:buNone/>
            </a:pPr>
            <a:r>
              <a:rPr lang="en-US" sz="1500" dirty="0">
                <a:solidFill>
                  <a:schemeClr val="tx1"/>
                </a:solidFill>
              </a:rPr>
              <a:t>Which old K, V tensors are reused?</a:t>
            </a:r>
            <a:endParaRPr lang="en-US" sz="1500" dirty="0"/>
          </a:p>
        </p:txBody>
      </p:sp>
      <p:sp>
        <p:nvSpPr>
          <p:cNvPr id="13" name="Text 10"/>
          <p:cNvSpPr txBox="1"/>
          <p:nvPr/>
        </p:nvSpPr>
        <p:spPr>
          <a:xfrm>
            <a:off x="6126480" y="2514600"/>
            <a:ext cx="1600200" cy="1005840"/>
          </a:xfrm>
          <a:prstGeom prst="rect">
            <a:avLst/>
          </a:prstGeom>
          <a:noFill/>
          <a:ln/>
        </p:spPr>
        <p:txBody>
          <a:bodyPr wrap="square" lIns="0" tIns="0" rIns="0" bIns="0" rtlCol="0" anchor="ctr"/>
          <a:lstStyle/>
          <a:p>
            <a:pPr algn="r" indent="0" marL="0">
              <a:buNone/>
            </a:pPr>
            <a:r>
              <a:rPr lang="en-US" sz="1400" i="1" dirty="0">
                <a:solidFill>
                  <a:schemeClr val="tx2"/>
                </a:solidFill>
              </a:rPr>
              <a:t>inference bookkeeping</a:t>
            </a:r>
            <a:endParaRPr lang="en-US" sz="1400" dirty="0"/>
          </a:p>
        </p:txBody>
      </p:sp>
      <p:sp>
        <p:nvSpPr>
          <p:cNvPr id="14" name="FlashAttention"/>
          <p:cNvSpPr/>
          <p:nvPr/>
        </p:nvSpPr>
        <p:spPr>
          <a:xfrm>
            <a:off x="548640" y="3703320"/>
            <a:ext cx="7315200" cy="1005840"/>
          </a:xfrm>
          <a:prstGeom prst="roundRect">
            <a:avLst>
              <a:gd name="adj" fmla="val 10909"/>
            </a:avLst>
          </a:prstGeom>
          <a:solidFill>
            <a:schemeClr val="bg2"/>
          </a:solidFill>
          <a:ln w="12700">
            <a:solidFill>
              <a:schemeClr val="bg2"/>
            </a:solidFill>
            <a:prstDash val="solid"/>
          </a:ln>
        </p:spPr>
      </p:sp>
      <p:sp>
        <p:nvSpPr>
          <p:cNvPr id="15" name="Shape 12"/>
          <p:cNvSpPr/>
          <p:nvPr/>
        </p:nvSpPr>
        <p:spPr>
          <a:xfrm>
            <a:off x="548640" y="3703320"/>
            <a:ext cx="137160" cy="1005840"/>
          </a:xfrm>
          <a:prstGeom prst="rect">
            <a:avLst/>
          </a:prstGeom>
          <a:solidFill>
            <a:schemeClr val="accent2"/>
          </a:solidFill>
          <a:ln w="12700">
            <a:solidFill>
              <a:schemeClr val="accent2"/>
            </a:solidFill>
            <a:prstDash val="solid"/>
          </a:ln>
        </p:spPr>
      </p:sp>
      <p:sp>
        <p:nvSpPr>
          <p:cNvPr id="16" name="Text 13"/>
          <p:cNvSpPr txBox="1"/>
          <p:nvPr/>
        </p:nvSpPr>
        <p:spPr>
          <a:xfrm>
            <a:off x="914400" y="3703320"/>
            <a:ext cx="2468880" cy="100584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FlashAttention</a:t>
            </a:r>
            <a:endParaRPr lang="en-US" sz="2000" dirty="0"/>
          </a:p>
        </p:txBody>
      </p:sp>
      <p:sp>
        <p:nvSpPr>
          <p:cNvPr id="17" name="Text 14"/>
          <p:cNvSpPr txBox="1"/>
          <p:nvPr/>
        </p:nvSpPr>
        <p:spPr>
          <a:xfrm>
            <a:off x="3383280" y="3703320"/>
            <a:ext cx="2743200" cy="1005840"/>
          </a:xfrm>
          <a:prstGeom prst="rect">
            <a:avLst/>
          </a:prstGeom>
          <a:noFill/>
          <a:ln/>
        </p:spPr>
        <p:txBody>
          <a:bodyPr wrap="square" lIns="0" tIns="0" rIns="0" bIns="0" rtlCol="0" anchor="ctr"/>
          <a:lstStyle/>
          <a:p>
            <a:pPr indent="0" marL="0">
              <a:buNone/>
            </a:pPr>
            <a:r>
              <a:rPr lang="en-US" sz="1500" dirty="0">
                <a:solidFill>
                  <a:schemeClr val="tx1"/>
                </a:solidFill>
              </a:rPr>
              <a:t>How is softmax(QKᵀ)V computed?</a:t>
            </a:r>
            <a:endParaRPr lang="en-US" sz="1500" dirty="0"/>
          </a:p>
        </p:txBody>
      </p:sp>
      <p:sp>
        <p:nvSpPr>
          <p:cNvPr id="18" name="Text 15"/>
          <p:cNvSpPr txBox="1"/>
          <p:nvPr/>
        </p:nvSpPr>
        <p:spPr>
          <a:xfrm>
            <a:off x="6126480" y="3703320"/>
            <a:ext cx="1600200" cy="1005840"/>
          </a:xfrm>
          <a:prstGeom prst="rect">
            <a:avLst/>
          </a:prstGeom>
          <a:noFill/>
          <a:ln/>
        </p:spPr>
        <p:txBody>
          <a:bodyPr wrap="square" lIns="0" tIns="0" rIns="0" bIns="0" rtlCol="0" anchor="ctr"/>
          <a:lstStyle/>
          <a:p>
            <a:pPr algn="r" indent="0" marL="0">
              <a:buNone/>
            </a:pPr>
            <a:r>
              <a:rPr lang="en-US" sz="1400" i="1" dirty="0">
                <a:solidFill>
                  <a:schemeClr val="tx2"/>
                </a:solidFill>
              </a:rPr>
              <a:t>kernel / algorithm</a:t>
            </a:r>
            <a:endParaRPr lang="en-US" sz="1400" dirty="0"/>
          </a:p>
        </p:txBody>
      </p:sp>
      <p:sp>
        <p:nvSpPr>
          <p:cNvPr id="19" name="typical llm"/>
          <p:cNvSpPr/>
          <p:nvPr/>
        </p:nvSpPr>
        <p:spPr>
          <a:xfrm>
            <a:off x="548640" y="4937760"/>
            <a:ext cx="7315200" cy="1234440"/>
          </a:xfrm>
          <a:prstGeom prst="roundRect">
            <a:avLst>
              <a:gd name="adj" fmla="val 8889"/>
            </a:avLst>
          </a:prstGeom>
          <a:solidFill>
            <a:schemeClr val="accent5"/>
          </a:solidFill>
          <a:ln w="12700">
            <a:solidFill>
              <a:schemeClr val="accent5"/>
            </a:solidFill>
            <a:prstDash val="solid"/>
          </a:ln>
        </p:spPr>
      </p:sp>
      <p:sp>
        <p:nvSpPr>
          <p:cNvPr id="20" name="Text 17"/>
          <p:cNvSpPr txBox="1"/>
          <p:nvPr/>
        </p:nvSpPr>
        <p:spPr>
          <a:xfrm>
            <a:off x="822960" y="4937760"/>
            <a:ext cx="6766560" cy="1234440"/>
          </a:xfrm>
          <a:prstGeom prst="rect">
            <a:avLst/>
          </a:prstGeom>
          <a:noFill/>
          <a:ln/>
        </p:spPr>
        <p:txBody>
          <a:bodyPr wrap="square" lIns="0" tIns="0" rIns="0" bIns="0" rtlCol="0" anchor="ctr"/>
          <a:lstStyle/>
          <a:p>
            <a:pPr indent="0" marL="0">
              <a:buNone/>
            </a:pPr>
            <a:r>
              <a:rPr lang="en-US" sz="1600" b="1" dirty="0">
                <a:solidFill>
                  <a:schemeClr val="tx1"/>
                </a:solidFill>
              </a:rPr>
              <a:t>A typical modern LLM uses all three: </a:t>
            </a:r>
            <a:r>
              <a:rPr lang="en-US" sz="1600" dirty="0">
                <a:solidFill>
                  <a:schemeClr val="tx1"/>
                </a:solidFill>
              </a:rPr>
              <a:t>GQA in its architecture, a KV cache during generation, and a FlashAttention-style kernel for computing attention.</a:t>
            </a:r>
            <a:endParaRPr lang="en-US" sz="1600" dirty="0"/>
          </a:p>
        </p:txBody>
      </p:sp>
      <p:sp>
        <p:nvSpPr>
          <p:cNvPr id="21" name="in pytorch"/>
          <p:cNvSpPr/>
          <p:nvPr/>
        </p:nvSpPr>
        <p:spPr>
          <a:xfrm>
            <a:off x="8229600" y="1325880"/>
            <a:ext cx="3383280" cy="4846320"/>
          </a:xfrm>
          <a:prstGeom prst="roundRect">
            <a:avLst>
              <a:gd name="adj" fmla="val 3243"/>
            </a:avLst>
          </a:prstGeom>
          <a:solidFill>
            <a:schemeClr val="tx1"/>
          </a:solidFill>
          <a:ln w="12700">
            <a:solidFill>
              <a:schemeClr val="tx1"/>
            </a:solidFill>
            <a:prstDash val="solid"/>
          </a:ln>
        </p:spPr>
      </p:sp>
      <p:sp>
        <p:nvSpPr>
          <p:cNvPr id="22" name="Text 19"/>
          <p:cNvSpPr txBox="1"/>
          <p:nvPr/>
        </p:nvSpPr>
        <p:spPr>
          <a:xfrm>
            <a:off x="8503920" y="1508760"/>
            <a:ext cx="2834640" cy="4480560"/>
          </a:xfrm>
          <a:prstGeom prst="rect">
            <a:avLst/>
          </a:prstGeom>
          <a:noFill/>
          <a:ln/>
        </p:spPr>
        <p:txBody>
          <a:bodyPr wrap="square" lIns="0" tIns="0" rIns="0" bIns="0" rtlCol="0" anchor="t"/>
          <a:lstStyle/>
          <a:p>
            <a:pPr indent="0" marL="0">
              <a:buNone/>
            </a:pPr>
            <a:r>
              <a:rPr lang="en-US" sz="1500" b="1" dirty="0">
                <a:solidFill>
                  <a:schemeClr val="accent2"/>
                </a:solidFill>
              </a:rPr>
              <a:t>In PyTorch</a:t>
            </a:r>
            <a:endParaRPr lang="en-US" sz="1500" dirty="0"/>
          </a:p>
          <a:p>
            <a:pPr indent="0" marL="0">
              <a:buNone/>
            </a:pPr>
            <a:r>
              <a:rPr lang="en-US" sz="1500" dirty="0">
                <a:solidFill>
                  <a:schemeClr val="bg1"/>
                </a:solidFill>
              </a:rPr>
              <a:t> </a:t>
            </a:r>
            <a:endParaRPr lang="en-US" sz="1500" dirty="0"/>
          </a:p>
          <a:p>
            <a:pPr indent="0" marL="0">
              <a:buNone/>
            </a:pPr>
            <a:r>
              <a:rPr lang="en-US" sz="1100" dirty="0">
                <a:solidFill>
                  <a:schemeClr val="bg1"/>
                </a:solidFill>
                <a:latin typeface="Courier New" pitchFamily="34" charset="0"/>
                <a:ea typeface="Courier New" pitchFamily="34" charset="-122"/>
                <a:cs typeface="Courier New" pitchFamily="34" charset="-120"/>
              </a:rPr>
              <a:t>F.scaled_dot_product_attention</a:t>
            </a:r>
            <a:endParaRPr lang="en-US" sz="1500" dirty="0"/>
          </a:p>
          <a:p>
            <a:pPr indent="0" marL="0">
              <a:buNone/>
            </a:pPr>
            <a:r>
              <a:rPr lang="en-US" sz="1500" dirty="0">
                <a:solidFill>
                  <a:schemeClr val="bg1"/>
                </a:solidFill>
              </a:rPr>
              <a:t>dispatches to fused, FlashAttention-style kernels where the hardware supports them.</a:t>
            </a:r>
            <a:endParaRPr lang="en-US" sz="1500" dirty="0"/>
          </a:p>
          <a:p>
            <a:pPr indent="0" marL="0">
              <a:buNone/>
            </a:pPr>
            <a:r>
              <a:rPr lang="en-US" sz="1500" dirty="0">
                <a:solidFill>
                  <a:schemeClr val="bg1"/>
                </a:solidFill>
              </a:rPr>
              <a:t> </a:t>
            </a:r>
            <a:endParaRPr lang="en-US" sz="1500" dirty="0"/>
          </a:p>
          <a:p>
            <a:pPr indent="0" marL="0">
              <a:buNone/>
            </a:pPr>
            <a:r>
              <a:rPr lang="en-US" sz="1500" dirty="0">
                <a:solidFill>
                  <a:schemeClr val="bg1"/>
                </a:solidFill>
              </a:rPr>
              <a:t>From PyTorch 2.5: </a:t>
            </a:r>
            <a:r>
              <a:rPr lang="en-US" sz="1300" dirty="0">
                <a:solidFill>
                  <a:schemeClr val="bg1"/>
                </a:solidFill>
                <a:latin typeface="Courier New" pitchFamily="34" charset="0"/>
                <a:ea typeface="Courier New" pitchFamily="34" charset="-122"/>
                <a:cs typeface="Courier New" pitchFamily="34" charset="-120"/>
              </a:rPr>
              <a:t>enable_gqa=True</a:t>
            </a:r>
            <a:r>
              <a:rPr lang="en-US" sz="1500" dirty="0">
                <a:solidFill>
                  <a:schemeClr val="bg1"/>
                </a:solidFill>
              </a:rPr>
              <a:t> shares K/V heads without the </a:t>
            </a:r>
            <a:r>
              <a:rPr lang="en-US" sz="1300" dirty="0">
                <a:solidFill>
                  <a:schemeClr val="bg1"/>
                </a:solidFill>
                <a:latin typeface="Courier New" pitchFamily="34" charset="0"/>
                <a:ea typeface="Courier New" pitchFamily="34" charset="-122"/>
                <a:cs typeface="Courier New" pitchFamily="34" charset="-120"/>
              </a:rPr>
              <a:t>repeat_interleave</a:t>
            </a:r>
            <a:r>
              <a:rPr lang="en-US" sz="1500" dirty="0">
                <a:solidFill>
                  <a:schemeClr val="bg1"/>
                </a:solidFill>
              </a:rPr>
              <a:t> copy.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Summary</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77440"/>
                <a:gridCol w="4206240"/>
                <a:gridCol w="4480560"/>
              </a:tblGrid>
              <a:tr h="685800">
                <a:tc>
                  <a:txBody>
                    <a:bodyPr/>
                    <a:lstStyle/>
                    <a:p>
                      <a:pPr indent="0" marL="0">
                        <a:buNone/>
                      </a:pPr>
                      <a:r>
                        <a:rPr lang="en-US" sz="1500" b="1" dirty="0">
                          <a:solidFill>
                            <a:schemeClr val="bg1"/>
                          </a:solidFill>
                        </a:rPr>
                        <a:t>Idea</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What it is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Why it matters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685800">
                <a:tc>
                  <a:txBody>
                    <a:bodyPr/>
                    <a:lstStyle/>
                    <a:p>
                      <a:pPr indent="0" marL="0">
                        <a:buNone/>
                      </a:pPr>
                      <a:r>
                        <a:rPr lang="en-US" sz="1500" b="1" dirty="0">
                          <a:solidFill>
                            <a:schemeClr val="tx1"/>
                          </a:solidFill>
                        </a:rPr>
                        <a:t>Training and prefill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all positions at once: Tq = Tk = 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bottleneck: arithmetic plus the (T, T) score matrix</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85800">
                <a:tc>
                  <a:txBody>
                    <a:bodyPr/>
                    <a:lstStyle/>
                    <a:p>
                      <a:pPr indent="0" marL="0">
                        <a:buNone/>
                      </a:pPr>
                      <a:r>
                        <a:rPr lang="en-US" sz="1500" b="1" dirty="0">
                          <a:solidFill>
                            <a:schemeClr val="tx1"/>
                          </a:solidFill>
                        </a:rPr>
                        <a:t>Decode</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one new token per step: Tq = 1</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bottleneck: reading the whole KV cache every step</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85800">
                <a:tc>
                  <a:txBody>
                    <a:bodyPr/>
                    <a:lstStyle/>
                    <a:p>
                      <a:pPr indent="0" marL="0">
                        <a:buNone/>
                      </a:pPr>
                      <a:r>
                        <a:rPr lang="en-US" sz="1500" b="1" dirty="0">
                          <a:solidFill>
                            <a:schemeClr val="tx1"/>
                          </a:solidFill>
                        </a:rPr>
                        <a:t>HBM vs. SRAM</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large, slow main GPU memory vs. tiny, fast on-chip memory</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moving data through HBM, not arithmetic, often limits 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85800">
                <a:tc>
                  <a:txBody>
                    <a:bodyPr/>
                    <a:lstStyle/>
                    <a:p>
                      <a:pPr indent="0" marL="0">
                        <a:buNone/>
                      </a:pPr>
                      <a:r>
                        <a:rPr lang="en-US" sz="1500" b="1" dirty="0">
                          <a:solidFill>
                            <a:schemeClr val="tx1"/>
                          </a:solidFill>
                        </a:rPr>
                        <a:t>Kernel fusion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several operations in one GPU kernel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intermediate results stay on-chip</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85800">
                <a:tc>
                  <a:txBody>
                    <a:bodyPr/>
                    <a:lstStyle/>
                    <a:p>
                      <a:pPr indent="0" marL="0">
                        <a:buNone/>
                      </a:pPr>
                      <a:r>
                        <a:rPr lang="en-US" sz="1500" b="1" dirty="0">
                          <a:solidFill>
                            <a:schemeClr val="tx1"/>
                          </a:solidFill>
                        </a:rPr>
                        <a:t>Online softmax</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exact softmax block by block with running m, l, acc</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makes fusion possible: the full row of scores never has to exist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85800">
                <a:tc>
                  <a:txBody>
                    <a:bodyPr/>
                    <a:lstStyle/>
                    <a:p>
                      <a:pPr indent="0" marL="0">
                        <a:buNone/>
                      </a:pPr>
                      <a:r>
                        <a:rPr lang="en-US" sz="1500" b="1" dirty="0">
                          <a:solidFill>
                            <a:schemeClr val="accent1"/>
                          </a:solidFill>
                        </a:rPr>
                        <a:t>FlashAttention</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one fused, tiled attention kernel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same result; extra memory grows as T, not T²; much less HBM traffic</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Common misconceptions</a:t>
            </a:r>
            <a:endParaRPr lang="en-US" sz="3200" dirty="0"/>
          </a:p>
        </p:txBody>
      </p:sp>
      <p:sp>
        <p:nvSpPr>
          <p:cNvPr id="4" name="myth 1"/>
          <p:cNvSpPr/>
          <p:nvPr/>
        </p:nvSpPr>
        <p:spPr>
          <a:xfrm>
            <a:off x="548640" y="1280160"/>
            <a:ext cx="5440680" cy="2286000"/>
          </a:xfrm>
          <a:prstGeom prst="roundRect">
            <a:avLst>
              <a:gd name="adj" fmla="val 4800"/>
            </a:avLst>
          </a:prstGeom>
          <a:solidFill>
            <a:schemeClr val="bg2"/>
          </a:solidFill>
          <a:ln w="12700">
            <a:solidFill>
              <a:schemeClr val="bg2"/>
            </a:solidFill>
            <a:prstDash val="solid"/>
          </a:ln>
        </p:spPr>
      </p:sp>
      <p:sp>
        <p:nvSpPr>
          <p:cNvPr id="5" name="Text 2"/>
          <p:cNvSpPr txBox="1"/>
          <p:nvPr/>
        </p:nvSpPr>
        <p:spPr>
          <a:xfrm>
            <a:off x="822960" y="1463040"/>
            <a:ext cx="4892040" cy="822960"/>
          </a:xfrm>
          <a:prstGeom prst="rect">
            <a:avLst/>
          </a:prstGeom>
          <a:noFill/>
          <a:ln/>
        </p:spPr>
        <p:txBody>
          <a:bodyPr wrap="square" lIns="0" tIns="0" rIns="0" bIns="0" rtlCol="0" anchor="ctr"/>
          <a:lstStyle/>
          <a:p>
            <a:pPr indent="0" marL="0">
              <a:buNone/>
            </a:pPr>
            <a:r>
              <a:rPr lang="en-US" sz="1700" b="1" dirty="0">
                <a:solidFill>
                  <a:schemeClr val="accent3"/>
                </a:solidFill>
              </a:rPr>
              <a:t>Myth  </a:t>
            </a:r>
            <a:r>
              <a:rPr lang="en-US" sz="1700" i="1" dirty="0">
                <a:solidFill>
                  <a:schemeClr val="tx1"/>
                </a:solidFill>
              </a:rPr>
              <a:t>“FlashAttention approximates attention.”</a:t>
            </a:r>
            <a:endParaRPr lang="en-US" sz="1700" dirty="0"/>
          </a:p>
        </p:txBody>
      </p:sp>
      <p:sp>
        <p:nvSpPr>
          <p:cNvPr id="6" name="Text 3"/>
          <p:cNvSpPr txBox="1"/>
          <p:nvPr/>
        </p:nvSpPr>
        <p:spPr>
          <a:xfrm>
            <a:off x="822960" y="2331720"/>
            <a:ext cx="4892040" cy="1097280"/>
          </a:xfrm>
          <a:prstGeom prst="rect">
            <a:avLst/>
          </a:prstGeom>
          <a:noFill/>
          <a:ln/>
        </p:spPr>
        <p:txBody>
          <a:bodyPr wrap="square" lIns="0" tIns="0" rIns="0" bIns="0" rtlCol="0" anchor="t"/>
          <a:lstStyle/>
          <a:p>
            <a:pPr indent="0" marL="0">
              <a:buNone/>
            </a:pPr>
            <a:r>
              <a:rPr lang="en-US" sz="1500" b="1" dirty="0">
                <a:solidFill>
                  <a:schemeClr val="accent1"/>
                </a:solidFill>
              </a:rPr>
              <a:t>Fact  </a:t>
            </a:r>
            <a:r>
              <a:rPr lang="en-US" sz="1500" dirty="0">
                <a:solidFill>
                  <a:schemeClr val="tx1"/>
                </a:solidFill>
              </a:rPr>
              <a:t>It computes exactly the same result, up to floating-point rounding.</a:t>
            </a:r>
            <a:endParaRPr lang="en-US" sz="1500" dirty="0"/>
          </a:p>
        </p:txBody>
      </p:sp>
      <p:sp>
        <p:nvSpPr>
          <p:cNvPr id="7" name="myth 2"/>
          <p:cNvSpPr/>
          <p:nvPr/>
        </p:nvSpPr>
        <p:spPr>
          <a:xfrm>
            <a:off x="6172200" y="1280160"/>
            <a:ext cx="5440680" cy="2286000"/>
          </a:xfrm>
          <a:prstGeom prst="roundRect">
            <a:avLst>
              <a:gd name="adj" fmla="val 4800"/>
            </a:avLst>
          </a:prstGeom>
          <a:solidFill>
            <a:schemeClr val="bg2"/>
          </a:solidFill>
          <a:ln w="12700">
            <a:solidFill>
              <a:schemeClr val="bg2"/>
            </a:solidFill>
            <a:prstDash val="solid"/>
          </a:ln>
        </p:spPr>
      </p:sp>
      <p:sp>
        <p:nvSpPr>
          <p:cNvPr id="8" name="Text 5"/>
          <p:cNvSpPr txBox="1"/>
          <p:nvPr/>
        </p:nvSpPr>
        <p:spPr>
          <a:xfrm>
            <a:off x="6446520" y="1463040"/>
            <a:ext cx="4892040" cy="822960"/>
          </a:xfrm>
          <a:prstGeom prst="rect">
            <a:avLst/>
          </a:prstGeom>
          <a:noFill/>
          <a:ln/>
        </p:spPr>
        <p:txBody>
          <a:bodyPr wrap="square" lIns="0" tIns="0" rIns="0" bIns="0" rtlCol="0" anchor="ctr"/>
          <a:lstStyle/>
          <a:p>
            <a:pPr indent="0" marL="0">
              <a:buNone/>
            </a:pPr>
            <a:r>
              <a:rPr lang="en-US" sz="1700" b="1" dirty="0">
                <a:solidFill>
                  <a:schemeClr val="accent3"/>
                </a:solidFill>
              </a:rPr>
              <a:t>Myth  </a:t>
            </a:r>
            <a:r>
              <a:rPr lang="en-US" sz="1700" i="1" dirty="0">
                <a:solidFill>
                  <a:schemeClr val="tx1"/>
                </a:solidFill>
              </a:rPr>
              <a:t>“FlashAttention makes attention linear in T.”</a:t>
            </a:r>
            <a:endParaRPr lang="en-US" sz="1700" dirty="0"/>
          </a:p>
        </p:txBody>
      </p:sp>
      <p:sp>
        <p:nvSpPr>
          <p:cNvPr id="9" name="Text 6"/>
          <p:cNvSpPr txBox="1"/>
          <p:nvPr/>
        </p:nvSpPr>
        <p:spPr>
          <a:xfrm>
            <a:off x="6446520" y="2331720"/>
            <a:ext cx="4892040" cy="1097280"/>
          </a:xfrm>
          <a:prstGeom prst="rect">
            <a:avLst/>
          </a:prstGeom>
          <a:noFill/>
          <a:ln/>
        </p:spPr>
        <p:txBody>
          <a:bodyPr wrap="square" lIns="0" tIns="0" rIns="0" bIns="0" rtlCol="0" anchor="t"/>
          <a:lstStyle/>
          <a:p>
            <a:pPr indent="0" marL="0">
              <a:buNone/>
            </a:pPr>
            <a:r>
              <a:rPr lang="en-US" sz="1500" b="1" dirty="0">
                <a:solidFill>
                  <a:schemeClr val="accent1"/>
                </a:solidFill>
              </a:rPr>
              <a:t>Fact  </a:t>
            </a:r>
            <a:r>
              <a:rPr lang="en-US" sz="1500" dirty="0">
                <a:solidFill>
                  <a:schemeClr val="tx1"/>
                </a:solidFill>
              </a:rPr>
              <a:t>The arithmetic still grows as T². The extra memory grows as T, because the (T, T) matrix is never stored.</a:t>
            </a:r>
            <a:endParaRPr lang="en-US" sz="1500" dirty="0"/>
          </a:p>
        </p:txBody>
      </p:sp>
      <p:sp>
        <p:nvSpPr>
          <p:cNvPr id="10" name="myth 3"/>
          <p:cNvSpPr/>
          <p:nvPr/>
        </p:nvSpPr>
        <p:spPr>
          <a:xfrm>
            <a:off x="548640" y="3749040"/>
            <a:ext cx="5440680" cy="2286000"/>
          </a:xfrm>
          <a:prstGeom prst="roundRect">
            <a:avLst>
              <a:gd name="adj" fmla="val 4800"/>
            </a:avLst>
          </a:prstGeom>
          <a:solidFill>
            <a:schemeClr val="bg2"/>
          </a:solidFill>
          <a:ln w="12700">
            <a:solidFill>
              <a:schemeClr val="bg2"/>
            </a:solidFill>
            <a:prstDash val="solid"/>
          </a:ln>
        </p:spPr>
      </p:sp>
      <p:sp>
        <p:nvSpPr>
          <p:cNvPr id="11" name="Text 8"/>
          <p:cNvSpPr txBox="1"/>
          <p:nvPr/>
        </p:nvSpPr>
        <p:spPr>
          <a:xfrm>
            <a:off x="822960" y="3931920"/>
            <a:ext cx="4892040" cy="822960"/>
          </a:xfrm>
          <a:prstGeom prst="rect">
            <a:avLst/>
          </a:prstGeom>
          <a:noFill/>
          <a:ln/>
        </p:spPr>
        <p:txBody>
          <a:bodyPr wrap="square" lIns="0" tIns="0" rIns="0" bIns="0" rtlCol="0" anchor="ctr"/>
          <a:lstStyle/>
          <a:p>
            <a:pPr indent="0" marL="0">
              <a:buNone/>
            </a:pPr>
            <a:r>
              <a:rPr lang="en-US" sz="1700" b="1" dirty="0">
                <a:solidFill>
                  <a:schemeClr val="accent3"/>
                </a:solidFill>
              </a:rPr>
              <a:t>Myth  </a:t>
            </a:r>
            <a:r>
              <a:rPr lang="en-US" sz="1700" i="1" dirty="0">
                <a:solidFill>
                  <a:schemeClr val="tx1"/>
                </a:solidFill>
              </a:rPr>
              <a:t>“FlashAttention speeds up decoding the most.”</a:t>
            </a:r>
            <a:endParaRPr lang="en-US" sz="1700" dirty="0"/>
          </a:p>
        </p:txBody>
      </p:sp>
      <p:sp>
        <p:nvSpPr>
          <p:cNvPr id="12" name="Text 9"/>
          <p:cNvSpPr txBox="1"/>
          <p:nvPr/>
        </p:nvSpPr>
        <p:spPr>
          <a:xfrm>
            <a:off x="822960" y="4800600"/>
            <a:ext cx="4892040" cy="1097280"/>
          </a:xfrm>
          <a:prstGeom prst="rect">
            <a:avLst/>
          </a:prstGeom>
          <a:noFill/>
          <a:ln/>
        </p:spPr>
        <p:txBody>
          <a:bodyPr wrap="square" lIns="0" tIns="0" rIns="0" bIns="0" rtlCol="0" anchor="t"/>
          <a:lstStyle/>
          <a:p>
            <a:pPr indent="0" marL="0">
              <a:buNone/>
            </a:pPr>
            <a:r>
              <a:rPr lang="en-US" sz="1500" b="1" dirty="0">
                <a:solidFill>
                  <a:schemeClr val="accent1"/>
                </a:solidFill>
              </a:rPr>
              <a:t>Fact  </a:t>
            </a:r>
            <a:r>
              <a:rPr lang="en-US" sz="1500" dirty="0">
                <a:solidFill>
                  <a:schemeClr val="tx1"/>
                </a:solidFill>
              </a:rPr>
              <a:t>In decoding Tq = 1 and the cost is reading the KV cache. It helps most in training and prefill.</a:t>
            </a:r>
            <a:endParaRPr lang="en-US" sz="1500" dirty="0"/>
          </a:p>
        </p:txBody>
      </p:sp>
      <p:sp>
        <p:nvSpPr>
          <p:cNvPr id="13" name="myth 4"/>
          <p:cNvSpPr/>
          <p:nvPr/>
        </p:nvSpPr>
        <p:spPr>
          <a:xfrm>
            <a:off x="6172200" y="3749040"/>
            <a:ext cx="5440680" cy="2286000"/>
          </a:xfrm>
          <a:prstGeom prst="roundRect">
            <a:avLst>
              <a:gd name="adj" fmla="val 4800"/>
            </a:avLst>
          </a:prstGeom>
          <a:solidFill>
            <a:schemeClr val="bg2"/>
          </a:solidFill>
          <a:ln w="12700">
            <a:solidFill>
              <a:schemeClr val="bg2"/>
            </a:solidFill>
            <a:prstDash val="solid"/>
          </a:ln>
        </p:spPr>
      </p:sp>
      <p:sp>
        <p:nvSpPr>
          <p:cNvPr id="14" name="Text 11"/>
          <p:cNvSpPr txBox="1"/>
          <p:nvPr/>
        </p:nvSpPr>
        <p:spPr>
          <a:xfrm>
            <a:off x="6446520" y="3931920"/>
            <a:ext cx="4892040" cy="822960"/>
          </a:xfrm>
          <a:prstGeom prst="rect">
            <a:avLst/>
          </a:prstGeom>
          <a:noFill/>
          <a:ln/>
        </p:spPr>
        <p:txBody>
          <a:bodyPr wrap="square" lIns="0" tIns="0" rIns="0" bIns="0" rtlCol="0" anchor="ctr"/>
          <a:lstStyle/>
          <a:p>
            <a:pPr indent="0" marL="0">
              <a:buNone/>
            </a:pPr>
            <a:r>
              <a:rPr lang="en-US" sz="1700" b="1" dirty="0">
                <a:solidFill>
                  <a:schemeClr val="accent3"/>
                </a:solidFill>
              </a:rPr>
              <a:t>Myth  </a:t>
            </a:r>
            <a:r>
              <a:rPr lang="en-US" sz="1700" i="1" dirty="0">
                <a:solidFill>
                  <a:schemeClr val="tx1"/>
                </a:solidFill>
              </a:rPr>
              <a:t>“It writes the running output to memory after every block.”</a:t>
            </a:r>
            <a:endParaRPr lang="en-US" sz="1700" dirty="0"/>
          </a:p>
        </p:txBody>
      </p:sp>
      <p:sp>
        <p:nvSpPr>
          <p:cNvPr id="15" name="Text 12"/>
          <p:cNvSpPr txBox="1"/>
          <p:nvPr/>
        </p:nvSpPr>
        <p:spPr>
          <a:xfrm>
            <a:off x="6446520" y="4800600"/>
            <a:ext cx="4892040" cy="1097280"/>
          </a:xfrm>
          <a:prstGeom prst="rect">
            <a:avLst/>
          </a:prstGeom>
          <a:noFill/>
          <a:ln/>
        </p:spPr>
        <p:txBody>
          <a:bodyPr wrap="square" lIns="0" tIns="0" rIns="0" bIns="0" rtlCol="0" anchor="t"/>
          <a:lstStyle/>
          <a:p>
            <a:pPr indent="0" marL="0">
              <a:buNone/>
            </a:pPr>
            <a:r>
              <a:rPr lang="en-US" sz="1500" b="1" dirty="0">
                <a:solidFill>
                  <a:schemeClr val="accent1"/>
                </a:solidFill>
              </a:rPr>
              <a:t>Fact  </a:t>
            </a:r>
            <a:r>
              <a:rPr lang="en-US" sz="1500" dirty="0">
                <a:solidFill>
                  <a:schemeClr val="tx1"/>
                </a:solidFill>
              </a:rPr>
              <a:t>m, l and acc stay on-chip; each query block's O_i = acc / l is written once, at the end.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understanding</a:t>
            </a:r>
            <a:endParaRPr lang="en-US" sz="3200" dirty="0"/>
          </a:p>
        </p:txBody>
      </p:sp>
      <p:sp>
        <p:nvSpPr>
          <p:cNvPr id="4" name="question 1"/>
          <p:cNvSpPr/>
          <p:nvPr/>
        </p:nvSpPr>
        <p:spPr>
          <a:xfrm>
            <a:off x="548640" y="1280160"/>
            <a:ext cx="5440680" cy="1463040"/>
          </a:xfrm>
          <a:prstGeom prst="roundRect">
            <a:avLst>
              <a:gd name="adj" fmla="val 7500"/>
            </a:avLst>
          </a:prstGeom>
          <a:solidFill>
            <a:schemeClr val="bg2"/>
          </a:solidFill>
          <a:ln w="12700">
            <a:solidFill>
              <a:schemeClr val="bg2"/>
            </a:solidFill>
            <a:prstDash val="solid"/>
          </a:ln>
        </p:spPr>
      </p:sp>
      <p:sp>
        <p:nvSpPr>
          <p:cNvPr id="5" name="Shape 2"/>
          <p:cNvSpPr/>
          <p:nvPr/>
        </p:nvSpPr>
        <p:spPr>
          <a:xfrm>
            <a:off x="777240" y="15087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417320" y="1463040"/>
            <a:ext cx="4389120" cy="1143000"/>
          </a:xfrm>
          <a:prstGeom prst="rect">
            <a:avLst/>
          </a:prstGeom>
          <a:noFill/>
          <a:ln/>
        </p:spPr>
        <p:txBody>
          <a:bodyPr wrap="square" lIns="0" tIns="0" rIns="0" bIns="0" rtlCol="0" anchor="ctr"/>
          <a:lstStyle/>
          <a:p>
            <a:pPr indent="0" marL="0">
              <a:buNone/>
            </a:pPr>
            <a:r>
              <a:rPr lang="en-US" sz="1500" dirty="0">
                <a:solidFill>
                  <a:schemeClr val="tx1"/>
                </a:solidFill>
              </a:rPr>
              <a:t>Why is prompt prefill a training-style forward pass, and what does it skip?</a:t>
            </a:r>
            <a:endParaRPr lang="en-US" sz="1500" dirty="0"/>
          </a:p>
        </p:txBody>
      </p:sp>
      <p:sp>
        <p:nvSpPr>
          <p:cNvPr id="8" name="question 2"/>
          <p:cNvSpPr/>
          <p:nvPr/>
        </p:nvSpPr>
        <p:spPr>
          <a:xfrm>
            <a:off x="6172200" y="1280160"/>
            <a:ext cx="5440680" cy="1463040"/>
          </a:xfrm>
          <a:prstGeom prst="roundRect">
            <a:avLst>
              <a:gd name="adj" fmla="val 7500"/>
            </a:avLst>
          </a:prstGeom>
          <a:solidFill>
            <a:schemeClr val="bg2"/>
          </a:solidFill>
          <a:ln w="12700">
            <a:solidFill>
              <a:schemeClr val="bg2"/>
            </a:solidFill>
            <a:prstDash val="solid"/>
          </a:ln>
        </p:spPr>
      </p:sp>
      <p:sp>
        <p:nvSpPr>
          <p:cNvPr id="9" name="Shape 6"/>
          <p:cNvSpPr/>
          <p:nvPr/>
        </p:nvSpPr>
        <p:spPr>
          <a:xfrm>
            <a:off x="6400800" y="1508760"/>
            <a:ext cx="457200" cy="457200"/>
          </a:xfrm>
          <a:prstGeom prst="ellipse">
            <a:avLst/>
          </a:prstGeom>
          <a:solidFill>
            <a:schemeClr val="accent4"/>
          </a:solidFill>
          <a:ln w="12700">
            <a:solidFill>
              <a:schemeClr val="accent4"/>
            </a:solidFill>
            <a:prstDash val="solid"/>
          </a:ln>
        </p:spPr>
      </p:sp>
      <p:sp>
        <p:nvSpPr>
          <p:cNvPr id="10" name="Text 7"/>
          <p:cNvSpPr txBox="1"/>
          <p:nvPr/>
        </p:nvSpPr>
        <p:spPr>
          <a:xfrm>
            <a:off x="640080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7040880" y="1463040"/>
            <a:ext cx="4389120" cy="1143000"/>
          </a:xfrm>
          <a:prstGeom prst="rect">
            <a:avLst/>
          </a:prstGeom>
          <a:noFill/>
          <a:ln/>
        </p:spPr>
        <p:txBody>
          <a:bodyPr wrap="square" lIns="0" tIns="0" rIns="0" bIns="0" rtlCol="0" anchor="ctr"/>
          <a:lstStyle/>
          <a:p>
            <a:pPr indent="0" marL="0">
              <a:buNone/>
            </a:pPr>
            <a:r>
              <a:rPr lang="en-US" sz="1500" dirty="0">
                <a:solidFill>
                  <a:schemeClr val="tx1"/>
                </a:solidFill>
              </a:rPr>
              <a:t>FlashAttention helps most in which phase, training/prefill or decoding? Why?</a:t>
            </a:r>
            <a:endParaRPr lang="en-US" sz="1500" dirty="0"/>
          </a:p>
        </p:txBody>
      </p:sp>
      <p:sp>
        <p:nvSpPr>
          <p:cNvPr id="12" name="question 3"/>
          <p:cNvSpPr/>
          <p:nvPr/>
        </p:nvSpPr>
        <p:spPr>
          <a:xfrm>
            <a:off x="548640" y="2926080"/>
            <a:ext cx="5440680" cy="1463040"/>
          </a:xfrm>
          <a:prstGeom prst="roundRect">
            <a:avLst>
              <a:gd name="adj" fmla="val 7500"/>
            </a:avLst>
          </a:prstGeom>
          <a:solidFill>
            <a:schemeClr val="bg2"/>
          </a:solidFill>
          <a:ln w="12700">
            <a:solidFill>
              <a:schemeClr val="bg2"/>
            </a:solidFill>
            <a:prstDash val="solid"/>
          </a:ln>
        </p:spPr>
      </p:sp>
      <p:sp>
        <p:nvSpPr>
          <p:cNvPr id="13" name="Shape 10"/>
          <p:cNvSpPr/>
          <p:nvPr/>
        </p:nvSpPr>
        <p:spPr>
          <a:xfrm>
            <a:off x="777240" y="315468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77724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417320" y="3108960"/>
            <a:ext cx="4389120" cy="1143000"/>
          </a:xfrm>
          <a:prstGeom prst="rect">
            <a:avLst/>
          </a:prstGeom>
          <a:noFill/>
          <a:ln/>
        </p:spPr>
        <p:txBody>
          <a:bodyPr wrap="square" lIns="0" tIns="0" rIns="0" bIns="0" rtlCol="0" anchor="ctr"/>
          <a:lstStyle/>
          <a:p>
            <a:pPr indent="0" marL="0">
              <a:buNone/>
            </a:pPr>
            <a:r>
              <a:rPr lang="en-US" sz="1500" dirty="0">
                <a:solidFill>
                  <a:schemeClr val="tx1"/>
                </a:solidFill>
              </a:rPr>
              <a:t>In plain five-kernel attention, why does every kernel boundary cost a trip through HBM?</a:t>
            </a:r>
            <a:endParaRPr lang="en-US" sz="1500" dirty="0"/>
          </a:p>
        </p:txBody>
      </p:sp>
      <p:sp>
        <p:nvSpPr>
          <p:cNvPr id="16" name="question 4"/>
          <p:cNvSpPr/>
          <p:nvPr/>
        </p:nvSpPr>
        <p:spPr>
          <a:xfrm>
            <a:off x="6172200" y="2926080"/>
            <a:ext cx="5440680" cy="1463040"/>
          </a:xfrm>
          <a:prstGeom prst="roundRect">
            <a:avLst>
              <a:gd name="adj" fmla="val 7500"/>
            </a:avLst>
          </a:prstGeom>
          <a:solidFill>
            <a:schemeClr val="bg2"/>
          </a:solidFill>
          <a:ln w="12700">
            <a:solidFill>
              <a:schemeClr val="bg2"/>
            </a:solidFill>
            <a:prstDash val="solid"/>
          </a:ln>
        </p:spPr>
      </p:sp>
      <p:sp>
        <p:nvSpPr>
          <p:cNvPr id="17" name="Shape 14"/>
          <p:cNvSpPr/>
          <p:nvPr/>
        </p:nvSpPr>
        <p:spPr>
          <a:xfrm>
            <a:off x="6400800" y="3154680"/>
            <a:ext cx="457200" cy="457200"/>
          </a:xfrm>
          <a:prstGeom prst="ellipse">
            <a:avLst/>
          </a:prstGeom>
          <a:solidFill>
            <a:schemeClr val="accent4"/>
          </a:solidFill>
          <a:ln w="12700">
            <a:solidFill>
              <a:schemeClr val="accent4"/>
            </a:solidFill>
            <a:prstDash val="solid"/>
          </a:ln>
        </p:spPr>
      </p:sp>
      <p:sp>
        <p:nvSpPr>
          <p:cNvPr id="18" name="Text 15"/>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7040880" y="3108960"/>
            <a:ext cx="4389120" cy="1143000"/>
          </a:xfrm>
          <a:prstGeom prst="rect">
            <a:avLst/>
          </a:prstGeom>
          <a:noFill/>
          <a:ln/>
        </p:spPr>
        <p:txBody>
          <a:bodyPr wrap="square" lIns="0" tIns="0" rIns="0" bIns="0" rtlCol="0" anchor="ctr"/>
          <a:lstStyle/>
          <a:p>
            <a:pPr indent="0" marL="0">
              <a:buNone/>
            </a:pPr>
            <a:r>
              <a:rPr lang="en-US" sz="1500" dirty="0">
                <a:solidFill>
                  <a:schemeClr val="tx1"/>
                </a:solidFill>
              </a:rPr>
              <a:t>Why does an ordinary softmax prevent fusing attention into one kernel?</a:t>
            </a:r>
            <a:endParaRPr lang="en-US" sz="1500" dirty="0"/>
          </a:p>
        </p:txBody>
      </p:sp>
      <p:sp>
        <p:nvSpPr>
          <p:cNvPr id="20" name="question 5"/>
          <p:cNvSpPr/>
          <p:nvPr/>
        </p:nvSpPr>
        <p:spPr>
          <a:xfrm>
            <a:off x="548640" y="4572000"/>
            <a:ext cx="5440680" cy="1463040"/>
          </a:xfrm>
          <a:prstGeom prst="roundRect">
            <a:avLst>
              <a:gd name="adj" fmla="val 7500"/>
            </a:avLst>
          </a:prstGeom>
          <a:solidFill>
            <a:schemeClr val="bg2"/>
          </a:solidFill>
          <a:ln w="12700">
            <a:solidFill>
              <a:schemeClr val="bg2"/>
            </a:solidFill>
            <a:prstDash val="solid"/>
          </a:ln>
        </p:spPr>
      </p:sp>
      <p:sp>
        <p:nvSpPr>
          <p:cNvPr id="21" name="Shape 18"/>
          <p:cNvSpPr/>
          <p:nvPr/>
        </p:nvSpPr>
        <p:spPr>
          <a:xfrm>
            <a:off x="777240" y="480060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77724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1417320" y="4754880"/>
            <a:ext cx="4389120" cy="1143000"/>
          </a:xfrm>
          <a:prstGeom prst="rect">
            <a:avLst/>
          </a:prstGeom>
          <a:noFill/>
          <a:ln/>
        </p:spPr>
        <p:txBody>
          <a:bodyPr wrap="square" lIns="0" tIns="0" rIns="0" bIns="0" rtlCol="0" anchor="ctr"/>
          <a:lstStyle/>
          <a:p>
            <a:pPr indent="0" marL="0">
              <a:buNone/>
            </a:pPr>
            <a:r>
              <a:rPr lang="en-US" sz="1500" dirty="0">
                <a:solidFill>
                  <a:schemeClr val="tx1"/>
                </a:solidFill>
              </a:rPr>
              <a:t>If T doubles, roughly how do FlashAttention's arithmetic and extra memory change?</a:t>
            </a:r>
            <a:endParaRPr lang="en-US" sz="1500" dirty="0"/>
          </a:p>
        </p:txBody>
      </p:sp>
      <p:sp>
        <p:nvSpPr>
          <p:cNvPr id="24" name="question 6"/>
          <p:cNvSpPr/>
          <p:nvPr/>
        </p:nvSpPr>
        <p:spPr>
          <a:xfrm>
            <a:off x="6172200" y="4572000"/>
            <a:ext cx="5440680" cy="1463040"/>
          </a:xfrm>
          <a:prstGeom prst="roundRect">
            <a:avLst>
              <a:gd name="adj" fmla="val 7500"/>
            </a:avLst>
          </a:prstGeom>
          <a:solidFill>
            <a:schemeClr val="bg2"/>
          </a:solidFill>
          <a:ln w="12700">
            <a:solidFill>
              <a:schemeClr val="bg2"/>
            </a:solidFill>
            <a:prstDash val="solid"/>
          </a:ln>
        </p:spPr>
      </p:sp>
      <p:sp>
        <p:nvSpPr>
          <p:cNvPr id="25" name="Shape 22"/>
          <p:cNvSpPr/>
          <p:nvPr/>
        </p:nvSpPr>
        <p:spPr>
          <a:xfrm>
            <a:off x="6400800" y="4800600"/>
            <a:ext cx="457200" cy="457200"/>
          </a:xfrm>
          <a:prstGeom prst="ellipse">
            <a:avLst/>
          </a:prstGeom>
          <a:solidFill>
            <a:schemeClr val="accent4"/>
          </a:solidFill>
          <a:ln w="12700">
            <a:solidFill>
              <a:schemeClr val="accent4"/>
            </a:solidFill>
            <a:prstDash val="solid"/>
          </a:ln>
        </p:spPr>
      </p:sp>
      <p:sp>
        <p:nvSpPr>
          <p:cNvPr id="26" name="Text 23"/>
          <p:cNvSpPr txBox="1"/>
          <p:nvPr/>
        </p:nvSpPr>
        <p:spPr>
          <a:xfrm>
            <a:off x="640080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4"/>
          <p:cNvSpPr txBox="1"/>
          <p:nvPr/>
        </p:nvSpPr>
        <p:spPr>
          <a:xfrm>
            <a:off x="7040880" y="4754880"/>
            <a:ext cx="4389120" cy="1143000"/>
          </a:xfrm>
          <a:prstGeom prst="rect">
            <a:avLst/>
          </a:prstGeom>
          <a:noFill/>
          <a:ln/>
        </p:spPr>
        <p:txBody>
          <a:bodyPr wrap="square" lIns="0" tIns="0" rIns="0" bIns="0" rtlCol="0" anchor="ctr"/>
          <a:lstStyle/>
          <a:p>
            <a:pPr indent="0" marL="0">
              <a:buNone/>
            </a:pPr>
            <a:r>
              <a:rPr lang="en-US" sz="1500" dirty="0">
                <a:solidFill>
                  <a:schemeClr val="tx1"/>
                </a:solidFill>
              </a:rPr>
              <a:t>In the FlashAttention loop, what stays on-chip and what is written to HBM?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Practice and further reading</a:t>
            </a:r>
            <a:endParaRPr lang="en-US" sz="3200" dirty="0"/>
          </a:p>
        </p:txBody>
      </p:sp>
      <p:sp>
        <p:nvSpPr>
          <p:cNvPr id="4" name="practice"/>
          <p:cNvSpPr/>
          <p:nvPr/>
        </p:nvSpPr>
        <p:spPr>
          <a:xfrm>
            <a:off x="548640" y="1280160"/>
            <a:ext cx="5120640" cy="4846320"/>
          </a:xfrm>
          <a:prstGeom prst="roundRect">
            <a:avLst>
              <a:gd name="adj" fmla="val 2264"/>
            </a:avLst>
          </a:prstGeom>
          <a:solidFill>
            <a:schemeClr val="bg2"/>
          </a:solidFill>
          <a:ln w="12700">
            <a:solidFill>
              <a:schemeClr val="bg2"/>
            </a:solidFill>
            <a:prstDash val="solid"/>
          </a:ln>
        </p:spPr>
      </p:sp>
      <p:sp>
        <p:nvSpPr>
          <p:cNvPr id="5" name="Text 2"/>
          <p:cNvSpPr txBox="1"/>
          <p:nvPr/>
        </p:nvSpPr>
        <p:spPr>
          <a:xfrm>
            <a:off x="822960" y="1463040"/>
            <a:ext cx="457200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Practice</a:t>
            </a:r>
            <a:endParaRPr lang="en-US" sz="2200" dirty="0"/>
          </a:p>
        </p:txBody>
      </p:sp>
      <p:sp>
        <p:nvSpPr>
          <p:cNvPr id="6" name="Text 3"/>
          <p:cNvSpPr txBox="1"/>
          <p:nvPr/>
        </p:nvSpPr>
        <p:spPr>
          <a:xfrm>
            <a:off x="822960" y="2011680"/>
            <a:ext cx="4572000" cy="548640"/>
          </a:xfrm>
          <a:prstGeom prst="rect">
            <a:avLst/>
          </a:prstGeom>
          <a:noFill/>
          <a:ln/>
        </p:spPr>
        <p:txBody>
          <a:bodyPr wrap="square" lIns="0" tIns="0" rIns="0" bIns="0" rtlCol="0" anchor="t"/>
          <a:lstStyle/>
          <a:p>
            <a:pPr indent="0" marL="0">
              <a:buNone/>
            </a:pPr>
            <a:r>
              <a:rPr lang="en-US" sz="1500" b="1" dirty="0">
                <a:solidFill>
                  <a:schemeClr val="tx1"/>
                </a:solidFill>
              </a:rPr>
              <a:t>Notebook: </a:t>
            </a:r>
            <a:r>
              <a:rPr lang="en-US" sz="1200" dirty="0">
                <a:solidFill>
                  <a:schemeClr val="tx1"/>
                </a:solidFill>
                <a:latin typeface="Courier New" pitchFamily="34" charset="0"/>
                <a:ea typeface="Courier New" pitchFamily="34" charset="-122"/>
                <a:cs typeface="Courier New" pitchFamily="34" charset="-120"/>
              </a:rPr>
              <a:t>module2/transformers/flash_attention.ipynb</a:t>
            </a:r>
            <a:endParaRPr lang="en-US" sz="1500" dirty="0"/>
          </a:p>
        </p:txBody>
      </p:sp>
      <p:sp>
        <p:nvSpPr>
          <p:cNvPr id="7" name="Text 4"/>
          <p:cNvSpPr txBox="1"/>
          <p:nvPr/>
        </p:nvSpPr>
        <p:spPr>
          <a:xfrm>
            <a:off x="822960" y="2651760"/>
            <a:ext cx="4572000" cy="21945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answer the seven questions in Section 8</a:t>
            </a:r>
            <a:endParaRPr lang="en-US" sz="1500" dirty="0"/>
          </a:p>
          <a:p>
            <a:pPr marL="228600" indent="-228600">
              <a:spcAft>
                <a:spcPts val="800"/>
              </a:spcAft>
              <a:buSzPct val="100000"/>
              <a:buChar char="•"/>
            </a:pPr>
            <a:r>
              <a:rPr lang="en-US" sz="1500" dirty="0">
                <a:solidFill>
                  <a:schemeClr val="tx1"/>
                </a:solidFill>
              </a:rPr>
              <a:t>change </a:t>
            </a:r>
            <a:r>
              <a:rPr lang="en-US" sz="1500" dirty="0">
                <a:solidFill>
                  <a:schemeClr val="tx1"/>
                </a:solidFill>
                <a:latin typeface="Courier New" pitchFamily="34" charset="0"/>
                <a:ea typeface="Courier New" pitchFamily="34" charset="-122"/>
                <a:cs typeface="Courier New" pitchFamily="34" charset="-120"/>
              </a:rPr>
              <a:t>block</a:t>
            </a:r>
            <a:r>
              <a:rPr lang="en-US" sz="1500" dirty="0">
                <a:solidFill>
                  <a:schemeClr val="tx1"/>
                </a:solidFill>
              </a:rPr>
              <a:t> in the online-softmax demo and check the result does not change</a:t>
            </a:r>
            <a:endParaRPr lang="en-US" sz="1500" dirty="0"/>
          </a:p>
          <a:p>
            <a:pPr marL="228600" indent="-228600">
              <a:spcAft>
                <a:spcPts val="800"/>
              </a:spcAft>
              <a:buSzPct val="100000"/>
              <a:buChar char="•"/>
            </a:pPr>
            <a:r>
              <a:rPr lang="en-US" sz="1500" dirty="0">
                <a:solidFill>
                  <a:schemeClr val="tx1"/>
                </a:solidFill>
              </a:rPr>
              <a:t>extend </a:t>
            </a:r>
            <a:r>
              <a:rPr lang="en-US" sz="1500" dirty="0">
                <a:solidFill>
                  <a:schemeClr val="tx1"/>
                </a:solidFill>
                <a:latin typeface="Courier New" pitchFamily="34" charset="0"/>
                <a:ea typeface="Courier New" pitchFamily="34" charset="-122"/>
                <a:cs typeface="Courier New" pitchFamily="34" charset="-120"/>
              </a:rPr>
              <a:t>seq_lens</a:t>
            </a:r>
            <a:r>
              <a:rPr lang="en-US" sz="1500" dirty="0">
                <a:solidFill>
                  <a:schemeClr val="tx1"/>
                </a:solidFill>
              </a:rPr>
              <a:t> in the memory chart and predict where the lines cross</a:t>
            </a:r>
            <a:endParaRPr lang="en-US" sz="1500" dirty="0"/>
          </a:p>
        </p:txBody>
      </p:sp>
      <p:sp>
        <p:nvSpPr>
          <p:cNvPr id="8" name="Text 5"/>
          <p:cNvSpPr txBox="1"/>
          <p:nvPr/>
        </p:nvSpPr>
        <p:spPr>
          <a:xfrm>
            <a:off x="822960" y="5074920"/>
            <a:ext cx="4572000" cy="822960"/>
          </a:xfrm>
          <a:prstGeom prst="rect">
            <a:avLst/>
          </a:prstGeom>
          <a:noFill/>
          <a:ln/>
        </p:spPr>
        <p:txBody>
          <a:bodyPr wrap="square" lIns="0" tIns="0" rIns="0" bIns="0" rtlCol="0" anchor="t"/>
          <a:lstStyle/>
          <a:p>
            <a:pPr indent="0" marL="0">
              <a:buNone/>
            </a:pPr>
            <a:r>
              <a:rPr lang="en-US" sz="1500" b="1" dirty="0">
                <a:solidFill>
                  <a:schemeClr val="tx1"/>
                </a:solidFill>
              </a:rPr>
              <a:t>Related: </a:t>
            </a:r>
            <a:r>
              <a:rPr lang="en-US" sz="1500" dirty="0">
                <a:solidFill>
                  <a:schemeClr val="tx1"/>
                </a:solidFill>
              </a:rPr>
              <a:t>Key–value cache · Attention mechanisms: MHA, GQA, MQA</a:t>
            </a:r>
            <a:endParaRPr lang="en-US" sz="1500" dirty="0"/>
          </a:p>
        </p:txBody>
      </p:sp>
      <p:sp>
        <p:nvSpPr>
          <p:cNvPr id="9" name="Text 6"/>
          <p:cNvSpPr txBox="1"/>
          <p:nvPr/>
        </p:nvSpPr>
        <p:spPr>
          <a:xfrm>
            <a:off x="6035040" y="1463040"/>
            <a:ext cx="557784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Further reading</a:t>
            </a:r>
            <a:endParaRPr lang="en-US" sz="2200" dirty="0"/>
          </a:p>
        </p:txBody>
      </p:sp>
      <p:sp>
        <p:nvSpPr>
          <p:cNvPr id="10" name="Text 7"/>
          <p:cNvSpPr txBox="1"/>
          <p:nvPr/>
        </p:nvSpPr>
        <p:spPr>
          <a:xfrm>
            <a:off x="6035040" y="2011680"/>
            <a:ext cx="5577840" cy="4114800"/>
          </a:xfrm>
          <a:prstGeom prst="rect">
            <a:avLst/>
          </a:prstGeom>
          <a:noFill/>
          <a:ln/>
        </p:spPr>
        <p:txBody>
          <a:bodyPr wrap="square" lIns="0" tIns="0" rIns="0" bIns="0" rtlCol="0" anchor="t"/>
          <a:lstStyle/>
          <a:p>
            <a:pPr marL="228600" indent="-228600">
              <a:spcAft>
                <a:spcPts val="800"/>
              </a:spcAft>
              <a:buSzPct val="100000"/>
              <a:buChar char="•"/>
            </a:pPr>
            <a:r>
              <a:rPr lang="en-US" sz="1400" b="1" dirty="0">
                <a:solidFill>
                  <a:schemeClr val="tx1"/>
                </a:solidFill>
              </a:rPr>
              <a:t>Dao et al. (2022). </a:t>
            </a:r>
            <a:r>
              <a:rPr lang="en-US" sz="1400" dirty="0">
                <a:solidFill>
                  <a:schemeClr val="tx1"/>
                </a:solidFill>
              </a:rPr>
              <a:t>FlashAttention: Fast and Memory-Efficient Exact Attention with IO-Awareness. arXiv:2205.14135</a:t>
            </a:r>
            <a:endParaRPr lang="en-US" sz="1400" dirty="0"/>
          </a:p>
          <a:p>
            <a:pPr marL="228600" indent="-228600">
              <a:spcAft>
                <a:spcPts val="800"/>
              </a:spcAft>
              <a:buSzPct val="100000"/>
              <a:buChar char="•"/>
            </a:pPr>
            <a:r>
              <a:rPr lang="en-US" sz="1400" b="1" dirty="0">
                <a:solidFill>
                  <a:schemeClr val="tx1"/>
                </a:solidFill>
              </a:rPr>
              <a:t>Dao (2023). </a:t>
            </a:r>
            <a:r>
              <a:rPr lang="en-US" sz="1400" dirty="0">
                <a:solidFill>
                  <a:schemeClr val="tx1"/>
                </a:solidFill>
              </a:rPr>
              <a:t>FlashAttention-2: Faster Attention with Better Parallelism and Work Partitioning. arXiv:2307.08691</a:t>
            </a:r>
            <a:endParaRPr lang="en-US" sz="1400" dirty="0"/>
          </a:p>
          <a:p>
            <a:pPr marL="228600" indent="-228600">
              <a:spcAft>
                <a:spcPts val="800"/>
              </a:spcAft>
              <a:buSzPct val="100000"/>
              <a:buChar char="•"/>
            </a:pPr>
            <a:r>
              <a:rPr lang="en-US" sz="1400" b="1" dirty="0">
                <a:solidFill>
                  <a:schemeClr val="tx1"/>
                </a:solidFill>
              </a:rPr>
              <a:t>Milakov and Gimelshein (2018). </a:t>
            </a:r>
            <a:r>
              <a:rPr lang="en-US" sz="1400" dirty="0">
                <a:solidFill>
                  <a:schemeClr val="tx1"/>
                </a:solidFill>
              </a:rPr>
              <a:t>Online normalizer calculation for softmax. arXiv:1805.02867</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FlashAttention">
      <a:dk1>
        <a:srgbClr val="1B2238"/>
      </a:dk1>
      <a:lt1>
        <a:srgbClr val="FFFFFF"/>
      </a:lt1>
      <a:dk2>
        <a:srgbClr val="5A6478"/>
      </a:dk2>
      <a:lt2>
        <a:srgbClr val="EEF1F6"/>
      </a:lt2>
      <a:accent1>
        <a:srgbClr val="0F7B6C"/>
      </a:accent1>
      <a:accent2>
        <a:srgbClr val="E0A526"/>
      </a:accent2>
      <a:accent3>
        <a:srgbClr val="C8443F"/>
      </a:accent3>
      <a:accent4>
        <a:srgbClr val="2B6CB0"/>
      </a:accent4>
      <a:accent5>
        <a:srgbClr val="FCF3DC"/>
      </a:accent5>
      <a:accent6>
        <a:srgbClr val="FBE7E6"/>
      </a:accent6>
      <a:hlink>
        <a:srgbClr val="2B6CB0"/>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FlashAttention: exact attention with less memory traffic</dc:title>
  <dc:subject>PptxGenJS Presentation</dc:subject>
  <dc:creator>Generative AI (ABAI3009L), Bennett University</dc:creator>
  <cp:lastModifiedBy>Generative AI (ABAI3009L), Bennett University</cp:lastModifiedBy>
  <cp:revision>1</cp:revision>
  <dcterms:created xsi:type="dcterms:W3CDTF">2026-10-25T13:21:16Z</dcterms:created>
  <dcterms:modified xsi:type="dcterms:W3CDTF">2026-10-25T13:21:16Z</dcterms:modified>
</cp:coreProperties>
</file>